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8288000" cy="10287000"/>
  <p:notesSz cx="6858000" cy="9144000"/>
  <p:embeddedFontLst>
    <p:embeddedFont>
      <p:font typeface="League Spartan" panose="020B0604020202020204" charset="0"/>
      <p:regular r:id="rId32"/>
    </p:embeddedFont>
    <p:embeddedFont>
      <p:font typeface="Roboto" panose="020B0604020202020204" charset="0"/>
      <p:regular r:id="rId33"/>
    </p:embeddedFont>
    <p:embeddedFont>
      <p:font typeface="Roboto Bold" panose="020B0604020202020204" charset="0"/>
      <p:regular r:id="rId34"/>
    </p:embeddedFont>
    <p:embeddedFont>
      <p:font typeface="Roboto Bold Italics" panose="020B0604020202020204" charset="0"/>
      <p:regular r:id="rId35"/>
    </p:embeddedFont>
    <p:embeddedFont>
      <p:font typeface="Roboto Italics" panose="020B0604020202020204"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80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7.sv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svg"/><Relationship Id="rId7"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svg"/><Relationship Id="rId7"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svg"/><Relationship Id="rId7"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svg"/><Relationship Id="rId7"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1.svg"/><Relationship Id="rId7"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0.pn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image" Target="../media/image23.png"/><Relationship Id="rId16"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18.svg"/><Relationship Id="rId5" Type="http://schemas.openxmlformats.org/officeDocument/2006/relationships/image" Target="../media/image26.svg"/><Relationship Id="rId15" Type="http://schemas.openxmlformats.org/officeDocument/2006/relationships/image" Target="../media/image32.png"/><Relationship Id="rId10" Type="http://schemas.openxmlformats.org/officeDocument/2006/relationships/image" Target="../media/image17.png"/><Relationship Id="rId4" Type="http://schemas.openxmlformats.org/officeDocument/2006/relationships/image" Target="../media/image25.png"/><Relationship Id="rId9" Type="http://schemas.openxmlformats.org/officeDocument/2006/relationships/image" Target="../media/image11.svg"/><Relationship Id="rId14" Type="http://schemas.openxmlformats.org/officeDocument/2006/relationships/image" Target="../media/image31.png"/></Relationships>
</file>

<file path=ppt/slides/_rels/slide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35.png"/><Relationship Id="rId4" Type="http://schemas.openxmlformats.org/officeDocument/2006/relationships/image" Target="../media/image2.png"/><Relationship Id="rId9" Type="http://schemas.openxmlformats.org/officeDocument/2006/relationships/image" Target="../media/image7.svg"/></Relationships>
</file>

<file path=ppt/slides/_rels/slide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5.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37.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0.sv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7.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37.sv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20.svg"/><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2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5.svg"/><Relationship Id="rId7"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s/_rels/slide30.xml.rels><?xml version="1.0" encoding="UTF-8" standalone="yes"?>
<Relationships xmlns="http://schemas.openxmlformats.org/package/2006/relationships"><Relationship Id="rId8" Type="http://schemas.openxmlformats.org/officeDocument/2006/relationships/hyperlink" Target="https://www.apollogo.com/" TargetMode="External"/><Relationship Id="rId13" Type="http://schemas.openxmlformats.org/officeDocument/2006/relationships/hyperlink" Target="https://www.geeksforgeeks.org/distributed-vs-decentralized-systems/" TargetMode="External"/><Relationship Id="rId18" Type="http://schemas.openxmlformats.org/officeDocument/2006/relationships/image" Target="../media/image2.png"/><Relationship Id="rId3" Type="http://schemas.openxmlformats.org/officeDocument/2006/relationships/image" Target="../media/image15.svg"/><Relationship Id="rId21" Type="http://schemas.openxmlformats.org/officeDocument/2006/relationships/image" Target="../media/image5.svg"/><Relationship Id="rId7" Type="http://schemas.openxmlformats.org/officeDocument/2006/relationships/hyperlink" Target="https://www.moralmachine.net/" TargetMode="External"/><Relationship Id="rId12" Type="http://schemas.openxmlformats.org/officeDocument/2006/relationships/hyperlink" Target="https://www.atlassian.com/microservices/microservices-architecture/distributed-architecture" TargetMode="External"/><Relationship Id="rId17" Type="http://schemas.openxmlformats.org/officeDocument/2006/relationships/hyperlink" Target="https://www.youtube.com/watch?v=zYkrOxQDPEo" TargetMode="External"/><Relationship Id="rId2" Type="http://schemas.openxmlformats.org/officeDocument/2006/relationships/image" Target="../media/image14.png"/><Relationship Id="rId16" Type="http://schemas.openxmlformats.org/officeDocument/2006/relationships/hyperlink" Target="https://www.hks.harvard.edu/publications/trolley-problem-mysteries" TargetMode="External"/><Relationship Id="rId20"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https://github.com/privateboss0" TargetMode="External"/><Relationship Id="rId11" Type="http://schemas.openxmlformats.org/officeDocument/2006/relationships/hyperlink" Target="https://www.atlassian.com/microservices/microservices-architecture/microservices-vs-monolith" TargetMode="External"/><Relationship Id="rId5" Type="http://schemas.openxmlformats.org/officeDocument/2006/relationships/hyperlink" Target="https://ieeexplore.ieee.org/abstract/document/10285393/authors#authors" TargetMode="External"/><Relationship Id="rId15" Type="http://schemas.openxmlformats.org/officeDocument/2006/relationships/hyperlink" Target="https://users.ece.cmu.edu/~koopman/lectures/index.html" TargetMode="External"/><Relationship Id="rId23" Type="http://schemas.openxmlformats.org/officeDocument/2006/relationships/image" Target="../media/image7.svg"/><Relationship Id="rId10" Type="http://schemas.openxmlformats.org/officeDocument/2006/relationships/hyperlink" Target="https://zoox.com/journal/robotaxi-rider-safety/" TargetMode="External"/><Relationship Id="rId19" Type="http://schemas.openxmlformats.org/officeDocument/2006/relationships/image" Target="../media/image3.svg"/><Relationship Id="rId4" Type="http://schemas.openxmlformats.org/officeDocument/2006/relationships/hyperlink" Target="https://www.sae.org/blog/sae-j3016-update" TargetMode="External"/><Relationship Id="rId9" Type="http://schemas.openxmlformats.org/officeDocument/2006/relationships/hyperlink" Target="https://waymo.com/safety/" TargetMode="External"/><Relationship Id="rId14" Type="http://schemas.openxmlformats.org/officeDocument/2006/relationships/hyperlink" Target="https://effectphotonics.com/insights/the-power-of-integrated-photonic-lidar/" TargetMode="External"/><Relationship Id="rId2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50" b="-750"/>
            </a:stretch>
          </a:blipFill>
        </p:spPr>
        <p:txBody>
          <a:bodyPr/>
          <a:lstStyle/>
          <a:p>
            <a:endParaRPr lang="en-CA"/>
          </a:p>
        </p:txBody>
      </p:sp>
      <p:sp>
        <p:nvSpPr>
          <p:cNvPr id="3" name="AutoShape 3"/>
          <p:cNvSpPr/>
          <p:nvPr/>
        </p:nvSpPr>
        <p:spPr>
          <a:xfrm>
            <a:off x="0" y="7151921"/>
            <a:ext cx="18288000" cy="3135079"/>
          </a:xfrm>
          <a:prstGeom prst="rect">
            <a:avLst/>
          </a:prstGeom>
          <a:solidFill>
            <a:srgbClr val="F8F4EB"/>
          </a:solidFill>
        </p:spPr>
        <p:txBody>
          <a:bodyPr/>
          <a:lstStyle/>
          <a:p>
            <a:endParaRPr lang="en-CA"/>
          </a:p>
        </p:txBody>
      </p:sp>
      <p:grpSp>
        <p:nvGrpSpPr>
          <p:cNvPr id="4" name="Group 4"/>
          <p:cNvGrpSpPr/>
          <p:nvPr/>
        </p:nvGrpSpPr>
        <p:grpSpPr>
          <a:xfrm>
            <a:off x="10379200" y="7592401"/>
            <a:ext cx="7004541" cy="1127060"/>
            <a:chOff x="0" y="0"/>
            <a:chExt cx="2525727" cy="406400"/>
          </a:xfrm>
        </p:grpSpPr>
        <p:sp>
          <p:nvSpPr>
            <p:cNvPr id="5" name="Freeform 5"/>
            <p:cNvSpPr/>
            <p:nvPr/>
          </p:nvSpPr>
          <p:spPr>
            <a:xfrm>
              <a:off x="17780" y="22860"/>
              <a:ext cx="2500328" cy="360680"/>
            </a:xfrm>
            <a:custGeom>
              <a:avLst/>
              <a:gdLst/>
              <a:ahLst/>
              <a:cxnLst/>
              <a:rect l="l" t="t" r="r" b="b"/>
              <a:pathLst>
                <a:path w="2500328" h="360680">
                  <a:moveTo>
                    <a:pt x="2500328" y="180340"/>
                  </a:moveTo>
                  <a:cubicBezTo>
                    <a:pt x="2500328" y="81280"/>
                    <a:pt x="2420318" y="0"/>
                    <a:pt x="2319987" y="0"/>
                  </a:cubicBezTo>
                  <a:lnTo>
                    <a:pt x="172720" y="0"/>
                  </a:lnTo>
                  <a:lnTo>
                    <a:pt x="172720" y="1270"/>
                  </a:lnTo>
                  <a:cubicBezTo>
                    <a:pt x="76200" y="5080"/>
                    <a:pt x="0" y="83820"/>
                    <a:pt x="0" y="180340"/>
                  </a:cubicBezTo>
                  <a:cubicBezTo>
                    <a:pt x="0" y="276860"/>
                    <a:pt x="77470" y="355600"/>
                    <a:pt x="172720" y="359410"/>
                  </a:cubicBezTo>
                  <a:lnTo>
                    <a:pt x="172720" y="360680"/>
                  </a:lnTo>
                  <a:lnTo>
                    <a:pt x="2319987" y="360680"/>
                  </a:lnTo>
                  <a:cubicBezTo>
                    <a:pt x="2419047" y="360680"/>
                    <a:pt x="2500328" y="279400"/>
                    <a:pt x="2500328" y="180340"/>
                  </a:cubicBezTo>
                  <a:close/>
                </a:path>
              </a:pathLst>
            </a:custGeom>
            <a:solidFill>
              <a:srgbClr val="454699">
                <a:alpha val="11765"/>
              </a:srgbClr>
            </a:solidFill>
          </p:spPr>
          <p:txBody>
            <a:bodyPr/>
            <a:lstStyle/>
            <a:p>
              <a:endParaRPr lang="en-CA"/>
            </a:p>
          </p:txBody>
        </p:sp>
      </p:grpSp>
      <p:grpSp>
        <p:nvGrpSpPr>
          <p:cNvPr id="6" name="Group 6"/>
          <p:cNvGrpSpPr/>
          <p:nvPr/>
        </p:nvGrpSpPr>
        <p:grpSpPr>
          <a:xfrm>
            <a:off x="16144746" y="7660874"/>
            <a:ext cx="990112" cy="990112"/>
            <a:chOff x="0" y="0"/>
            <a:chExt cx="1320150" cy="1320150"/>
          </a:xfrm>
        </p:grpSpPr>
        <p:sp>
          <p:nvSpPr>
            <p:cNvPr id="7" name="Freeform 7"/>
            <p:cNvSpPr/>
            <p:nvPr/>
          </p:nvSpPr>
          <p:spPr>
            <a:xfrm>
              <a:off x="0" y="0"/>
              <a:ext cx="1320150" cy="1320150"/>
            </a:xfrm>
            <a:custGeom>
              <a:avLst/>
              <a:gdLst/>
              <a:ahLst/>
              <a:cxnLst/>
              <a:rect l="l" t="t" r="r" b="b"/>
              <a:pathLst>
                <a:path w="1320150" h="1320150">
                  <a:moveTo>
                    <a:pt x="0" y="0"/>
                  </a:moveTo>
                  <a:lnTo>
                    <a:pt x="1320150" y="0"/>
                  </a:lnTo>
                  <a:lnTo>
                    <a:pt x="1320150" y="1320150"/>
                  </a:lnTo>
                  <a:lnTo>
                    <a:pt x="0" y="132015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CA"/>
            </a:p>
          </p:txBody>
        </p:sp>
        <p:sp>
          <p:nvSpPr>
            <p:cNvPr id="8" name="Freeform 8"/>
            <p:cNvSpPr/>
            <p:nvPr/>
          </p:nvSpPr>
          <p:spPr>
            <a:xfrm>
              <a:off x="196443" y="196443"/>
              <a:ext cx="927263" cy="927263"/>
            </a:xfrm>
            <a:custGeom>
              <a:avLst/>
              <a:gdLst/>
              <a:ahLst/>
              <a:cxnLst/>
              <a:rect l="l" t="t" r="r" b="b"/>
              <a:pathLst>
                <a:path w="927263" h="927263">
                  <a:moveTo>
                    <a:pt x="0" y="0"/>
                  </a:moveTo>
                  <a:lnTo>
                    <a:pt x="927264" y="0"/>
                  </a:lnTo>
                  <a:lnTo>
                    <a:pt x="927264" y="927264"/>
                  </a:lnTo>
                  <a:lnTo>
                    <a:pt x="0" y="9272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CA"/>
            </a:p>
          </p:txBody>
        </p:sp>
      </p:grpSp>
      <p:sp>
        <p:nvSpPr>
          <p:cNvPr id="9" name="TextBox 9"/>
          <p:cNvSpPr txBox="1"/>
          <p:nvPr/>
        </p:nvSpPr>
        <p:spPr>
          <a:xfrm>
            <a:off x="468714" y="7726317"/>
            <a:ext cx="8675286" cy="993144"/>
          </a:xfrm>
          <a:prstGeom prst="rect">
            <a:avLst/>
          </a:prstGeom>
        </p:spPr>
        <p:txBody>
          <a:bodyPr lIns="0" tIns="0" rIns="0" bIns="0" rtlCol="0" anchor="t">
            <a:spAutoFit/>
          </a:bodyPr>
          <a:lstStyle/>
          <a:p>
            <a:pPr marL="0" lvl="0" indent="0" algn="l">
              <a:lnSpc>
                <a:spcPts val="3976"/>
              </a:lnSpc>
            </a:pPr>
            <a:r>
              <a:rPr lang="en-US" sz="2800" spc="28">
                <a:solidFill>
                  <a:srgbClr val="454699"/>
                </a:solidFill>
                <a:latin typeface="Roboto"/>
                <a:ea typeface="Roboto"/>
                <a:cs typeface="Roboto"/>
                <a:sym typeface="Roboto"/>
              </a:rPr>
              <a:t>The evolution, implementation overview, safety, challenges, future improvement and demonstration.</a:t>
            </a:r>
          </a:p>
        </p:txBody>
      </p:sp>
      <p:sp>
        <p:nvSpPr>
          <p:cNvPr id="10" name="TextBox 10"/>
          <p:cNvSpPr txBox="1"/>
          <p:nvPr/>
        </p:nvSpPr>
        <p:spPr>
          <a:xfrm>
            <a:off x="0" y="2533439"/>
            <a:ext cx="11587639" cy="2914650"/>
          </a:xfrm>
          <a:prstGeom prst="rect">
            <a:avLst/>
          </a:prstGeom>
        </p:spPr>
        <p:txBody>
          <a:bodyPr lIns="0" tIns="0" rIns="0" bIns="0" rtlCol="0" anchor="t">
            <a:spAutoFit/>
          </a:bodyPr>
          <a:lstStyle/>
          <a:p>
            <a:pPr algn="l">
              <a:lnSpc>
                <a:spcPts val="11519"/>
              </a:lnSpc>
            </a:pPr>
            <a:r>
              <a:rPr lang="en-US" sz="9600" b="1" spc="-96">
                <a:solidFill>
                  <a:srgbClr val="000000"/>
                </a:solidFill>
                <a:latin typeface="League Spartan"/>
                <a:ea typeface="League Spartan"/>
                <a:cs typeface="League Spartan"/>
                <a:sym typeface="League Spartan"/>
              </a:rPr>
              <a:t>Self-Driving Vehicles</a:t>
            </a:r>
          </a:p>
        </p:txBody>
      </p:sp>
      <p:sp>
        <p:nvSpPr>
          <p:cNvPr id="11" name="TextBox 11"/>
          <p:cNvSpPr txBox="1"/>
          <p:nvPr/>
        </p:nvSpPr>
        <p:spPr>
          <a:xfrm>
            <a:off x="12911037" y="8940800"/>
            <a:ext cx="2874177" cy="1167130"/>
          </a:xfrm>
          <a:prstGeom prst="rect">
            <a:avLst/>
          </a:prstGeom>
        </p:spPr>
        <p:txBody>
          <a:bodyPr lIns="0" tIns="0" rIns="0" bIns="0" rtlCol="0" anchor="t">
            <a:spAutoFit/>
          </a:bodyPr>
          <a:lstStyle/>
          <a:p>
            <a:pPr algn="ctr">
              <a:lnSpc>
                <a:spcPts val="3379"/>
              </a:lnSpc>
              <a:spcBef>
                <a:spcPct val="0"/>
              </a:spcBef>
            </a:pPr>
            <a:r>
              <a:rPr lang="en-US" sz="2599" b="1" spc="-25">
                <a:solidFill>
                  <a:srgbClr val="000000"/>
                </a:solidFill>
                <a:latin typeface="League Spartan"/>
                <a:ea typeface="League Spartan"/>
                <a:cs typeface="League Spartan"/>
                <a:sym typeface="League Spartan"/>
              </a:rPr>
              <a:t>By</a:t>
            </a:r>
          </a:p>
          <a:p>
            <a:pPr algn="ctr">
              <a:lnSpc>
                <a:spcPts val="2600"/>
              </a:lnSpc>
              <a:spcBef>
                <a:spcPct val="0"/>
              </a:spcBef>
            </a:pPr>
            <a:endParaRPr lang="en-US" sz="2599" b="1" spc="-25">
              <a:solidFill>
                <a:srgbClr val="000000"/>
              </a:solidFill>
              <a:latin typeface="League Spartan"/>
              <a:ea typeface="League Spartan"/>
              <a:cs typeface="League Spartan"/>
              <a:sym typeface="League Spartan"/>
            </a:endParaRPr>
          </a:p>
          <a:p>
            <a:pPr algn="ctr">
              <a:lnSpc>
                <a:spcPts val="3379"/>
              </a:lnSpc>
              <a:spcBef>
                <a:spcPct val="0"/>
              </a:spcBef>
            </a:pPr>
            <a:r>
              <a:rPr lang="en-US" sz="2599" b="1" spc="-25">
                <a:solidFill>
                  <a:srgbClr val="000000"/>
                </a:solidFill>
                <a:latin typeface="League Spartan"/>
                <a:ea typeface="League Spartan"/>
                <a:cs typeface="League Spartan"/>
                <a:sym typeface="League Spartan"/>
              </a:rPr>
              <a:t>Ola Akinkunmi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BB56"/>
        </a:solidFill>
        <a:effectLst/>
      </p:bgPr>
    </p:bg>
    <p:spTree>
      <p:nvGrpSpPr>
        <p:cNvPr id="1" name=""/>
        <p:cNvGrpSpPr/>
        <p:nvPr/>
      </p:nvGrpSpPr>
      <p:grpSpPr>
        <a:xfrm>
          <a:off x="0" y="0"/>
          <a:ext cx="0" cy="0"/>
          <a:chOff x="0" y="0"/>
          <a:chExt cx="0" cy="0"/>
        </a:xfrm>
      </p:grpSpPr>
      <p:grpSp>
        <p:nvGrpSpPr>
          <p:cNvPr id="2" name="Group 2"/>
          <p:cNvGrpSpPr/>
          <p:nvPr/>
        </p:nvGrpSpPr>
        <p:grpSpPr>
          <a:xfrm>
            <a:off x="15721171" y="6346145"/>
            <a:ext cx="1897484" cy="1061551"/>
            <a:chOff x="0" y="0"/>
            <a:chExt cx="726425" cy="406400"/>
          </a:xfrm>
        </p:grpSpPr>
        <p:sp>
          <p:nvSpPr>
            <p:cNvPr id="3" name="Freeform 3"/>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4" name="Group 4"/>
          <p:cNvGrpSpPr/>
          <p:nvPr/>
        </p:nvGrpSpPr>
        <p:grpSpPr>
          <a:xfrm>
            <a:off x="16669913" y="6489020"/>
            <a:ext cx="775800" cy="775800"/>
            <a:chOff x="0" y="0"/>
            <a:chExt cx="1034400" cy="1034400"/>
          </a:xfrm>
        </p:grpSpPr>
        <p:sp>
          <p:nvSpPr>
            <p:cNvPr id="5" name="Freeform 5"/>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6" name="Freeform 6"/>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grpSp>
      <p:sp>
        <p:nvSpPr>
          <p:cNvPr id="7" name="Freeform 7"/>
          <p:cNvSpPr/>
          <p:nvPr/>
        </p:nvSpPr>
        <p:spPr>
          <a:xfrm flipH="1">
            <a:off x="0" y="5880316"/>
            <a:ext cx="4406684" cy="4406684"/>
          </a:xfrm>
          <a:custGeom>
            <a:avLst/>
            <a:gdLst/>
            <a:ahLst/>
            <a:cxnLst/>
            <a:rect l="l" t="t" r="r" b="b"/>
            <a:pathLst>
              <a:path w="4406684" h="4406684">
                <a:moveTo>
                  <a:pt x="4406684" y="0"/>
                </a:moveTo>
                <a:lnTo>
                  <a:pt x="0" y="0"/>
                </a:lnTo>
                <a:lnTo>
                  <a:pt x="0" y="4406684"/>
                </a:lnTo>
                <a:lnTo>
                  <a:pt x="4406684" y="4406684"/>
                </a:lnTo>
                <a:lnTo>
                  <a:pt x="440668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8" name="Freeform 8"/>
          <p:cNvSpPr/>
          <p:nvPr/>
        </p:nvSpPr>
        <p:spPr>
          <a:xfrm>
            <a:off x="12234351" y="4648813"/>
            <a:ext cx="1936133" cy="1936133"/>
          </a:xfrm>
          <a:custGeom>
            <a:avLst/>
            <a:gdLst/>
            <a:ahLst/>
            <a:cxnLst/>
            <a:rect l="l" t="t" r="r" b="b"/>
            <a:pathLst>
              <a:path w="1936133" h="1936133">
                <a:moveTo>
                  <a:pt x="0" y="0"/>
                </a:moveTo>
                <a:lnTo>
                  <a:pt x="1936133" y="0"/>
                </a:lnTo>
                <a:lnTo>
                  <a:pt x="1936133" y="1936133"/>
                </a:lnTo>
                <a:lnTo>
                  <a:pt x="0" y="19361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
        <p:nvSpPr>
          <p:cNvPr id="9" name="Freeform 9"/>
          <p:cNvSpPr/>
          <p:nvPr/>
        </p:nvSpPr>
        <p:spPr>
          <a:xfrm>
            <a:off x="13911267" y="3846909"/>
            <a:ext cx="518435" cy="518435"/>
          </a:xfrm>
          <a:custGeom>
            <a:avLst/>
            <a:gdLst/>
            <a:ahLst/>
            <a:cxnLst/>
            <a:rect l="l" t="t" r="r" b="b"/>
            <a:pathLst>
              <a:path w="518435" h="518435">
                <a:moveTo>
                  <a:pt x="0" y="0"/>
                </a:moveTo>
                <a:lnTo>
                  <a:pt x="518435" y="0"/>
                </a:lnTo>
                <a:lnTo>
                  <a:pt x="518435" y="518436"/>
                </a:lnTo>
                <a:lnTo>
                  <a:pt x="0" y="51843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CA"/>
          </a:p>
        </p:txBody>
      </p:sp>
      <p:grpSp>
        <p:nvGrpSpPr>
          <p:cNvPr id="10" name="Group 10"/>
          <p:cNvGrpSpPr/>
          <p:nvPr/>
        </p:nvGrpSpPr>
        <p:grpSpPr>
          <a:xfrm>
            <a:off x="1234319" y="3846909"/>
            <a:ext cx="14486852" cy="3815660"/>
            <a:chOff x="0" y="0"/>
            <a:chExt cx="4192750" cy="1104319"/>
          </a:xfrm>
        </p:grpSpPr>
        <p:sp>
          <p:nvSpPr>
            <p:cNvPr id="11" name="Freeform 11"/>
            <p:cNvSpPr/>
            <p:nvPr/>
          </p:nvSpPr>
          <p:spPr>
            <a:xfrm>
              <a:off x="0" y="0"/>
              <a:ext cx="4192751" cy="1104320"/>
            </a:xfrm>
            <a:custGeom>
              <a:avLst/>
              <a:gdLst/>
              <a:ahLst/>
              <a:cxnLst/>
              <a:rect l="l" t="t" r="r" b="b"/>
              <a:pathLst>
                <a:path w="4192751" h="1104320">
                  <a:moveTo>
                    <a:pt x="4068290" y="1104319"/>
                  </a:moveTo>
                  <a:lnTo>
                    <a:pt x="124460" y="1104319"/>
                  </a:lnTo>
                  <a:cubicBezTo>
                    <a:pt x="55880" y="1104319"/>
                    <a:pt x="0" y="1048439"/>
                    <a:pt x="0" y="979859"/>
                  </a:cubicBezTo>
                  <a:lnTo>
                    <a:pt x="0" y="124460"/>
                  </a:lnTo>
                  <a:cubicBezTo>
                    <a:pt x="0" y="55880"/>
                    <a:pt x="55880" y="0"/>
                    <a:pt x="124460" y="0"/>
                  </a:cubicBezTo>
                  <a:lnTo>
                    <a:pt x="4068290" y="0"/>
                  </a:lnTo>
                  <a:cubicBezTo>
                    <a:pt x="4136870" y="0"/>
                    <a:pt x="4192751" y="55880"/>
                    <a:pt x="4192751" y="124460"/>
                  </a:cubicBezTo>
                  <a:lnTo>
                    <a:pt x="4192751" y="979859"/>
                  </a:lnTo>
                  <a:cubicBezTo>
                    <a:pt x="4192751" y="1048439"/>
                    <a:pt x="4136870" y="1104320"/>
                    <a:pt x="4068290" y="1104320"/>
                  </a:cubicBezTo>
                  <a:close/>
                </a:path>
              </a:pathLst>
            </a:custGeom>
            <a:solidFill>
              <a:srgbClr val="F8F4EB"/>
            </a:solidFill>
          </p:spPr>
          <p:txBody>
            <a:bodyPr/>
            <a:lstStyle/>
            <a:p>
              <a:endParaRPr lang="en-CA"/>
            </a:p>
          </p:txBody>
        </p:sp>
      </p:grpSp>
      <p:sp>
        <p:nvSpPr>
          <p:cNvPr id="12" name="TextBox 12"/>
          <p:cNvSpPr txBox="1"/>
          <p:nvPr/>
        </p:nvSpPr>
        <p:spPr>
          <a:xfrm>
            <a:off x="1580847" y="4132645"/>
            <a:ext cx="13157803" cy="3802611"/>
          </a:xfrm>
          <a:prstGeom prst="rect">
            <a:avLst/>
          </a:prstGeom>
        </p:spPr>
        <p:txBody>
          <a:bodyPr lIns="0" tIns="0" rIns="0" bIns="0" rtlCol="0" anchor="t">
            <a:spAutoFit/>
          </a:bodyPr>
          <a:lstStyle/>
          <a:p>
            <a:pPr marL="0" lvl="0" indent="0" algn="l">
              <a:lnSpc>
                <a:spcPts val="3764"/>
              </a:lnSpc>
              <a:spcBef>
                <a:spcPct val="0"/>
              </a:spcBef>
            </a:pPr>
            <a:r>
              <a:rPr lang="en-US" sz="2650">
                <a:solidFill>
                  <a:srgbClr val="454699"/>
                </a:solidFill>
                <a:latin typeface="Roboto"/>
                <a:ea typeface="Roboto"/>
                <a:cs typeface="Roboto"/>
                <a:sym typeface="Roboto"/>
              </a:rPr>
              <a:t>A </a:t>
            </a:r>
            <a:r>
              <a:rPr lang="en-US" sz="2650" b="1">
                <a:solidFill>
                  <a:srgbClr val="00BF63"/>
                </a:solidFill>
                <a:latin typeface="Roboto Bold"/>
                <a:ea typeface="Roboto Bold"/>
                <a:cs typeface="Roboto Bold"/>
                <a:sym typeface="Roboto Bold"/>
              </a:rPr>
              <a:t>self driving vehicle</a:t>
            </a:r>
            <a:r>
              <a:rPr lang="en-US" sz="2650">
                <a:solidFill>
                  <a:srgbClr val="454699"/>
                </a:solidFill>
                <a:latin typeface="Roboto"/>
                <a:ea typeface="Roboto"/>
                <a:cs typeface="Roboto"/>
                <a:sym typeface="Roboto"/>
              </a:rPr>
              <a:t> is a </a:t>
            </a:r>
            <a:r>
              <a:rPr lang="en-US" sz="2650" u="none">
                <a:solidFill>
                  <a:srgbClr val="454699"/>
                </a:solidFill>
                <a:latin typeface="Roboto"/>
                <a:ea typeface="Roboto"/>
                <a:cs typeface="Roboto"/>
                <a:sym typeface="Roboto"/>
              </a:rPr>
              <a:t>complex system that integrates multiple fields (Electrical, Physics, Mechanical, Computer Science etc.) and Technologies ranging from Sensors/Hardware, Central Processing Units, Storage, Software, Networking, Artificial Intelligence, Cybersecurity etc. It is classified into </a:t>
            </a:r>
            <a:r>
              <a:rPr lang="en-US" sz="2650" b="1" u="none">
                <a:solidFill>
                  <a:srgbClr val="454699"/>
                </a:solidFill>
                <a:latin typeface="Roboto Bold"/>
                <a:ea typeface="Roboto Bold"/>
                <a:cs typeface="Roboto Bold"/>
                <a:sym typeface="Roboto Bold"/>
              </a:rPr>
              <a:t>Automated</a:t>
            </a:r>
            <a:r>
              <a:rPr lang="en-US" sz="2650" u="none">
                <a:solidFill>
                  <a:srgbClr val="454699"/>
                </a:solidFill>
                <a:latin typeface="Roboto"/>
                <a:ea typeface="Roboto"/>
                <a:cs typeface="Roboto"/>
                <a:sym typeface="Roboto"/>
              </a:rPr>
              <a:t> and </a:t>
            </a:r>
            <a:r>
              <a:rPr lang="en-US" sz="2650" b="1" u="none">
                <a:solidFill>
                  <a:srgbClr val="454699"/>
                </a:solidFill>
                <a:latin typeface="Roboto Bold"/>
                <a:ea typeface="Roboto Bold"/>
                <a:cs typeface="Roboto Bold"/>
                <a:sym typeface="Roboto Bold"/>
              </a:rPr>
              <a:t>Autonomous</a:t>
            </a:r>
            <a:r>
              <a:rPr lang="en-US" sz="2650" u="none">
                <a:solidFill>
                  <a:srgbClr val="454699"/>
                </a:solidFill>
                <a:latin typeface="Roboto"/>
                <a:ea typeface="Roboto"/>
                <a:cs typeface="Roboto"/>
                <a:sym typeface="Roboto"/>
              </a:rPr>
              <a:t> driving. </a:t>
            </a:r>
          </a:p>
          <a:p>
            <a:pPr marL="0" lvl="0" indent="0" algn="l">
              <a:lnSpc>
                <a:spcPts val="3764"/>
              </a:lnSpc>
              <a:spcBef>
                <a:spcPct val="0"/>
              </a:spcBef>
            </a:pPr>
            <a:endParaRPr lang="en-US" sz="2650" u="none">
              <a:solidFill>
                <a:srgbClr val="454699"/>
              </a:solidFill>
              <a:latin typeface="Roboto"/>
              <a:ea typeface="Roboto"/>
              <a:cs typeface="Roboto"/>
              <a:sym typeface="Roboto"/>
            </a:endParaRPr>
          </a:p>
          <a:p>
            <a:pPr marL="0" lvl="0" indent="0" algn="l">
              <a:lnSpc>
                <a:spcPts val="3764"/>
              </a:lnSpc>
              <a:spcBef>
                <a:spcPct val="0"/>
              </a:spcBef>
            </a:pPr>
            <a:r>
              <a:rPr lang="en-US" sz="2650" u="none">
                <a:solidFill>
                  <a:srgbClr val="454699"/>
                </a:solidFill>
                <a:latin typeface="Roboto"/>
                <a:ea typeface="Roboto"/>
                <a:cs typeface="Roboto"/>
                <a:sym typeface="Roboto"/>
              </a:rPr>
              <a:t>Let’s look at the </a:t>
            </a:r>
            <a:r>
              <a:rPr lang="en-US" sz="2650" b="1" u="none">
                <a:solidFill>
                  <a:srgbClr val="FF3131"/>
                </a:solidFill>
                <a:latin typeface="Roboto Bold"/>
                <a:ea typeface="Roboto Bold"/>
                <a:cs typeface="Roboto Bold"/>
                <a:sym typeface="Roboto Bold"/>
              </a:rPr>
              <a:t>Automated</a:t>
            </a:r>
            <a:r>
              <a:rPr lang="en-US" sz="2650" u="none">
                <a:solidFill>
                  <a:srgbClr val="FF3131"/>
                </a:solidFill>
                <a:latin typeface="Roboto"/>
                <a:ea typeface="Roboto"/>
                <a:cs typeface="Roboto"/>
                <a:sym typeface="Roboto"/>
              </a:rPr>
              <a:t> </a:t>
            </a:r>
            <a:r>
              <a:rPr lang="en-US" sz="2650" u="none">
                <a:solidFill>
                  <a:srgbClr val="454699"/>
                </a:solidFill>
                <a:latin typeface="Roboto"/>
                <a:ea typeface="Roboto"/>
                <a:cs typeface="Roboto"/>
                <a:sym typeface="Roboto"/>
              </a:rPr>
              <a:t>vs </a:t>
            </a:r>
            <a:r>
              <a:rPr lang="en-US" sz="2650" b="1" u="none">
                <a:solidFill>
                  <a:srgbClr val="454699"/>
                </a:solidFill>
                <a:latin typeface="Roboto Bold"/>
                <a:ea typeface="Roboto Bold"/>
                <a:cs typeface="Roboto Bold"/>
                <a:sym typeface="Roboto Bold"/>
              </a:rPr>
              <a:t>Autonomous</a:t>
            </a:r>
            <a:r>
              <a:rPr lang="en-US" sz="2650" u="none">
                <a:solidFill>
                  <a:srgbClr val="454699"/>
                </a:solidFill>
                <a:latin typeface="Roboto"/>
                <a:ea typeface="Roboto"/>
                <a:cs typeface="Roboto"/>
                <a:sym typeface="Roboto"/>
              </a:rPr>
              <a:t> Vehicles </a:t>
            </a:r>
          </a:p>
          <a:p>
            <a:pPr marL="0" lvl="0" indent="0" algn="l">
              <a:lnSpc>
                <a:spcPts val="3764"/>
              </a:lnSpc>
              <a:spcBef>
                <a:spcPct val="0"/>
              </a:spcBef>
            </a:pPr>
            <a:endParaRPr lang="en-US" sz="2650" u="none">
              <a:solidFill>
                <a:srgbClr val="454699"/>
              </a:solidFill>
              <a:latin typeface="Roboto"/>
              <a:ea typeface="Roboto"/>
              <a:cs typeface="Roboto"/>
              <a:sym typeface="Roboto"/>
            </a:endParaRPr>
          </a:p>
          <a:p>
            <a:pPr marL="0" lvl="0" indent="0" algn="l">
              <a:lnSpc>
                <a:spcPts val="3764"/>
              </a:lnSpc>
              <a:spcBef>
                <a:spcPct val="0"/>
              </a:spcBef>
            </a:pPr>
            <a:endParaRPr lang="en-US" sz="2650" u="none">
              <a:solidFill>
                <a:srgbClr val="454699"/>
              </a:solidFill>
              <a:latin typeface="Roboto"/>
              <a:ea typeface="Roboto"/>
              <a:cs typeface="Roboto"/>
              <a:sym typeface="Roboto"/>
            </a:endParaRPr>
          </a:p>
        </p:txBody>
      </p:sp>
      <p:sp>
        <p:nvSpPr>
          <p:cNvPr id="13" name="TextBox 13"/>
          <p:cNvSpPr txBox="1"/>
          <p:nvPr/>
        </p:nvSpPr>
        <p:spPr>
          <a:xfrm>
            <a:off x="1028700" y="981075"/>
            <a:ext cx="14009827" cy="2526997"/>
          </a:xfrm>
          <a:prstGeom prst="rect">
            <a:avLst/>
          </a:prstGeom>
        </p:spPr>
        <p:txBody>
          <a:bodyPr lIns="0" tIns="0" rIns="0" bIns="0" rtlCol="0" anchor="t">
            <a:spAutoFit/>
          </a:bodyPr>
          <a:lstStyle/>
          <a:p>
            <a:pPr marL="0" lvl="0" indent="0" algn="l">
              <a:lnSpc>
                <a:spcPts val="10080"/>
              </a:lnSpc>
              <a:spcBef>
                <a:spcPct val="0"/>
              </a:spcBef>
            </a:pPr>
            <a:r>
              <a:rPr lang="en-US" sz="8000" b="1" u="none">
                <a:solidFill>
                  <a:srgbClr val="454699"/>
                </a:solidFill>
                <a:latin typeface="League Spartan"/>
                <a:ea typeface="League Spartan"/>
                <a:cs typeface="League Spartan"/>
                <a:sym typeface="League Spartan"/>
              </a:rPr>
              <a:t>BUT WHAT EXACTLY ARE SELF-DRIVING VEHICLES?</a:t>
            </a:r>
          </a:p>
        </p:txBody>
      </p:sp>
      <p:sp>
        <p:nvSpPr>
          <p:cNvPr id="14" name="Freeform 14"/>
          <p:cNvSpPr/>
          <p:nvPr/>
        </p:nvSpPr>
        <p:spPr>
          <a:xfrm rot="5400000">
            <a:off x="16921938" y="1813032"/>
            <a:ext cx="1821416" cy="910708"/>
          </a:xfrm>
          <a:custGeom>
            <a:avLst/>
            <a:gdLst/>
            <a:ahLst/>
            <a:cxnLst/>
            <a:rect l="l" t="t" r="r" b="b"/>
            <a:pathLst>
              <a:path w="1821416" h="910708">
                <a:moveTo>
                  <a:pt x="0" y="0"/>
                </a:moveTo>
                <a:lnTo>
                  <a:pt x="1821416" y="0"/>
                </a:lnTo>
                <a:lnTo>
                  <a:pt x="1821416" y="910708"/>
                </a:lnTo>
                <a:lnTo>
                  <a:pt x="0" y="91070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B0E4"/>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206024" y="2335713"/>
            <a:ext cx="15223667" cy="5877050"/>
            <a:chOff x="0" y="0"/>
            <a:chExt cx="4054691" cy="1565301"/>
          </a:xfrm>
        </p:grpSpPr>
        <p:sp>
          <p:nvSpPr>
            <p:cNvPr id="4" name="Freeform 4"/>
            <p:cNvSpPr/>
            <p:nvPr/>
          </p:nvSpPr>
          <p:spPr>
            <a:xfrm>
              <a:off x="0" y="0"/>
              <a:ext cx="4054691" cy="1565301"/>
            </a:xfrm>
            <a:custGeom>
              <a:avLst/>
              <a:gdLst/>
              <a:ahLst/>
              <a:cxnLst/>
              <a:rect l="l" t="t" r="r" b="b"/>
              <a:pathLst>
                <a:path w="4054691" h="1565301">
                  <a:moveTo>
                    <a:pt x="3930231" y="1565301"/>
                  </a:moveTo>
                  <a:lnTo>
                    <a:pt x="124460" y="1565301"/>
                  </a:lnTo>
                  <a:cubicBezTo>
                    <a:pt x="55880" y="1565301"/>
                    <a:pt x="0" y="1509421"/>
                    <a:pt x="0" y="1440841"/>
                  </a:cubicBezTo>
                  <a:lnTo>
                    <a:pt x="0" y="124460"/>
                  </a:lnTo>
                  <a:cubicBezTo>
                    <a:pt x="0" y="55880"/>
                    <a:pt x="55880" y="0"/>
                    <a:pt x="124460" y="0"/>
                  </a:cubicBezTo>
                  <a:lnTo>
                    <a:pt x="3930231" y="0"/>
                  </a:lnTo>
                  <a:cubicBezTo>
                    <a:pt x="3998811" y="0"/>
                    <a:pt x="4054691" y="55880"/>
                    <a:pt x="4054691" y="124460"/>
                  </a:cubicBezTo>
                  <a:lnTo>
                    <a:pt x="4054691" y="1440841"/>
                  </a:lnTo>
                  <a:cubicBezTo>
                    <a:pt x="4054691" y="1509421"/>
                    <a:pt x="3998811" y="1565301"/>
                    <a:pt x="3930231" y="1565301"/>
                  </a:cubicBezTo>
                  <a:close/>
                </a:path>
              </a:pathLst>
            </a:custGeom>
            <a:solidFill>
              <a:srgbClr val="F8F4EB"/>
            </a:solidFill>
          </p:spPr>
          <p:txBody>
            <a:bodyPr/>
            <a:lstStyle/>
            <a:p>
              <a:endParaRPr lang="en-CA"/>
            </a:p>
          </p:txBody>
        </p:sp>
      </p:grpSp>
      <p:sp>
        <p:nvSpPr>
          <p:cNvPr id="5" name="TextBox 5"/>
          <p:cNvSpPr txBox="1"/>
          <p:nvPr/>
        </p:nvSpPr>
        <p:spPr>
          <a:xfrm>
            <a:off x="1568685" y="2686423"/>
            <a:ext cx="14498345" cy="5118481"/>
          </a:xfrm>
          <a:prstGeom prst="rect">
            <a:avLst/>
          </a:prstGeom>
        </p:spPr>
        <p:txBody>
          <a:bodyPr lIns="0" tIns="0" rIns="0" bIns="0" rtlCol="0" anchor="t">
            <a:spAutoFit/>
          </a:bodyPr>
          <a:lstStyle/>
          <a:p>
            <a:pPr algn="l">
              <a:lnSpc>
                <a:spcPts val="3692"/>
              </a:lnSpc>
            </a:pPr>
            <a:r>
              <a:rPr lang="en-US" sz="2600">
                <a:solidFill>
                  <a:srgbClr val="454699"/>
                </a:solidFill>
                <a:latin typeface="Roboto"/>
                <a:ea typeface="Roboto"/>
                <a:cs typeface="Roboto"/>
                <a:sym typeface="Roboto"/>
              </a:rPr>
              <a:t>In </a:t>
            </a:r>
            <a:r>
              <a:rPr lang="en-US" sz="2600" b="1">
                <a:solidFill>
                  <a:srgbClr val="FF3131"/>
                </a:solidFill>
                <a:latin typeface="Roboto Bold"/>
                <a:ea typeface="Roboto Bold"/>
                <a:cs typeface="Roboto Bold"/>
                <a:sym typeface="Roboto Bold"/>
              </a:rPr>
              <a:t>Automated vehicles</a:t>
            </a:r>
            <a:r>
              <a:rPr lang="en-US" sz="2600">
                <a:solidFill>
                  <a:srgbClr val="454699"/>
                </a:solidFill>
                <a:latin typeface="Roboto"/>
                <a:ea typeface="Roboto"/>
                <a:cs typeface="Roboto"/>
                <a:sym typeface="Roboto"/>
              </a:rPr>
              <a:t>, the person drives and the car helps OR the vehicle does most of the driving and the person assists. In any of the above configuration, the car does not replace the driver and overall safety is the responsibility of the driver. Examples include ADAS (Advanced Driving Assistance System).</a:t>
            </a:r>
          </a:p>
          <a:p>
            <a:pPr algn="l">
              <a:lnSpc>
                <a:spcPts val="3692"/>
              </a:lnSpc>
            </a:pPr>
            <a:endParaRPr lang="en-US" sz="2600">
              <a:solidFill>
                <a:srgbClr val="454699"/>
              </a:solidFill>
              <a:latin typeface="Roboto"/>
              <a:ea typeface="Roboto"/>
              <a:cs typeface="Roboto"/>
              <a:sym typeface="Roboto"/>
            </a:endParaRPr>
          </a:p>
          <a:p>
            <a:pPr marL="0" lvl="0" indent="0" algn="l">
              <a:lnSpc>
                <a:spcPts val="3692"/>
              </a:lnSpc>
              <a:spcBef>
                <a:spcPct val="0"/>
              </a:spcBef>
            </a:pPr>
            <a:r>
              <a:rPr lang="en-US" sz="2600">
                <a:solidFill>
                  <a:srgbClr val="454699"/>
                </a:solidFill>
                <a:latin typeface="Roboto"/>
                <a:ea typeface="Roboto"/>
                <a:cs typeface="Roboto"/>
                <a:sym typeface="Roboto"/>
              </a:rPr>
              <a:t>What is the purpose of </a:t>
            </a:r>
            <a:r>
              <a:rPr lang="en-US" sz="2600" b="1">
                <a:solidFill>
                  <a:srgbClr val="00BF63"/>
                </a:solidFill>
                <a:latin typeface="Roboto Bold"/>
                <a:ea typeface="Roboto Bold"/>
                <a:cs typeface="Roboto Bold"/>
                <a:sym typeface="Roboto Bold"/>
              </a:rPr>
              <a:t>ADAS</a:t>
            </a:r>
            <a:r>
              <a:rPr lang="en-US" sz="2600">
                <a:solidFill>
                  <a:srgbClr val="454699"/>
                </a:solidFill>
                <a:latin typeface="Roboto"/>
                <a:ea typeface="Roboto"/>
                <a:cs typeface="Roboto"/>
                <a:sym typeface="Roboto"/>
              </a:rPr>
              <a:t>? They are passive and active safety systems designed to remove the human error component when driving. ADAS systems use advanced technologies to assist the driver and thereby improve drivers’ performance. Examples of ADAS technology include Adaptive Cruise Control, Park Assist, Door Open Alert, Lane Keeping, Departure and Centering suite, Vehicle steering, Blind Spot Detection, Emergency Breaking Collision Avoidance, Traffic Sign Recognition, Rare Collision warning, Surround View. etc.</a:t>
            </a:r>
          </a:p>
        </p:txBody>
      </p:sp>
      <p:sp>
        <p:nvSpPr>
          <p:cNvPr id="6" name="TextBox 6"/>
          <p:cNvSpPr txBox="1"/>
          <p:nvPr/>
        </p:nvSpPr>
        <p:spPr>
          <a:xfrm>
            <a:off x="2865241" y="745039"/>
            <a:ext cx="15223667" cy="1181099"/>
          </a:xfrm>
          <a:prstGeom prst="rect">
            <a:avLst/>
          </a:prstGeom>
        </p:spPr>
        <p:txBody>
          <a:bodyPr lIns="0" tIns="0" rIns="0" bIns="0" rtlCol="0" anchor="t">
            <a:spAutoFit/>
          </a:bodyPr>
          <a:lstStyle/>
          <a:p>
            <a:pPr marL="0" lvl="0" indent="0" algn="l">
              <a:lnSpc>
                <a:spcPts val="9450"/>
              </a:lnSpc>
              <a:spcBef>
                <a:spcPct val="0"/>
              </a:spcBef>
            </a:pPr>
            <a:r>
              <a:rPr lang="en-US" sz="7500" b="1">
                <a:solidFill>
                  <a:srgbClr val="454699"/>
                </a:solidFill>
                <a:latin typeface="League Spartan"/>
                <a:ea typeface="League Spartan"/>
                <a:cs typeface="League Spartan"/>
                <a:sym typeface="League Spartan"/>
              </a:rPr>
              <a:t>AUTOMATED VEHICLES</a:t>
            </a:r>
          </a:p>
        </p:txBody>
      </p:sp>
      <p:grpSp>
        <p:nvGrpSpPr>
          <p:cNvPr id="7" name="Group 7"/>
          <p:cNvGrpSpPr/>
          <p:nvPr/>
        </p:nvGrpSpPr>
        <p:grpSpPr>
          <a:xfrm>
            <a:off x="15673546" y="8212763"/>
            <a:ext cx="1897484" cy="1061551"/>
            <a:chOff x="0" y="0"/>
            <a:chExt cx="726425" cy="406400"/>
          </a:xfrm>
        </p:grpSpPr>
        <p:sp>
          <p:nvSpPr>
            <p:cNvPr id="8" name="Freeform 8"/>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9" name="Group 9"/>
          <p:cNvGrpSpPr/>
          <p:nvPr/>
        </p:nvGrpSpPr>
        <p:grpSpPr>
          <a:xfrm>
            <a:off x="16669913" y="8355639"/>
            <a:ext cx="775800" cy="775800"/>
            <a:chOff x="0" y="0"/>
            <a:chExt cx="1034400" cy="1034400"/>
          </a:xfrm>
        </p:grpSpPr>
        <p:sp>
          <p:nvSpPr>
            <p:cNvPr id="10" name="Freeform 10"/>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1" name="Freeform 11"/>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
        <p:nvSpPr>
          <p:cNvPr id="12" name="Freeform 12"/>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BB56"/>
        </a:solidFill>
        <a:effectLst/>
      </p:bgPr>
    </p:bg>
    <p:spTree>
      <p:nvGrpSpPr>
        <p:cNvPr id="1" name=""/>
        <p:cNvGrpSpPr/>
        <p:nvPr/>
      </p:nvGrpSpPr>
      <p:grpSpPr>
        <a:xfrm>
          <a:off x="0" y="0"/>
          <a:ext cx="0" cy="0"/>
          <a:chOff x="0" y="0"/>
          <a:chExt cx="0" cy="0"/>
        </a:xfrm>
      </p:grpSpPr>
      <p:grpSp>
        <p:nvGrpSpPr>
          <p:cNvPr id="2" name="Group 2"/>
          <p:cNvGrpSpPr/>
          <p:nvPr/>
        </p:nvGrpSpPr>
        <p:grpSpPr>
          <a:xfrm>
            <a:off x="535785" y="2415194"/>
            <a:ext cx="5044789" cy="7643664"/>
            <a:chOff x="0" y="0"/>
            <a:chExt cx="1173225" cy="1555609"/>
          </a:xfrm>
        </p:grpSpPr>
        <p:sp>
          <p:nvSpPr>
            <p:cNvPr id="3" name="Freeform 3"/>
            <p:cNvSpPr/>
            <p:nvPr/>
          </p:nvSpPr>
          <p:spPr>
            <a:xfrm>
              <a:off x="0" y="0"/>
              <a:ext cx="1173225" cy="1555609"/>
            </a:xfrm>
            <a:custGeom>
              <a:avLst/>
              <a:gdLst/>
              <a:ahLst/>
              <a:cxnLst/>
              <a:rect l="l" t="t" r="r" b="b"/>
              <a:pathLst>
                <a:path w="1173225" h="1555609">
                  <a:moveTo>
                    <a:pt x="1048765" y="1555609"/>
                  </a:moveTo>
                  <a:lnTo>
                    <a:pt x="124460" y="1555609"/>
                  </a:lnTo>
                  <a:cubicBezTo>
                    <a:pt x="55880" y="1555609"/>
                    <a:pt x="0" y="1499729"/>
                    <a:pt x="0" y="1431149"/>
                  </a:cubicBezTo>
                  <a:lnTo>
                    <a:pt x="0" y="124460"/>
                  </a:lnTo>
                  <a:cubicBezTo>
                    <a:pt x="0" y="55880"/>
                    <a:pt x="55880" y="0"/>
                    <a:pt x="124460" y="0"/>
                  </a:cubicBezTo>
                  <a:lnTo>
                    <a:pt x="1048765" y="0"/>
                  </a:lnTo>
                  <a:cubicBezTo>
                    <a:pt x="1117345" y="0"/>
                    <a:pt x="1173225" y="55880"/>
                    <a:pt x="1173225" y="124460"/>
                  </a:cubicBezTo>
                  <a:lnTo>
                    <a:pt x="1173225" y="1431149"/>
                  </a:lnTo>
                  <a:cubicBezTo>
                    <a:pt x="1173225" y="1499729"/>
                    <a:pt x="1117345" y="1555609"/>
                    <a:pt x="1048765" y="1555609"/>
                  </a:cubicBezTo>
                  <a:close/>
                </a:path>
              </a:pathLst>
            </a:custGeom>
            <a:solidFill>
              <a:srgbClr val="F8F4EB"/>
            </a:solidFill>
          </p:spPr>
          <p:txBody>
            <a:bodyPr/>
            <a:lstStyle/>
            <a:p>
              <a:endParaRPr lang="en-CA"/>
            </a:p>
          </p:txBody>
        </p:sp>
      </p:grpSp>
      <p:grpSp>
        <p:nvGrpSpPr>
          <p:cNvPr id="4" name="Group 4"/>
          <p:cNvGrpSpPr/>
          <p:nvPr/>
        </p:nvGrpSpPr>
        <p:grpSpPr>
          <a:xfrm>
            <a:off x="6357584" y="2387158"/>
            <a:ext cx="5044789" cy="7672314"/>
            <a:chOff x="0" y="0"/>
            <a:chExt cx="1173225" cy="1784287"/>
          </a:xfrm>
        </p:grpSpPr>
        <p:sp>
          <p:nvSpPr>
            <p:cNvPr id="5" name="Freeform 5"/>
            <p:cNvSpPr/>
            <p:nvPr/>
          </p:nvSpPr>
          <p:spPr>
            <a:xfrm>
              <a:off x="0" y="0"/>
              <a:ext cx="1173225" cy="1784287"/>
            </a:xfrm>
            <a:custGeom>
              <a:avLst/>
              <a:gdLst/>
              <a:ahLst/>
              <a:cxnLst/>
              <a:rect l="l" t="t" r="r" b="b"/>
              <a:pathLst>
                <a:path w="1173225" h="1784287">
                  <a:moveTo>
                    <a:pt x="1048765" y="1784287"/>
                  </a:moveTo>
                  <a:lnTo>
                    <a:pt x="124460" y="1784287"/>
                  </a:lnTo>
                  <a:cubicBezTo>
                    <a:pt x="55880" y="1784287"/>
                    <a:pt x="0" y="1728407"/>
                    <a:pt x="0" y="1659827"/>
                  </a:cubicBezTo>
                  <a:lnTo>
                    <a:pt x="0" y="124460"/>
                  </a:lnTo>
                  <a:cubicBezTo>
                    <a:pt x="0" y="55880"/>
                    <a:pt x="55880" y="0"/>
                    <a:pt x="124460" y="0"/>
                  </a:cubicBezTo>
                  <a:lnTo>
                    <a:pt x="1048765" y="0"/>
                  </a:lnTo>
                  <a:cubicBezTo>
                    <a:pt x="1117345" y="0"/>
                    <a:pt x="1173225" y="55880"/>
                    <a:pt x="1173225" y="124460"/>
                  </a:cubicBezTo>
                  <a:lnTo>
                    <a:pt x="1173225" y="1659827"/>
                  </a:lnTo>
                  <a:cubicBezTo>
                    <a:pt x="1173225" y="1728407"/>
                    <a:pt x="1117345" y="1784287"/>
                    <a:pt x="1048765" y="1784287"/>
                  </a:cubicBezTo>
                  <a:close/>
                </a:path>
              </a:pathLst>
            </a:custGeom>
            <a:solidFill>
              <a:srgbClr val="F8F4EB"/>
            </a:solidFill>
          </p:spPr>
          <p:txBody>
            <a:bodyPr/>
            <a:lstStyle/>
            <a:p>
              <a:endParaRPr lang="en-CA"/>
            </a:p>
          </p:txBody>
        </p:sp>
      </p:grpSp>
      <p:grpSp>
        <p:nvGrpSpPr>
          <p:cNvPr id="6" name="Group 6"/>
          <p:cNvGrpSpPr/>
          <p:nvPr/>
        </p:nvGrpSpPr>
        <p:grpSpPr>
          <a:xfrm>
            <a:off x="12378260" y="2193212"/>
            <a:ext cx="5133903" cy="7865646"/>
            <a:chOff x="0" y="0"/>
            <a:chExt cx="1173225" cy="1797496"/>
          </a:xfrm>
        </p:grpSpPr>
        <p:sp>
          <p:nvSpPr>
            <p:cNvPr id="7" name="Freeform 7"/>
            <p:cNvSpPr/>
            <p:nvPr/>
          </p:nvSpPr>
          <p:spPr>
            <a:xfrm>
              <a:off x="0" y="0"/>
              <a:ext cx="1173225" cy="1797496"/>
            </a:xfrm>
            <a:custGeom>
              <a:avLst/>
              <a:gdLst/>
              <a:ahLst/>
              <a:cxnLst/>
              <a:rect l="l" t="t" r="r" b="b"/>
              <a:pathLst>
                <a:path w="1173225" h="1797496">
                  <a:moveTo>
                    <a:pt x="1048765" y="1797496"/>
                  </a:moveTo>
                  <a:lnTo>
                    <a:pt x="124460" y="1797496"/>
                  </a:lnTo>
                  <a:cubicBezTo>
                    <a:pt x="55880" y="1797496"/>
                    <a:pt x="0" y="1741616"/>
                    <a:pt x="0" y="1673036"/>
                  </a:cubicBezTo>
                  <a:lnTo>
                    <a:pt x="0" y="124460"/>
                  </a:lnTo>
                  <a:cubicBezTo>
                    <a:pt x="0" y="55880"/>
                    <a:pt x="55880" y="0"/>
                    <a:pt x="124460" y="0"/>
                  </a:cubicBezTo>
                  <a:lnTo>
                    <a:pt x="1048765" y="0"/>
                  </a:lnTo>
                  <a:cubicBezTo>
                    <a:pt x="1117345" y="0"/>
                    <a:pt x="1173225" y="55880"/>
                    <a:pt x="1173225" y="124460"/>
                  </a:cubicBezTo>
                  <a:lnTo>
                    <a:pt x="1173225" y="1673036"/>
                  </a:lnTo>
                  <a:cubicBezTo>
                    <a:pt x="1173225" y="1741616"/>
                    <a:pt x="1117345" y="1797496"/>
                    <a:pt x="1048765" y="1797496"/>
                  </a:cubicBezTo>
                  <a:close/>
                </a:path>
              </a:pathLst>
            </a:custGeom>
            <a:solidFill>
              <a:srgbClr val="F8F4EB"/>
            </a:solidFill>
          </p:spPr>
          <p:txBody>
            <a:bodyPr/>
            <a:lstStyle/>
            <a:p>
              <a:endParaRPr lang="en-CA"/>
            </a:p>
          </p:txBody>
        </p:sp>
      </p:grpSp>
      <p:grpSp>
        <p:nvGrpSpPr>
          <p:cNvPr id="8" name="Group 8"/>
          <p:cNvGrpSpPr/>
          <p:nvPr/>
        </p:nvGrpSpPr>
        <p:grpSpPr>
          <a:xfrm>
            <a:off x="1183933" y="2717723"/>
            <a:ext cx="4254243" cy="5832524"/>
            <a:chOff x="117397" y="482025"/>
            <a:chExt cx="5672324" cy="7776698"/>
          </a:xfrm>
        </p:grpSpPr>
        <p:sp>
          <p:nvSpPr>
            <p:cNvPr id="9" name="TextBox 9"/>
            <p:cNvSpPr txBox="1"/>
            <p:nvPr/>
          </p:nvSpPr>
          <p:spPr>
            <a:xfrm>
              <a:off x="368540" y="482025"/>
              <a:ext cx="5421181" cy="1460334"/>
            </a:xfrm>
            <a:prstGeom prst="rect">
              <a:avLst/>
            </a:prstGeom>
          </p:spPr>
          <p:txBody>
            <a:bodyPr lIns="0" tIns="0" rIns="0" bIns="0" rtlCol="0" anchor="t">
              <a:spAutoFit/>
            </a:bodyPr>
            <a:lstStyle/>
            <a:p>
              <a:pPr marL="0" lvl="0" indent="0" algn="l">
                <a:lnSpc>
                  <a:spcPts val="4410"/>
                </a:lnSpc>
                <a:spcBef>
                  <a:spcPct val="0"/>
                </a:spcBef>
              </a:pPr>
              <a:r>
                <a:rPr lang="en-US" sz="3500" b="1" dirty="0">
                  <a:solidFill>
                    <a:srgbClr val="454699"/>
                  </a:solidFill>
                  <a:latin typeface="League Spartan"/>
                  <a:ea typeface="League Spartan"/>
                  <a:cs typeface="League Spartan"/>
                  <a:sym typeface="League Spartan"/>
                </a:rPr>
                <a:t>MODULAR APPR</a:t>
              </a:r>
              <a:r>
                <a:rPr lang="en-US" sz="3500" b="1" u="none" dirty="0">
                  <a:solidFill>
                    <a:srgbClr val="454699"/>
                  </a:solidFill>
                  <a:latin typeface="League Spartan"/>
                  <a:ea typeface="League Spartan"/>
                  <a:cs typeface="League Spartan"/>
                  <a:sym typeface="League Spartan"/>
                </a:rPr>
                <a:t>OACH</a:t>
              </a:r>
            </a:p>
          </p:txBody>
        </p:sp>
        <p:sp>
          <p:nvSpPr>
            <p:cNvPr id="10" name="TextBox 10"/>
            <p:cNvSpPr txBox="1"/>
            <p:nvPr/>
          </p:nvSpPr>
          <p:spPr>
            <a:xfrm>
              <a:off x="117397" y="2345731"/>
              <a:ext cx="5421181" cy="5912992"/>
            </a:xfrm>
            <a:prstGeom prst="rect">
              <a:avLst/>
            </a:prstGeom>
          </p:spPr>
          <p:txBody>
            <a:bodyPr lIns="0" tIns="0" rIns="0" bIns="0" rtlCol="0" anchor="t">
              <a:spAutoFit/>
            </a:bodyPr>
            <a:lstStyle/>
            <a:p>
              <a:pPr marL="0" lvl="0" indent="0" algn="l">
                <a:lnSpc>
                  <a:spcPts val="2982"/>
                </a:lnSpc>
                <a:spcBef>
                  <a:spcPct val="0"/>
                </a:spcBef>
              </a:pPr>
              <a:r>
                <a:rPr lang="en-US" sz="2100" dirty="0">
                  <a:solidFill>
                    <a:srgbClr val="454699"/>
                  </a:solidFill>
                  <a:latin typeface="Roboto"/>
                  <a:ea typeface="Roboto"/>
                  <a:cs typeface="Roboto"/>
                  <a:sym typeface="Roboto"/>
                </a:rPr>
                <a:t>This</a:t>
              </a:r>
              <a:r>
                <a:rPr lang="en-US" sz="2100" u="none" dirty="0">
                  <a:solidFill>
                    <a:srgbClr val="454699"/>
                  </a:solidFill>
                  <a:latin typeface="Roboto"/>
                  <a:ea typeface="Roboto"/>
                  <a:cs typeface="Roboto"/>
                  <a:sym typeface="Roboto"/>
                </a:rPr>
                <a:t> is the classical method for Autonomous Driving in the industry. The overall Driving Task is divided into four modules.(</a:t>
              </a:r>
              <a:r>
                <a:rPr lang="en-US" sz="2100" b="1" u="none" dirty="0">
                  <a:solidFill>
                    <a:srgbClr val="004AAD"/>
                  </a:solidFill>
                  <a:latin typeface="Roboto Bold"/>
                  <a:ea typeface="Roboto Bold"/>
                  <a:cs typeface="Roboto Bold"/>
                  <a:sym typeface="Roboto Bold"/>
                </a:rPr>
                <a:t>Sensor, Perception, Decision Making, Control Commands)</a:t>
              </a:r>
              <a:r>
                <a:rPr lang="en-US" sz="2100" u="none" dirty="0">
                  <a:solidFill>
                    <a:srgbClr val="454699"/>
                  </a:solidFill>
                  <a:latin typeface="Roboto"/>
                  <a:ea typeface="Roboto"/>
                  <a:cs typeface="Roboto"/>
                  <a:sym typeface="Roboto"/>
                </a:rPr>
                <a:t> with each module responsible for various subordinate functions such as </a:t>
              </a:r>
              <a:r>
                <a:rPr lang="en-US" sz="2100" b="1" u="none" dirty="0">
                  <a:solidFill>
                    <a:srgbClr val="FF3131"/>
                  </a:solidFill>
                  <a:latin typeface="Roboto Bold"/>
                  <a:ea typeface="Roboto Bold"/>
                  <a:cs typeface="Roboto Bold"/>
                  <a:sym typeface="Roboto Bold"/>
                </a:rPr>
                <a:t>Lidar, Object Detection, Path Planning, Acceleration etc</a:t>
              </a:r>
              <a:r>
                <a:rPr lang="en-US" sz="2100" b="1" u="none" dirty="0">
                  <a:solidFill>
                    <a:srgbClr val="454699"/>
                  </a:solidFill>
                  <a:latin typeface="Roboto Bold"/>
                  <a:ea typeface="Roboto Bold"/>
                  <a:cs typeface="Roboto Bold"/>
                  <a:sym typeface="Roboto Bold"/>
                </a:rPr>
                <a:t>.</a:t>
              </a:r>
              <a:r>
                <a:rPr lang="en-US" sz="2100" u="none" dirty="0">
                  <a:solidFill>
                    <a:srgbClr val="454699"/>
                  </a:solidFill>
                  <a:latin typeface="Roboto"/>
                  <a:ea typeface="Roboto"/>
                  <a:cs typeface="Roboto"/>
                  <a:sym typeface="Roboto"/>
                </a:rPr>
                <a:t> It is also known as rule-based design.</a:t>
              </a:r>
            </a:p>
          </p:txBody>
        </p:sp>
      </p:grpSp>
      <p:grpSp>
        <p:nvGrpSpPr>
          <p:cNvPr id="11" name="Group 11"/>
          <p:cNvGrpSpPr/>
          <p:nvPr/>
        </p:nvGrpSpPr>
        <p:grpSpPr>
          <a:xfrm>
            <a:off x="6670743" y="2665587"/>
            <a:ext cx="4682491" cy="7502919"/>
            <a:chOff x="-107384" y="412509"/>
            <a:chExt cx="6243322" cy="10003892"/>
          </a:xfrm>
        </p:grpSpPr>
        <p:sp>
          <p:nvSpPr>
            <p:cNvPr id="12" name="TextBox 12"/>
            <p:cNvSpPr txBox="1"/>
            <p:nvPr/>
          </p:nvSpPr>
          <p:spPr>
            <a:xfrm>
              <a:off x="244645" y="412509"/>
              <a:ext cx="5891293" cy="721912"/>
            </a:xfrm>
            <a:prstGeom prst="rect">
              <a:avLst/>
            </a:prstGeom>
          </p:spPr>
          <p:txBody>
            <a:bodyPr lIns="0" tIns="0" rIns="0" bIns="0" rtlCol="0" anchor="t">
              <a:spAutoFit/>
            </a:bodyPr>
            <a:lstStyle/>
            <a:p>
              <a:pPr marL="0" lvl="0" indent="0" algn="l">
                <a:lnSpc>
                  <a:spcPts val="4410"/>
                </a:lnSpc>
                <a:spcBef>
                  <a:spcPct val="0"/>
                </a:spcBef>
              </a:pPr>
              <a:r>
                <a:rPr lang="en-US" sz="3500" b="1" dirty="0">
                  <a:solidFill>
                    <a:srgbClr val="454699"/>
                  </a:solidFill>
                  <a:latin typeface="League Spartan"/>
                  <a:ea typeface="League Spartan"/>
                  <a:cs typeface="League Spartan"/>
                  <a:sym typeface="League Spartan"/>
                </a:rPr>
                <a:t>HYBRI</a:t>
              </a:r>
              <a:r>
                <a:rPr lang="en-US" sz="3500" b="1" u="none" dirty="0">
                  <a:solidFill>
                    <a:srgbClr val="454699"/>
                  </a:solidFill>
                  <a:latin typeface="League Spartan"/>
                  <a:ea typeface="League Spartan"/>
                  <a:cs typeface="League Spartan"/>
                  <a:sym typeface="League Spartan"/>
                </a:rPr>
                <a:t>D MODEL</a:t>
              </a:r>
            </a:p>
          </p:txBody>
        </p:sp>
        <p:sp>
          <p:nvSpPr>
            <p:cNvPr id="13" name="TextBox 13"/>
            <p:cNvSpPr txBox="1"/>
            <p:nvPr/>
          </p:nvSpPr>
          <p:spPr>
            <a:xfrm>
              <a:off x="-107384" y="1505658"/>
              <a:ext cx="5891293" cy="8910743"/>
            </a:xfrm>
            <a:prstGeom prst="rect">
              <a:avLst/>
            </a:prstGeom>
          </p:spPr>
          <p:txBody>
            <a:bodyPr lIns="0" tIns="0" rIns="0" bIns="0" rtlCol="0" anchor="t">
              <a:spAutoFit/>
            </a:bodyPr>
            <a:lstStyle/>
            <a:p>
              <a:pPr algn="l">
                <a:lnSpc>
                  <a:spcPts val="2840"/>
                </a:lnSpc>
              </a:pPr>
              <a:r>
                <a:rPr lang="en-US" sz="2000" spc="-20" dirty="0">
                  <a:solidFill>
                    <a:srgbClr val="454699"/>
                  </a:solidFill>
                  <a:latin typeface="Roboto"/>
                  <a:ea typeface="Roboto"/>
                  <a:cs typeface="Roboto"/>
                  <a:sym typeface="Roboto"/>
                </a:rPr>
                <a:t>This is sub-divided into two categories:</a:t>
              </a:r>
            </a:p>
            <a:p>
              <a:pPr algn="l">
                <a:lnSpc>
                  <a:spcPts val="2840"/>
                </a:lnSpc>
              </a:pPr>
              <a:endParaRPr lang="en-US" sz="2000" spc="-20" dirty="0">
                <a:solidFill>
                  <a:srgbClr val="454699"/>
                </a:solidFill>
                <a:latin typeface="Roboto"/>
                <a:ea typeface="Roboto"/>
                <a:cs typeface="Roboto"/>
                <a:sym typeface="Roboto"/>
              </a:endParaRPr>
            </a:p>
            <a:p>
              <a:pPr marL="0" lvl="0" indent="0" algn="l">
                <a:lnSpc>
                  <a:spcPts val="2840"/>
                </a:lnSpc>
                <a:spcBef>
                  <a:spcPct val="0"/>
                </a:spcBef>
              </a:pPr>
              <a:r>
                <a:rPr lang="en-US" sz="2000" b="1" spc="-20" dirty="0">
                  <a:solidFill>
                    <a:srgbClr val="FF3131"/>
                  </a:solidFill>
                  <a:latin typeface="Roboto Bold"/>
                  <a:ea typeface="Roboto Bold"/>
                  <a:cs typeface="Roboto Bold"/>
                  <a:sym typeface="Roboto Bold"/>
                </a:rPr>
                <a:t>Mediated Perception</a:t>
              </a:r>
              <a:r>
                <a:rPr lang="en-US" sz="2000" spc="-20" dirty="0">
                  <a:solidFill>
                    <a:srgbClr val="454699"/>
                  </a:solidFill>
                  <a:latin typeface="Roboto"/>
                  <a:ea typeface="Roboto"/>
                  <a:cs typeface="Roboto"/>
                  <a:sym typeface="Roboto"/>
                </a:rPr>
                <a:t>: This involves training the Computer Vision algorithm with human knowledge of known Avoidances(Traffic lights, Road markings, Pedestrians etc.). The ne</a:t>
              </a:r>
              <a:r>
                <a:rPr lang="en-US" sz="2000" u="none" spc="-20" dirty="0">
                  <a:solidFill>
                    <a:srgbClr val="454699"/>
                  </a:solidFill>
                  <a:latin typeface="Roboto"/>
                  <a:ea typeface="Roboto"/>
                  <a:cs typeface="Roboto"/>
                  <a:sym typeface="Roboto"/>
                </a:rPr>
                <a:t>ural network handles decision making and vehicle control.</a:t>
              </a:r>
            </a:p>
            <a:p>
              <a:pPr marL="0" lvl="0" indent="0" algn="l">
                <a:lnSpc>
                  <a:spcPts val="2840"/>
                </a:lnSpc>
                <a:spcBef>
                  <a:spcPct val="0"/>
                </a:spcBef>
              </a:pPr>
              <a:endParaRPr lang="en-US" sz="2000" u="none" spc="-20" dirty="0">
                <a:solidFill>
                  <a:srgbClr val="454699"/>
                </a:solidFill>
                <a:latin typeface="Roboto"/>
                <a:ea typeface="Roboto"/>
                <a:cs typeface="Roboto"/>
                <a:sym typeface="Roboto"/>
              </a:endParaRPr>
            </a:p>
            <a:p>
              <a:pPr marL="0" lvl="0" indent="0" algn="l">
                <a:lnSpc>
                  <a:spcPts val="2840"/>
                </a:lnSpc>
                <a:spcBef>
                  <a:spcPct val="0"/>
                </a:spcBef>
              </a:pPr>
              <a:r>
                <a:rPr lang="en-US" sz="2000" b="1" u="none" spc="-20" dirty="0">
                  <a:solidFill>
                    <a:srgbClr val="004AAD"/>
                  </a:solidFill>
                  <a:latin typeface="Roboto Bold"/>
                  <a:ea typeface="Roboto Bold"/>
                  <a:cs typeface="Roboto Bold"/>
                  <a:sym typeface="Roboto Bold"/>
                </a:rPr>
                <a:t>Behavior reflex</a:t>
              </a:r>
              <a:r>
                <a:rPr lang="en-US" sz="2000" u="none" spc="-20" dirty="0">
                  <a:solidFill>
                    <a:srgbClr val="454699"/>
                  </a:solidFill>
                  <a:latin typeface="Roboto"/>
                  <a:ea typeface="Roboto"/>
                  <a:cs typeface="Roboto"/>
                  <a:sym typeface="Roboto"/>
                </a:rPr>
                <a:t>: The neural network mimics human behavior in a supervised learning approach. To teach the model, a human drives the car on the road or in a car racing simulation game e.g. Grand Turismo Sports, while the system records images and steering angles as training data.</a:t>
              </a:r>
            </a:p>
            <a:p>
              <a:pPr marL="0" lvl="0" indent="0" algn="l">
                <a:lnSpc>
                  <a:spcPts val="2840"/>
                </a:lnSpc>
                <a:spcBef>
                  <a:spcPct val="0"/>
                </a:spcBef>
              </a:pPr>
              <a:endParaRPr lang="en-US" sz="2000" u="none" spc="-20" dirty="0">
                <a:solidFill>
                  <a:srgbClr val="454699"/>
                </a:solidFill>
                <a:latin typeface="Roboto"/>
                <a:ea typeface="Roboto"/>
                <a:cs typeface="Roboto"/>
                <a:sym typeface="Roboto"/>
              </a:endParaRPr>
            </a:p>
          </p:txBody>
        </p:sp>
      </p:grpSp>
      <p:grpSp>
        <p:nvGrpSpPr>
          <p:cNvPr id="14" name="Group 14"/>
          <p:cNvGrpSpPr/>
          <p:nvPr/>
        </p:nvGrpSpPr>
        <p:grpSpPr>
          <a:xfrm>
            <a:off x="12643232" y="2356205"/>
            <a:ext cx="4868931" cy="7846652"/>
            <a:chOff x="0" y="0"/>
            <a:chExt cx="6491909" cy="10462202"/>
          </a:xfrm>
        </p:grpSpPr>
        <p:sp>
          <p:nvSpPr>
            <p:cNvPr id="15" name="TextBox 15"/>
            <p:cNvSpPr txBox="1"/>
            <p:nvPr/>
          </p:nvSpPr>
          <p:spPr>
            <a:xfrm>
              <a:off x="0" y="-19050"/>
              <a:ext cx="6491909" cy="1385332"/>
            </a:xfrm>
            <a:prstGeom prst="rect">
              <a:avLst/>
            </a:prstGeom>
          </p:spPr>
          <p:txBody>
            <a:bodyPr lIns="0" tIns="0" rIns="0" bIns="0" rtlCol="0" anchor="t">
              <a:spAutoFit/>
            </a:bodyPr>
            <a:lstStyle/>
            <a:p>
              <a:pPr marL="0" lvl="0" indent="0" algn="l">
                <a:lnSpc>
                  <a:spcPts val="4180"/>
                </a:lnSpc>
                <a:spcBef>
                  <a:spcPct val="0"/>
                </a:spcBef>
              </a:pPr>
              <a:r>
                <a:rPr lang="en-US" sz="3317" b="1">
                  <a:solidFill>
                    <a:srgbClr val="454699"/>
                  </a:solidFill>
                  <a:latin typeface="League Spartan"/>
                  <a:ea typeface="League Spartan"/>
                  <a:cs typeface="League Spartan"/>
                  <a:sym typeface="League Spartan"/>
                </a:rPr>
                <a:t>END-TO-END A</a:t>
              </a:r>
              <a:r>
                <a:rPr lang="en-US" sz="3317" b="1" u="none">
                  <a:solidFill>
                    <a:srgbClr val="454699"/>
                  </a:solidFill>
                  <a:latin typeface="League Spartan"/>
                  <a:ea typeface="League Spartan"/>
                  <a:cs typeface="League Spartan"/>
                  <a:sym typeface="League Spartan"/>
                </a:rPr>
                <a:t>LGORITHM</a:t>
              </a:r>
            </a:p>
          </p:txBody>
        </p:sp>
        <p:sp>
          <p:nvSpPr>
            <p:cNvPr id="16" name="TextBox 16"/>
            <p:cNvSpPr txBox="1"/>
            <p:nvPr/>
          </p:nvSpPr>
          <p:spPr>
            <a:xfrm>
              <a:off x="0" y="1551113"/>
              <a:ext cx="6491909" cy="8911089"/>
            </a:xfrm>
            <a:prstGeom prst="rect">
              <a:avLst/>
            </a:prstGeom>
          </p:spPr>
          <p:txBody>
            <a:bodyPr lIns="0" tIns="0" rIns="0" bIns="0" rtlCol="0" anchor="t">
              <a:spAutoFit/>
            </a:bodyPr>
            <a:lstStyle/>
            <a:p>
              <a:pPr marL="0" lvl="0" indent="0" algn="l">
                <a:lnSpc>
                  <a:spcPts val="2826"/>
                </a:lnSpc>
                <a:spcBef>
                  <a:spcPct val="0"/>
                </a:spcBef>
              </a:pPr>
              <a:r>
                <a:rPr lang="en-US" sz="1990" spc="-19" dirty="0">
                  <a:solidFill>
                    <a:srgbClr val="454699"/>
                  </a:solidFill>
                  <a:latin typeface="Roboto"/>
                  <a:ea typeface="Roboto"/>
                  <a:cs typeface="Roboto"/>
                  <a:sym typeface="Roboto"/>
                </a:rPr>
                <a:t>This consist </a:t>
              </a:r>
              <a:r>
                <a:rPr lang="en-US" sz="1990" u="none" spc="-19" dirty="0">
                  <a:solidFill>
                    <a:srgbClr val="454699"/>
                  </a:solidFill>
                  <a:latin typeface="Roboto"/>
                  <a:ea typeface="Roboto"/>
                  <a:cs typeface="Roboto"/>
                  <a:sym typeface="Roboto"/>
                </a:rPr>
                <a:t>of two paradigms:</a:t>
              </a:r>
            </a:p>
            <a:p>
              <a:pPr marL="0" lvl="0" indent="0" algn="l">
                <a:lnSpc>
                  <a:spcPts val="2826"/>
                </a:lnSpc>
                <a:spcBef>
                  <a:spcPct val="0"/>
                </a:spcBef>
              </a:pPr>
              <a:endParaRPr lang="en-US" sz="1990" u="none" spc="-19" dirty="0">
                <a:solidFill>
                  <a:srgbClr val="454699"/>
                </a:solidFill>
                <a:latin typeface="Roboto"/>
                <a:ea typeface="Roboto"/>
                <a:cs typeface="Roboto"/>
                <a:sym typeface="Roboto"/>
              </a:endParaRPr>
            </a:p>
            <a:p>
              <a:pPr marL="0" lvl="0" indent="0" algn="l">
                <a:lnSpc>
                  <a:spcPts val="2826"/>
                </a:lnSpc>
                <a:spcBef>
                  <a:spcPct val="0"/>
                </a:spcBef>
              </a:pPr>
              <a:r>
                <a:rPr lang="en-US" sz="1990" b="1" u="none" spc="-19" dirty="0">
                  <a:solidFill>
                    <a:srgbClr val="454699"/>
                  </a:solidFill>
                  <a:latin typeface="Roboto Bold"/>
                  <a:ea typeface="Roboto Bold"/>
                  <a:cs typeface="Roboto Bold"/>
                  <a:sym typeface="Roboto Bold"/>
                </a:rPr>
                <a:t>Reinforcement learning</a:t>
              </a:r>
              <a:r>
                <a:rPr lang="en-US" sz="1990" u="none" spc="-19" dirty="0">
                  <a:solidFill>
                    <a:srgbClr val="454699"/>
                  </a:solidFill>
                  <a:latin typeface="Roboto"/>
                  <a:ea typeface="Roboto"/>
                  <a:cs typeface="Roboto"/>
                  <a:sym typeface="Roboto"/>
                </a:rPr>
                <a:t>: This uses trial and error because it utilizes </a:t>
              </a:r>
              <a:r>
                <a:rPr lang="en-US" sz="1990" b="1" u="none" spc="-19" dirty="0">
                  <a:solidFill>
                    <a:srgbClr val="FF3131"/>
                  </a:solidFill>
                  <a:latin typeface="Roboto Bold"/>
                  <a:ea typeface="Roboto Bold"/>
                  <a:cs typeface="Roboto Bold"/>
                  <a:sym typeface="Roboto Bold"/>
                </a:rPr>
                <a:t>Deep Q Network</a:t>
              </a:r>
              <a:r>
                <a:rPr lang="en-US" sz="1990" u="none" spc="-19" dirty="0">
                  <a:solidFill>
                    <a:srgbClr val="454699"/>
                  </a:solidFill>
                  <a:latin typeface="Roboto"/>
                  <a:ea typeface="Roboto"/>
                  <a:cs typeface="Roboto"/>
                  <a:sym typeface="Roboto"/>
                </a:rPr>
                <a:t> (DQN), </a:t>
              </a:r>
              <a:r>
                <a:rPr lang="en-US" sz="1990" b="1" u="none" spc="-19" dirty="0">
                  <a:solidFill>
                    <a:srgbClr val="00BF63"/>
                  </a:solidFill>
                  <a:latin typeface="Roboto Bold"/>
                  <a:ea typeface="Roboto Bold"/>
                  <a:cs typeface="Roboto Bold"/>
                  <a:sym typeface="Roboto Bold"/>
                </a:rPr>
                <a:t>Asynchronous Advantage Actor Critic</a:t>
              </a:r>
              <a:r>
                <a:rPr lang="en-US" sz="1990" u="none" spc="-19" dirty="0">
                  <a:solidFill>
                    <a:srgbClr val="454699"/>
                  </a:solidFill>
                  <a:latin typeface="Roboto"/>
                  <a:ea typeface="Roboto"/>
                  <a:cs typeface="Roboto"/>
                  <a:sym typeface="Roboto"/>
                </a:rPr>
                <a:t> (A3C) or </a:t>
              </a:r>
              <a:r>
                <a:rPr lang="en-US" sz="1990" b="1" u="none" spc="-19" dirty="0">
                  <a:solidFill>
                    <a:srgbClr val="004AAD"/>
                  </a:solidFill>
                  <a:latin typeface="Roboto Bold"/>
                  <a:ea typeface="Roboto Bold"/>
                  <a:cs typeface="Roboto Bold"/>
                  <a:sym typeface="Roboto Bold"/>
                </a:rPr>
                <a:t>Proximal Policy Optimization</a:t>
              </a:r>
              <a:r>
                <a:rPr lang="en-US" sz="1990" b="1" u="none" spc="-19" dirty="0">
                  <a:solidFill>
                    <a:srgbClr val="454699"/>
                  </a:solidFill>
                  <a:latin typeface="Roboto Bold"/>
                  <a:ea typeface="Roboto Bold"/>
                  <a:cs typeface="Roboto Bold"/>
                  <a:sym typeface="Roboto Bold"/>
                </a:rPr>
                <a:t> </a:t>
              </a:r>
              <a:r>
                <a:rPr lang="en-US" sz="1990" u="none" spc="-19" dirty="0">
                  <a:solidFill>
                    <a:srgbClr val="454699"/>
                  </a:solidFill>
                  <a:latin typeface="Roboto"/>
                  <a:ea typeface="Roboto"/>
                  <a:cs typeface="Roboto"/>
                  <a:sym typeface="Roboto"/>
                </a:rPr>
                <a:t>(PPO)  to maximize the cumulative rewards received by an intelligent system as it interact with the environment.</a:t>
              </a:r>
            </a:p>
            <a:p>
              <a:pPr marL="0" lvl="0" indent="0" algn="l">
                <a:lnSpc>
                  <a:spcPts val="2826"/>
                </a:lnSpc>
                <a:spcBef>
                  <a:spcPct val="0"/>
                </a:spcBef>
              </a:pPr>
              <a:endParaRPr lang="en-US" sz="1990" u="none" spc="-19" dirty="0">
                <a:solidFill>
                  <a:srgbClr val="454699"/>
                </a:solidFill>
                <a:latin typeface="Roboto"/>
                <a:ea typeface="Roboto"/>
                <a:cs typeface="Roboto"/>
                <a:sym typeface="Roboto"/>
              </a:endParaRPr>
            </a:p>
            <a:p>
              <a:pPr marL="0" lvl="0" indent="0" algn="l">
                <a:lnSpc>
                  <a:spcPts val="2826"/>
                </a:lnSpc>
                <a:spcBef>
                  <a:spcPct val="0"/>
                </a:spcBef>
              </a:pPr>
              <a:r>
                <a:rPr lang="en-US" sz="1990" b="1" u="none" spc="-19" dirty="0">
                  <a:solidFill>
                    <a:srgbClr val="FF3131"/>
                  </a:solidFill>
                  <a:latin typeface="Roboto Bold"/>
                  <a:ea typeface="Roboto Bold"/>
                  <a:cs typeface="Roboto Bold"/>
                  <a:sym typeface="Roboto Bold"/>
                </a:rPr>
                <a:t>Direct Perception</a:t>
              </a:r>
              <a:r>
                <a:rPr lang="en-US" sz="1990" u="none" spc="-19" dirty="0">
                  <a:solidFill>
                    <a:srgbClr val="454699"/>
                  </a:solidFill>
                  <a:latin typeface="Roboto"/>
                  <a:ea typeface="Roboto"/>
                  <a:cs typeface="Roboto"/>
                  <a:sym typeface="Roboto"/>
                </a:rPr>
                <a:t>: This uses Deep Convolutional Neural Network (DCNN) to dynamically learn images for estimating Avoidances relating to Autonomous Driving in combination with reinforcement learning. Training data is also from human driver or car racing simulation recordings such as Grand Turismo.</a:t>
              </a:r>
            </a:p>
            <a:p>
              <a:pPr marL="0" lvl="0" indent="0" algn="l">
                <a:lnSpc>
                  <a:spcPts val="2826"/>
                </a:lnSpc>
                <a:spcBef>
                  <a:spcPct val="0"/>
                </a:spcBef>
              </a:pPr>
              <a:endParaRPr lang="en-US" sz="1990" u="none" spc="-19" dirty="0">
                <a:solidFill>
                  <a:srgbClr val="454699"/>
                </a:solidFill>
                <a:latin typeface="Roboto"/>
                <a:ea typeface="Roboto"/>
                <a:cs typeface="Roboto"/>
                <a:sym typeface="Roboto"/>
              </a:endParaRPr>
            </a:p>
          </p:txBody>
        </p:sp>
      </p:grpSp>
      <p:sp>
        <p:nvSpPr>
          <p:cNvPr id="17" name="TextBox 17"/>
          <p:cNvSpPr txBox="1"/>
          <p:nvPr/>
        </p:nvSpPr>
        <p:spPr>
          <a:xfrm>
            <a:off x="763466" y="1617194"/>
            <a:ext cx="17178338" cy="381762"/>
          </a:xfrm>
          <a:prstGeom prst="rect">
            <a:avLst/>
          </a:prstGeom>
        </p:spPr>
        <p:txBody>
          <a:bodyPr lIns="0" tIns="0" rIns="0" bIns="0" rtlCol="0" anchor="t">
            <a:spAutoFit/>
          </a:bodyPr>
          <a:lstStyle/>
          <a:p>
            <a:pPr algn="ctr">
              <a:lnSpc>
                <a:spcPts val="3024"/>
              </a:lnSpc>
              <a:spcBef>
                <a:spcPct val="0"/>
              </a:spcBef>
            </a:pPr>
            <a:r>
              <a:rPr lang="en-US" sz="2400" dirty="0">
                <a:solidFill>
                  <a:srgbClr val="454699"/>
                </a:solidFill>
                <a:latin typeface="League Spartan"/>
                <a:ea typeface="League Spartan"/>
                <a:cs typeface="League Spartan"/>
                <a:sym typeface="League Spartan"/>
              </a:rPr>
              <a:t>In Autonomous Vehicles/Physical AI, the car does all the driving. It’s architecture is divided into the following:</a:t>
            </a:r>
          </a:p>
        </p:txBody>
      </p:sp>
      <p:sp>
        <p:nvSpPr>
          <p:cNvPr id="18" name="TextBox 18"/>
          <p:cNvSpPr txBox="1"/>
          <p:nvPr/>
        </p:nvSpPr>
        <p:spPr>
          <a:xfrm>
            <a:off x="7431063" y="5310188"/>
            <a:ext cx="3425875" cy="390525"/>
          </a:xfrm>
          <a:prstGeom prst="rect">
            <a:avLst/>
          </a:prstGeom>
        </p:spPr>
        <p:txBody>
          <a:bodyPr lIns="0" tIns="0" rIns="0" bIns="0" rtlCol="0" anchor="t">
            <a:spAutoFit/>
          </a:bodyPr>
          <a:lstStyle/>
          <a:p>
            <a:pPr algn="ctr">
              <a:lnSpc>
                <a:spcPts val="3149"/>
              </a:lnSpc>
              <a:spcBef>
                <a:spcPct val="0"/>
              </a:spcBef>
            </a:pPr>
            <a:r>
              <a:rPr lang="en-US" sz="2499" b="1">
                <a:solidFill>
                  <a:srgbClr val="454699"/>
                </a:solidFill>
                <a:latin typeface="League Spartan"/>
                <a:ea typeface="League Spartan"/>
                <a:cs typeface="League Spartan"/>
                <a:sym typeface="League Spartan"/>
              </a:rPr>
              <a:t>`</a:t>
            </a:r>
          </a:p>
        </p:txBody>
      </p:sp>
      <p:sp>
        <p:nvSpPr>
          <p:cNvPr id="19" name="TextBox 19"/>
          <p:cNvSpPr txBox="1"/>
          <p:nvPr/>
        </p:nvSpPr>
        <p:spPr>
          <a:xfrm>
            <a:off x="3281958" y="314989"/>
            <a:ext cx="11196042" cy="1086836"/>
          </a:xfrm>
          <a:prstGeom prst="rect">
            <a:avLst/>
          </a:prstGeom>
        </p:spPr>
        <p:txBody>
          <a:bodyPr wrap="square" lIns="0" tIns="0" rIns="0" bIns="0" rtlCol="0" anchor="t">
            <a:spAutoFit/>
          </a:bodyPr>
          <a:lstStyle/>
          <a:p>
            <a:pPr algn="ctr">
              <a:lnSpc>
                <a:spcPts val="8945"/>
              </a:lnSpc>
              <a:spcBef>
                <a:spcPct val="0"/>
              </a:spcBef>
            </a:pPr>
            <a:r>
              <a:rPr lang="en-US" sz="6000" b="1" dirty="0">
                <a:solidFill>
                  <a:srgbClr val="454699"/>
                </a:solidFill>
                <a:latin typeface="League Spartan"/>
                <a:ea typeface="League Spartan"/>
                <a:cs typeface="League Spartan"/>
                <a:sym typeface="League Spartan"/>
              </a:rPr>
              <a:t>AUTONOMOUS VEHICLES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B0E4"/>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5673546" y="8212763"/>
            <a:ext cx="1897484" cy="1061551"/>
            <a:chOff x="0" y="0"/>
            <a:chExt cx="726425" cy="406400"/>
          </a:xfrm>
        </p:grpSpPr>
        <p:sp>
          <p:nvSpPr>
            <p:cNvPr id="4" name="Freeform 4"/>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5" name="Group 5"/>
          <p:cNvGrpSpPr/>
          <p:nvPr/>
        </p:nvGrpSpPr>
        <p:grpSpPr>
          <a:xfrm>
            <a:off x="16669913" y="8355639"/>
            <a:ext cx="775800" cy="775800"/>
            <a:chOff x="0" y="0"/>
            <a:chExt cx="1034400" cy="1034400"/>
          </a:xfrm>
        </p:grpSpPr>
        <p:sp>
          <p:nvSpPr>
            <p:cNvPr id="6" name="Freeform 6"/>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7" name="Freeform 7"/>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
        <p:nvSpPr>
          <p:cNvPr id="8" name="Freeform 8"/>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
        <p:nvSpPr>
          <p:cNvPr id="9" name="Freeform 9"/>
          <p:cNvSpPr/>
          <p:nvPr/>
        </p:nvSpPr>
        <p:spPr>
          <a:xfrm>
            <a:off x="4144425" y="1672471"/>
            <a:ext cx="10419737" cy="7097009"/>
          </a:xfrm>
          <a:custGeom>
            <a:avLst/>
            <a:gdLst/>
            <a:ahLst/>
            <a:cxnLst/>
            <a:rect l="l" t="t" r="r" b="b"/>
            <a:pathLst>
              <a:path w="10419737" h="7097009">
                <a:moveTo>
                  <a:pt x="0" y="0"/>
                </a:moveTo>
                <a:lnTo>
                  <a:pt x="10419737" y="0"/>
                </a:lnTo>
                <a:lnTo>
                  <a:pt x="10419737" y="7097009"/>
                </a:lnTo>
                <a:lnTo>
                  <a:pt x="0" y="7097009"/>
                </a:lnTo>
                <a:lnTo>
                  <a:pt x="0" y="0"/>
                </a:lnTo>
                <a:close/>
              </a:path>
            </a:pathLst>
          </a:custGeom>
          <a:blipFill>
            <a:blip r:embed="rId10"/>
            <a:stretch>
              <a:fillRect l="-513" t="-2001" b="-844"/>
            </a:stretch>
          </a:blipFill>
        </p:spPr>
        <p:txBody>
          <a:bodyPr/>
          <a:lstStyle/>
          <a:p>
            <a:endParaRPr lang="en-CA"/>
          </a:p>
        </p:txBody>
      </p:sp>
      <p:sp>
        <p:nvSpPr>
          <p:cNvPr id="10" name="TextBox 10"/>
          <p:cNvSpPr txBox="1"/>
          <p:nvPr/>
        </p:nvSpPr>
        <p:spPr>
          <a:xfrm>
            <a:off x="1311034" y="254979"/>
            <a:ext cx="15311254" cy="1775304"/>
          </a:xfrm>
          <a:prstGeom prst="rect">
            <a:avLst/>
          </a:prstGeom>
        </p:spPr>
        <p:txBody>
          <a:bodyPr lIns="0" tIns="0" rIns="0" bIns="0" rtlCol="0" anchor="t">
            <a:spAutoFit/>
          </a:bodyPr>
          <a:lstStyle/>
          <a:p>
            <a:pPr marL="0" lvl="0" indent="0" algn="l">
              <a:lnSpc>
                <a:spcPts val="7077"/>
              </a:lnSpc>
              <a:spcBef>
                <a:spcPct val="0"/>
              </a:spcBef>
            </a:pPr>
            <a:r>
              <a:rPr lang="en-US" sz="5617" b="1">
                <a:solidFill>
                  <a:srgbClr val="454699"/>
                </a:solidFill>
                <a:latin typeface="League Spartan"/>
                <a:ea typeface="League Spartan"/>
                <a:cs typeface="League Spartan"/>
                <a:sym typeface="League Spartan"/>
              </a:rPr>
              <a:t>SAE LEVEL</a:t>
            </a:r>
            <a:r>
              <a:rPr lang="en-US" sz="5617" b="1" u="none">
                <a:solidFill>
                  <a:srgbClr val="454699"/>
                </a:solidFill>
                <a:latin typeface="League Spartan"/>
                <a:ea typeface="League Spartan"/>
                <a:cs typeface="League Spartan"/>
                <a:sym typeface="League Spartan"/>
              </a:rPr>
              <a:t>S OF SELF-DRIVING VEHICLES</a:t>
            </a:r>
          </a:p>
          <a:p>
            <a:pPr marL="0" lvl="0" indent="0" algn="l">
              <a:lnSpc>
                <a:spcPts val="7077"/>
              </a:lnSpc>
              <a:spcBef>
                <a:spcPct val="0"/>
              </a:spcBef>
            </a:pPr>
            <a:endParaRPr lang="en-US" sz="5617" b="1" u="none">
              <a:solidFill>
                <a:srgbClr val="454699"/>
              </a:solidFill>
              <a:latin typeface="League Spartan"/>
              <a:ea typeface="League Spartan"/>
              <a:cs typeface="League Spartan"/>
              <a:sym typeface="League Spartan"/>
            </a:endParaRPr>
          </a:p>
        </p:txBody>
      </p:sp>
      <p:sp>
        <p:nvSpPr>
          <p:cNvPr id="11" name="TextBox 11"/>
          <p:cNvSpPr txBox="1"/>
          <p:nvPr/>
        </p:nvSpPr>
        <p:spPr>
          <a:xfrm>
            <a:off x="4892073" y="8926651"/>
            <a:ext cx="7649766" cy="390525"/>
          </a:xfrm>
          <a:prstGeom prst="rect">
            <a:avLst/>
          </a:prstGeom>
        </p:spPr>
        <p:txBody>
          <a:bodyPr lIns="0" tIns="0" rIns="0" bIns="0" rtlCol="0" anchor="t">
            <a:spAutoFit/>
          </a:bodyPr>
          <a:lstStyle/>
          <a:p>
            <a:pPr algn="ctr">
              <a:lnSpc>
                <a:spcPts val="3149"/>
              </a:lnSpc>
              <a:spcBef>
                <a:spcPct val="0"/>
              </a:spcBef>
            </a:pPr>
            <a:r>
              <a:rPr lang="en-US" sz="2499" b="1">
                <a:solidFill>
                  <a:srgbClr val="454699"/>
                </a:solidFill>
                <a:latin typeface="League Spartan"/>
                <a:ea typeface="League Spartan"/>
                <a:cs typeface="League Spartan"/>
                <a:sym typeface="League Spartan"/>
              </a:rPr>
              <a:t>https://www.sae.org/blog/sae-j3016-update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15361816" y="8306739"/>
            <a:ext cx="1897484" cy="1061551"/>
            <a:chOff x="0" y="0"/>
            <a:chExt cx="726425" cy="406400"/>
          </a:xfrm>
        </p:grpSpPr>
        <p:sp>
          <p:nvSpPr>
            <p:cNvPr id="3" name="Freeform 3"/>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F8F4EB">
                <a:alpha val="7843"/>
              </a:srgbClr>
            </a:solidFill>
          </p:spPr>
          <p:txBody>
            <a:bodyPr/>
            <a:lstStyle/>
            <a:p>
              <a:endParaRPr lang="en-CA"/>
            </a:p>
          </p:txBody>
        </p:sp>
      </p:grpSp>
      <p:sp>
        <p:nvSpPr>
          <p:cNvPr id="4" name="Freeform 4"/>
          <p:cNvSpPr/>
          <p:nvPr/>
        </p:nvSpPr>
        <p:spPr>
          <a:xfrm>
            <a:off x="16358183" y="8449615"/>
            <a:ext cx="775800" cy="775800"/>
          </a:xfrm>
          <a:custGeom>
            <a:avLst/>
            <a:gdLst/>
            <a:ahLst/>
            <a:cxnLst/>
            <a:rect l="l" t="t" r="r" b="b"/>
            <a:pathLst>
              <a:path w="775800" h="775800">
                <a:moveTo>
                  <a:pt x="0" y="0"/>
                </a:moveTo>
                <a:lnTo>
                  <a:pt x="775800" y="0"/>
                </a:lnTo>
                <a:lnTo>
                  <a:pt x="775800" y="775800"/>
                </a:lnTo>
                <a:lnTo>
                  <a:pt x="0" y="775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5" name="Freeform 5"/>
          <p:cNvSpPr/>
          <p:nvPr/>
        </p:nvSpPr>
        <p:spPr>
          <a:xfrm>
            <a:off x="16473625" y="8565057"/>
            <a:ext cx="544916" cy="544916"/>
          </a:xfrm>
          <a:custGeom>
            <a:avLst/>
            <a:gdLst/>
            <a:ahLst/>
            <a:cxnLst/>
            <a:rect l="l" t="t" r="r" b="b"/>
            <a:pathLst>
              <a:path w="544916" h="544916">
                <a:moveTo>
                  <a:pt x="0" y="0"/>
                </a:moveTo>
                <a:lnTo>
                  <a:pt x="544916" y="0"/>
                </a:lnTo>
                <a:lnTo>
                  <a:pt x="544916" y="544916"/>
                </a:lnTo>
                <a:lnTo>
                  <a:pt x="0" y="5449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6" name="TextBox 6"/>
          <p:cNvSpPr txBox="1"/>
          <p:nvPr/>
        </p:nvSpPr>
        <p:spPr>
          <a:xfrm>
            <a:off x="9717979" y="968596"/>
            <a:ext cx="8570021" cy="4818888"/>
          </a:xfrm>
          <a:prstGeom prst="rect">
            <a:avLst/>
          </a:prstGeom>
        </p:spPr>
        <p:txBody>
          <a:bodyPr lIns="0" tIns="0" rIns="0" bIns="0" rtlCol="0" anchor="t">
            <a:spAutoFit/>
          </a:bodyPr>
          <a:lstStyle/>
          <a:p>
            <a:pPr marL="0" lvl="0" indent="0" algn="r">
              <a:lnSpc>
                <a:spcPts val="9576"/>
              </a:lnSpc>
              <a:spcBef>
                <a:spcPct val="0"/>
              </a:spcBef>
            </a:pPr>
            <a:r>
              <a:rPr lang="en-US" sz="7600" b="1">
                <a:solidFill>
                  <a:srgbClr val="F8F4EB"/>
                </a:solidFill>
                <a:latin typeface="League Spartan"/>
                <a:ea typeface="League Spartan"/>
                <a:cs typeface="League Spartan"/>
                <a:sym typeface="League Spartan"/>
              </a:rPr>
              <a:t>WHY DO WE NEED SENSORS IN SELF-DRIVING VEHICLES</a:t>
            </a:r>
          </a:p>
        </p:txBody>
      </p:sp>
      <p:sp>
        <p:nvSpPr>
          <p:cNvPr id="7" name="Freeform 7"/>
          <p:cNvSpPr/>
          <p:nvPr/>
        </p:nvSpPr>
        <p:spPr>
          <a:xfrm rot="5400000" flipH="1">
            <a:off x="0" y="0"/>
            <a:ext cx="5143500" cy="5143500"/>
          </a:xfrm>
          <a:custGeom>
            <a:avLst/>
            <a:gdLst/>
            <a:ahLst/>
            <a:cxnLst/>
            <a:rect l="l" t="t" r="r" b="b"/>
            <a:pathLst>
              <a:path w="5143500" h="5143500">
                <a:moveTo>
                  <a:pt x="5143500" y="0"/>
                </a:moveTo>
                <a:lnTo>
                  <a:pt x="0" y="0"/>
                </a:lnTo>
                <a:lnTo>
                  <a:pt x="0" y="5143500"/>
                </a:lnTo>
                <a:lnTo>
                  <a:pt x="5143500" y="5143500"/>
                </a:lnTo>
                <a:lnTo>
                  <a:pt x="514350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nvGrpSpPr>
          <p:cNvPr id="8" name="Group 8"/>
          <p:cNvGrpSpPr/>
          <p:nvPr/>
        </p:nvGrpSpPr>
        <p:grpSpPr>
          <a:xfrm>
            <a:off x="738337" y="335457"/>
            <a:ext cx="8405663" cy="9811208"/>
            <a:chOff x="0" y="0"/>
            <a:chExt cx="1817103" cy="2120949"/>
          </a:xfrm>
        </p:grpSpPr>
        <p:sp>
          <p:nvSpPr>
            <p:cNvPr id="9" name="Freeform 9"/>
            <p:cNvSpPr/>
            <p:nvPr/>
          </p:nvSpPr>
          <p:spPr>
            <a:xfrm>
              <a:off x="0" y="0"/>
              <a:ext cx="1817104" cy="2120949"/>
            </a:xfrm>
            <a:custGeom>
              <a:avLst/>
              <a:gdLst/>
              <a:ahLst/>
              <a:cxnLst/>
              <a:rect l="l" t="t" r="r" b="b"/>
              <a:pathLst>
                <a:path w="1817104" h="2120949">
                  <a:moveTo>
                    <a:pt x="1692643" y="2120949"/>
                  </a:moveTo>
                  <a:lnTo>
                    <a:pt x="124460" y="2120949"/>
                  </a:lnTo>
                  <a:cubicBezTo>
                    <a:pt x="55880" y="2120949"/>
                    <a:pt x="0" y="2065069"/>
                    <a:pt x="0" y="1996489"/>
                  </a:cubicBezTo>
                  <a:lnTo>
                    <a:pt x="0" y="124460"/>
                  </a:lnTo>
                  <a:cubicBezTo>
                    <a:pt x="0" y="55880"/>
                    <a:pt x="55880" y="0"/>
                    <a:pt x="124460" y="0"/>
                  </a:cubicBezTo>
                  <a:lnTo>
                    <a:pt x="1692644" y="0"/>
                  </a:lnTo>
                  <a:cubicBezTo>
                    <a:pt x="1761224" y="0"/>
                    <a:pt x="1817104" y="55880"/>
                    <a:pt x="1817104" y="124460"/>
                  </a:cubicBezTo>
                  <a:lnTo>
                    <a:pt x="1817104" y="1996489"/>
                  </a:lnTo>
                  <a:cubicBezTo>
                    <a:pt x="1817104" y="2065069"/>
                    <a:pt x="1761224" y="2120949"/>
                    <a:pt x="1692644" y="2120949"/>
                  </a:cubicBezTo>
                  <a:close/>
                </a:path>
              </a:pathLst>
            </a:custGeom>
            <a:solidFill>
              <a:srgbClr val="F8F4EB"/>
            </a:solidFill>
          </p:spPr>
          <p:txBody>
            <a:bodyPr/>
            <a:lstStyle/>
            <a:p>
              <a:endParaRPr lang="en-CA"/>
            </a:p>
          </p:txBody>
        </p:sp>
      </p:grpSp>
      <p:sp>
        <p:nvSpPr>
          <p:cNvPr id="10" name="TextBox 10"/>
          <p:cNvSpPr txBox="1"/>
          <p:nvPr/>
        </p:nvSpPr>
        <p:spPr>
          <a:xfrm>
            <a:off x="1028700" y="1163859"/>
            <a:ext cx="7991664" cy="7705515"/>
          </a:xfrm>
          <a:prstGeom prst="rect">
            <a:avLst/>
          </a:prstGeom>
        </p:spPr>
        <p:txBody>
          <a:bodyPr lIns="0" tIns="0" rIns="0" bIns="0" rtlCol="0" anchor="t">
            <a:spAutoFit/>
          </a:bodyPr>
          <a:lstStyle/>
          <a:p>
            <a:pPr marL="516839" lvl="1" indent="-258419" algn="l">
              <a:lnSpc>
                <a:spcPts val="3399"/>
              </a:lnSpc>
              <a:buFont typeface="Arial"/>
              <a:buChar char="•"/>
            </a:pPr>
            <a:r>
              <a:rPr lang="en-US" sz="2393" dirty="0">
                <a:solidFill>
                  <a:srgbClr val="454699"/>
                </a:solidFill>
                <a:latin typeface="Roboto"/>
                <a:ea typeface="Roboto"/>
                <a:cs typeface="Roboto"/>
                <a:sym typeface="Roboto"/>
              </a:rPr>
              <a:t>Sensors currently serve as object tags for self-driving Vehicles they act as the eyes and ears for the car. </a:t>
            </a:r>
          </a:p>
          <a:p>
            <a:pPr algn="l">
              <a:lnSpc>
                <a:spcPts val="3399"/>
              </a:lnSpc>
            </a:pPr>
            <a:endParaRPr lang="en-US" sz="2393" dirty="0">
              <a:solidFill>
                <a:srgbClr val="454699"/>
              </a:solidFill>
              <a:latin typeface="Roboto"/>
              <a:ea typeface="Roboto"/>
              <a:cs typeface="Roboto"/>
              <a:sym typeface="Roboto"/>
            </a:endParaRPr>
          </a:p>
          <a:p>
            <a:pPr marL="516839" lvl="1" indent="-258419" algn="l">
              <a:lnSpc>
                <a:spcPts val="3399"/>
              </a:lnSpc>
              <a:buFont typeface="Arial"/>
              <a:buChar char="•"/>
            </a:pPr>
            <a:r>
              <a:rPr lang="en-US" sz="2393" dirty="0">
                <a:solidFill>
                  <a:srgbClr val="454699"/>
                </a:solidFill>
                <a:latin typeface="Roboto"/>
                <a:ea typeface="Roboto"/>
                <a:cs typeface="Roboto"/>
                <a:sym typeface="Roboto"/>
              </a:rPr>
              <a:t>While sensors are very crucial to help vehicles understand their environment, it is important to understand that too much sensors have a net negative total effect as it can lead to unnecessary complexity, dispersed data points, which can lead to increased error rates for the fusion and AI algorithms to process at a particular point in time. The right balance of sensor technologies must be used.</a:t>
            </a:r>
          </a:p>
          <a:p>
            <a:pPr algn="l">
              <a:lnSpc>
                <a:spcPts val="3399"/>
              </a:lnSpc>
            </a:pPr>
            <a:endParaRPr lang="en-US" sz="2393" dirty="0">
              <a:solidFill>
                <a:srgbClr val="454699"/>
              </a:solidFill>
              <a:latin typeface="Roboto"/>
              <a:ea typeface="Roboto"/>
              <a:cs typeface="Roboto"/>
              <a:sym typeface="Roboto"/>
            </a:endParaRPr>
          </a:p>
          <a:p>
            <a:pPr marL="516839" lvl="1" indent="-258419" algn="l">
              <a:lnSpc>
                <a:spcPts val="3399"/>
              </a:lnSpc>
              <a:buFont typeface="Arial"/>
              <a:buChar char="•"/>
            </a:pPr>
            <a:r>
              <a:rPr lang="en-US" sz="2393" dirty="0">
                <a:solidFill>
                  <a:srgbClr val="454699"/>
                </a:solidFill>
                <a:latin typeface="Roboto"/>
                <a:ea typeface="Roboto"/>
                <a:cs typeface="Roboto"/>
                <a:sym typeface="Roboto"/>
              </a:rPr>
              <a:t>Sensors can be classified into two major types based on functional principles which are: </a:t>
            </a:r>
          </a:p>
          <a:p>
            <a:pPr algn="l">
              <a:lnSpc>
                <a:spcPts val="3399"/>
              </a:lnSpc>
            </a:pPr>
            <a:r>
              <a:rPr lang="en-US" sz="2393" b="1" dirty="0">
                <a:solidFill>
                  <a:srgbClr val="00BF63"/>
                </a:solidFill>
                <a:latin typeface="Roboto Bold"/>
                <a:ea typeface="Roboto Bold"/>
                <a:cs typeface="Roboto Bold"/>
                <a:sym typeface="Roboto Bold"/>
              </a:rPr>
              <a:t>        -Proprioceptive and Exteroceptive sensors</a:t>
            </a:r>
          </a:p>
          <a:p>
            <a:pPr algn="l">
              <a:lnSpc>
                <a:spcPts val="3399"/>
              </a:lnSpc>
            </a:pPr>
            <a:r>
              <a:rPr lang="en-US" sz="2393" dirty="0">
                <a:solidFill>
                  <a:srgbClr val="454699"/>
                </a:solidFill>
                <a:latin typeface="Roboto"/>
                <a:ea typeface="Roboto"/>
                <a:cs typeface="Roboto"/>
                <a:sym typeface="Roboto"/>
              </a:rPr>
              <a:t>        </a:t>
            </a:r>
            <a:r>
              <a:rPr lang="en-US" sz="2393" b="1" dirty="0">
                <a:solidFill>
                  <a:srgbClr val="004AAD"/>
                </a:solidFill>
                <a:latin typeface="Roboto Bold"/>
                <a:ea typeface="Roboto Bold"/>
                <a:cs typeface="Roboto Bold"/>
                <a:sym typeface="Roboto Bold"/>
              </a:rPr>
              <a:t>-Passive and Active sensors</a:t>
            </a:r>
          </a:p>
          <a:p>
            <a:pPr marL="0" lvl="0" indent="0" algn="l">
              <a:lnSpc>
                <a:spcPts val="3399"/>
              </a:lnSpc>
            </a:pPr>
            <a:endParaRPr lang="en-US" sz="2393" b="1" dirty="0">
              <a:solidFill>
                <a:srgbClr val="004AAD"/>
              </a:solidFill>
              <a:latin typeface="Roboto Bold"/>
              <a:ea typeface="Roboto Bold"/>
              <a:cs typeface="Roboto Bold"/>
              <a:sym typeface="Roboto Bold"/>
            </a:endParaRPr>
          </a:p>
          <a:p>
            <a:pPr marL="0" lvl="0" indent="0" algn="l">
              <a:lnSpc>
                <a:spcPts val="3399"/>
              </a:lnSpc>
            </a:pPr>
            <a:endParaRPr lang="en-US" sz="2393" b="1" dirty="0">
              <a:solidFill>
                <a:srgbClr val="004AAD"/>
              </a:solidFill>
              <a:latin typeface="Roboto Bold"/>
              <a:ea typeface="Roboto Bold"/>
              <a:cs typeface="Roboto Bold"/>
              <a:sym typeface="Roboto Bold"/>
            </a:endParaRPr>
          </a:p>
        </p:txBody>
      </p:sp>
      <p:sp>
        <p:nvSpPr>
          <p:cNvPr id="11" name="Freeform 11"/>
          <p:cNvSpPr/>
          <p:nvPr/>
        </p:nvSpPr>
        <p:spPr>
          <a:xfrm rot="-10800000">
            <a:off x="11227296" y="9508565"/>
            <a:ext cx="1556869" cy="778435"/>
          </a:xfrm>
          <a:custGeom>
            <a:avLst/>
            <a:gdLst/>
            <a:ahLst/>
            <a:cxnLst/>
            <a:rect l="l" t="t" r="r" b="b"/>
            <a:pathLst>
              <a:path w="1556869" h="778435">
                <a:moveTo>
                  <a:pt x="0" y="0"/>
                </a:moveTo>
                <a:lnTo>
                  <a:pt x="1556869" y="0"/>
                </a:lnTo>
                <a:lnTo>
                  <a:pt x="1556869" y="778435"/>
                </a:lnTo>
                <a:lnTo>
                  <a:pt x="0" y="7784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AutoShape 2"/>
          <p:cNvSpPr/>
          <p:nvPr/>
        </p:nvSpPr>
        <p:spPr>
          <a:xfrm>
            <a:off x="0" y="5143500"/>
            <a:ext cx="18288000" cy="5143500"/>
          </a:xfrm>
          <a:prstGeom prst="rect">
            <a:avLst/>
          </a:prstGeom>
          <a:solidFill>
            <a:srgbClr val="FFBB56"/>
          </a:solidFill>
        </p:spPr>
        <p:txBody>
          <a:bodyPr/>
          <a:lstStyle/>
          <a:p>
            <a:endParaRPr lang="en-CA"/>
          </a:p>
        </p:txBody>
      </p:sp>
      <p:sp>
        <p:nvSpPr>
          <p:cNvPr id="3" name="Freeform 3"/>
          <p:cNvSpPr/>
          <p:nvPr/>
        </p:nvSpPr>
        <p:spPr>
          <a:xfrm rot="-5400000">
            <a:off x="16619254" y="0"/>
            <a:ext cx="1668746" cy="1668746"/>
          </a:xfrm>
          <a:custGeom>
            <a:avLst/>
            <a:gdLst/>
            <a:ahLst/>
            <a:cxnLst/>
            <a:rect l="l" t="t" r="r" b="b"/>
            <a:pathLst>
              <a:path w="1668746" h="1668746">
                <a:moveTo>
                  <a:pt x="0" y="0"/>
                </a:moveTo>
                <a:lnTo>
                  <a:pt x="1668746" y="0"/>
                </a:lnTo>
                <a:lnTo>
                  <a:pt x="1668746" y="1668746"/>
                </a:lnTo>
                <a:lnTo>
                  <a:pt x="0" y="1668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4" name="Group 4"/>
          <p:cNvGrpSpPr/>
          <p:nvPr/>
        </p:nvGrpSpPr>
        <p:grpSpPr>
          <a:xfrm>
            <a:off x="10557953" y="1325746"/>
            <a:ext cx="6499860" cy="3111783"/>
            <a:chOff x="0" y="0"/>
            <a:chExt cx="8666480" cy="4149044"/>
          </a:xfrm>
        </p:grpSpPr>
        <p:sp>
          <p:nvSpPr>
            <p:cNvPr id="5" name="TextBox 5"/>
            <p:cNvSpPr txBox="1"/>
            <p:nvPr/>
          </p:nvSpPr>
          <p:spPr>
            <a:xfrm>
              <a:off x="0" y="-19050"/>
              <a:ext cx="8666480" cy="721912"/>
            </a:xfrm>
            <a:prstGeom prst="rect">
              <a:avLst/>
            </a:prstGeom>
          </p:spPr>
          <p:txBody>
            <a:bodyPr lIns="0" tIns="0" rIns="0" bIns="0" rtlCol="0" anchor="t">
              <a:spAutoFit/>
            </a:bodyPr>
            <a:lstStyle/>
            <a:p>
              <a:pPr marL="0" lvl="0" indent="0" algn="l">
                <a:lnSpc>
                  <a:spcPts val="4410"/>
                </a:lnSpc>
                <a:spcBef>
                  <a:spcPct val="0"/>
                </a:spcBef>
              </a:pPr>
              <a:r>
                <a:rPr lang="en-US" sz="3500" b="1">
                  <a:solidFill>
                    <a:srgbClr val="454699"/>
                  </a:solidFill>
                  <a:latin typeface="League Spartan"/>
                  <a:ea typeface="League Spartan"/>
                  <a:cs typeface="League Spartan"/>
                  <a:sym typeface="League Spartan"/>
                </a:rPr>
                <a:t>EXT</a:t>
              </a:r>
              <a:r>
                <a:rPr lang="en-US" sz="3500" b="1" u="none">
                  <a:solidFill>
                    <a:srgbClr val="454699"/>
                  </a:solidFill>
                  <a:latin typeface="League Spartan"/>
                  <a:ea typeface="League Spartan"/>
                  <a:cs typeface="League Spartan"/>
                  <a:sym typeface="League Spartan"/>
                </a:rPr>
                <a:t>EROCEPTIVE SENSORS</a:t>
              </a:r>
            </a:p>
          </p:txBody>
        </p:sp>
        <p:sp>
          <p:nvSpPr>
            <p:cNvPr id="6" name="TextBox 6"/>
            <p:cNvSpPr txBox="1"/>
            <p:nvPr/>
          </p:nvSpPr>
          <p:spPr>
            <a:xfrm>
              <a:off x="0" y="900977"/>
              <a:ext cx="8666480" cy="3248067"/>
            </a:xfrm>
            <a:prstGeom prst="rect">
              <a:avLst/>
            </a:prstGeom>
          </p:spPr>
          <p:txBody>
            <a:bodyPr lIns="0" tIns="0" rIns="0" bIns="0" rtlCol="0" anchor="t">
              <a:spAutoFit/>
            </a:bodyPr>
            <a:lstStyle/>
            <a:p>
              <a:pPr marL="0" lvl="0" indent="0" algn="l">
                <a:lnSpc>
                  <a:spcPts val="3266"/>
                </a:lnSpc>
                <a:spcBef>
                  <a:spcPct val="0"/>
                </a:spcBef>
              </a:pPr>
              <a:r>
                <a:rPr lang="en-US" sz="2300">
                  <a:solidFill>
                    <a:srgbClr val="454699"/>
                  </a:solidFill>
                  <a:latin typeface="Roboto"/>
                  <a:ea typeface="Roboto"/>
                  <a:cs typeface="Roboto"/>
                  <a:sym typeface="Roboto"/>
                </a:rPr>
                <a:t>These </a:t>
              </a:r>
              <a:r>
                <a:rPr lang="en-US" sz="2300" u="none">
                  <a:solidFill>
                    <a:srgbClr val="454699"/>
                  </a:solidFill>
                  <a:latin typeface="Roboto"/>
                  <a:ea typeface="Roboto"/>
                  <a:cs typeface="Roboto"/>
                  <a:sym typeface="Roboto"/>
                </a:rPr>
                <a:t>acquire information from the AV’s external environment such as distance measurement, sound amplitude, light intensity. Examples include Cameras, Ultrasonic, GNSS transmitters and receivers, Radio Detection and Range (RADAR), Light Detection and Range (LiDAR)</a:t>
              </a:r>
            </a:p>
          </p:txBody>
        </p:sp>
      </p:grpSp>
      <p:grpSp>
        <p:nvGrpSpPr>
          <p:cNvPr id="7" name="Group 7"/>
          <p:cNvGrpSpPr/>
          <p:nvPr/>
        </p:nvGrpSpPr>
        <p:grpSpPr>
          <a:xfrm>
            <a:off x="1028700" y="1325746"/>
            <a:ext cx="6458961" cy="2702208"/>
            <a:chOff x="0" y="0"/>
            <a:chExt cx="8611948" cy="3602944"/>
          </a:xfrm>
        </p:grpSpPr>
        <p:sp>
          <p:nvSpPr>
            <p:cNvPr id="8" name="TextBox 8"/>
            <p:cNvSpPr txBox="1"/>
            <p:nvPr/>
          </p:nvSpPr>
          <p:spPr>
            <a:xfrm>
              <a:off x="0" y="-19050"/>
              <a:ext cx="8611948" cy="721912"/>
            </a:xfrm>
            <a:prstGeom prst="rect">
              <a:avLst/>
            </a:prstGeom>
          </p:spPr>
          <p:txBody>
            <a:bodyPr lIns="0" tIns="0" rIns="0" bIns="0" rtlCol="0" anchor="t">
              <a:spAutoFit/>
            </a:bodyPr>
            <a:lstStyle/>
            <a:p>
              <a:pPr marL="0" lvl="0" indent="0" algn="l">
                <a:lnSpc>
                  <a:spcPts val="4410"/>
                </a:lnSpc>
                <a:spcBef>
                  <a:spcPct val="0"/>
                </a:spcBef>
              </a:pPr>
              <a:r>
                <a:rPr lang="en-US" sz="3500" b="1">
                  <a:solidFill>
                    <a:srgbClr val="454699"/>
                  </a:solidFill>
                  <a:latin typeface="League Spartan"/>
                  <a:ea typeface="League Spartan"/>
                  <a:cs typeface="League Spartan"/>
                  <a:sym typeface="League Spartan"/>
                </a:rPr>
                <a:t>PROP</a:t>
              </a:r>
              <a:r>
                <a:rPr lang="en-US" sz="3500" b="1" u="none">
                  <a:solidFill>
                    <a:srgbClr val="454699"/>
                  </a:solidFill>
                  <a:latin typeface="League Spartan"/>
                  <a:ea typeface="League Spartan"/>
                  <a:cs typeface="League Spartan"/>
                  <a:sym typeface="League Spartan"/>
                </a:rPr>
                <a:t>RIOCEPTIVE SENSORS</a:t>
              </a:r>
            </a:p>
          </p:txBody>
        </p:sp>
        <p:sp>
          <p:nvSpPr>
            <p:cNvPr id="9" name="TextBox 9"/>
            <p:cNvSpPr txBox="1"/>
            <p:nvPr/>
          </p:nvSpPr>
          <p:spPr>
            <a:xfrm>
              <a:off x="0" y="900977"/>
              <a:ext cx="8611948" cy="2701967"/>
            </a:xfrm>
            <a:prstGeom prst="rect">
              <a:avLst/>
            </a:prstGeom>
          </p:spPr>
          <p:txBody>
            <a:bodyPr lIns="0" tIns="0" rIns="0" bIns="0" rtlCol="0" anchor="t">
              <a:spAutoFit/>
            </a:bodyPr>
            <a:lstStyle/>
            <a:p>
              <a:pPr marL="0" lvl="0" indent="0" algn="l">
                <a:lnSpc>
                  <a:spcPts val="3266"/>
                </a:lnSpc>
                <a:spcBef>
                  <a:spcPct val="0"/>
                </a:spcBef>
              </a:pPr>
              <a:r>
                <a:rPr lang="en-US" sz="2300">
                  <a:solidFill>
                    <a:srgbClr val="454699"/>
                  </a:solidFill>
                  <a:latin typeface="Roboto"/>
                  <a:ea typeface="Roboto"/>
                  <a:cs typeface="Roboto"/>
                  <a:sym typeface="Roboto"/>
                </a:rPr>
                <a:t>These are electronic devices t</a:t>
              </a:r>
              <a:r>
                <a:rPr lang="en-US" sz="2300" u="none">
                  <a:solidFill>
                    <a:srgbClr val="454699"/>
                  </a:solidFill>
                  <a:latin typeface="Roboto"/>
                  <a:ea typeface="Roboto"/>
                  <a:cs typeface="Roboto"/>
                  <a:sym typeface="Roboto"/>
                </a:rPr>
                <a:t>hat measure data and values internal to the AV system. E.g. motor speed, wheel load, battery voltage, Inertial Measurement Units (accelerometer, gyroscope, magnetometer)</a:t>
              </a:r>
            </a:p>
          </p:txBody>
        </p:sp>
      </p:grpSp>
      <p:grpSp>
        <p:nvGrpSpPr>
          <p:cNvPr id="10" name="Group 10"/>
          <p:cNvGrpSpPr/>
          <p:nvPr/>
        </p:nvGrpSpPr>
        <p:grpSpPr>
          <a:xfrm>
            <a:off x="10557953" y="5790018"/>
            <a:ext cx="6499860" cy="3930933"/>
            <a:chOff x="0" y="0"/>
            <a:chExt cx="8666480" cy="5241244"/>
          </a:xfrm>
        </p:grpSpPr>
        <p:sp>
          <p:nvSpPr>
            <p:cNvPr id="11" name="TextBox 11"/>
            <p:cNvSpPr txBox="1"/>
            <p:nvPr/>
          </p:nvSpPr>
          <p:spPr>
            <a:xfrm>
              <a:off x="0" y="-19050"/>
              <a:ext cx="8666480" cy="721912"/>
            </a:xfrm>
            <a:prstGeom prst="rect">
              <a:avLst/>
            </a:prstGeom>
          </p:spPr>
          <p:txBody>
            <a:bodyPr lIns="0" tIns="0" rIns="0" bIns="0" rtlCol="0" anchor="t">
              <a:spAutoFit/>
            </a:bodyPr>
            <a:lstStyle/>
            <a:p>
              <a:pPr marL="0" lvl="0" indent="0" algn="l">
                <a:lnSpc>
                  <a:spcPts val="4410"/>
                </a:lnSpc>
                <a:spcBef>
                  <a:spcPct val="0"/>
                </a:spcBef>
              </a:pPr>
              <a:r>
                <a:rPr lang="en-US" sz="3500" b="1">
                  <a:solidFill>
                    <a:srgbClr val="454699"/>
                  </a:solidFill>
                  <a:latin typeface="League Spartan"/>
                  <a:ea typeface="League Spartan"/>
                  <a:cs typeface="League Spartan"/>
                  <a:sym typeface="League Spartan"/>
                </a:rPr>
                <a:t>AC</a:t>
              </a:r>
              <a:r>
                <a:rPr lang="en-US" sz="3500" b="1" u="none">
                  <a:solidFill>
                    <a:srgbClr val="454699"/>
                  </a:solidFill>
                  <a:latin typeface="League Spartan"/>
                  <a:ea typeface="League Spartan"/>
                  <a:cs typeface="League Spartan"/>
                  <a:sym typeface="League Spartan"/>
                </a:rPr>
                <a:t>TIVE SENSORS</a:t>
              </a:r>
            </a:p>
          </p:txBody>
        </p:sp>
        <p:sp>
          <p:nvSpPr>
            <p:cNvPr id="12" name="TextBox 12"/>
            <p:cNvSpPr txBox="1"/>
            <p:nvPr/>
          </p:nvSpPr>
          <p:spPr>
            <a:xfrm>
              <a:off x="0" y="900977"/>
              <a:ext cx="8666480" cy="4340267"/>
            </a:xfrm>
            <a:prstGeom prst="rect">
              <a:avLst/>
            </a:prstGeom>
          </p:spPr>
          <p:txBody>
            <a:bodyPr lIns="0" tIns="0" rIns="0" bIns="0" rtlCol="0" anchor="t">
              <a:spAutoFit/>
            </a:bodyPr>
            <a:lstStyle/>
            <a:p>
              <a:pPr marL="0" lvl="0" indent="0" algn="l">
                <a:lnSpc>
                  <a:spcPts val="3266"/>
                </a:lnSpc>
                <a:spcBef>
                  <a:spcPct val="0"/>
                </a:spcBef>
              </a:pPr>
              <a:r>
                <a:rPr lang="en-US" sz="2300">
                  <a:solidFill>
                    <a:srgbClr val="454699"/>
                  </a:solidFill>
                  <a:latin typeface="Roboto"/>
                  <a:ea typeface="Roboto"/>
                  <a:cs typeface="Roboto"/>
                  <a:sym typeface="Roboto"/>
                </a:rPr>
                <a:t>Ac</a:t>
              </a:r>
              <a:r>
                <a:rPr lang="en-US" sz="2300" u="none">
                  <a:solidFill>
                    <a:srgbClr val="454699"/>
                  </a:solidFill>
                  <a:latin typeface="Roboto"/>
                  <a:ea typeface="Roboto"/>
                  <a:cs typeface="Roboto"/>
                  <a:sym typeface="Roboto"/>
                </a:rPr>
                <a:t>tive Sensors emit energy into the environment and measure the reaction. They typically achieve superior performance because they manage a more controlled interaction with the environment, but the risk is that outbound energy may affect the very characteristic that the sensor is trying to measure. Active sensors include Ultrasonic, Radar, Lidar</a:t>
              </a:r>
            </a:p>
          </p:txBody>
        </p:sp>
      </p:grpSp>
      <p:grpSp>
        <p:nvGrpSpPr>
          <p:cNvPr id="13" name="Group 13"/>
          <p:cNvGrpSpPr/>
          <p:nvPr/>
        </p:nvGrpSpPr>
        <p:grpSpPr>
          <a:xfrm>
            <a:off x="1028700" y="5790018"/>
            <a:ext cx="4746024" cy="2702208"/>
            <a:chOff x="0" y="0"/>
            <a:chExt cx="6328032" cy="3602944"/>
          </a:xfrm>
        </p:grpSpPr>
        <p:sp>
          <p:nvSpPr>
            <p:cNvPr id="14" name="TextBox 14"/>
            <p:cNvSpPr txBox="1"/>
            <p:nvPr/>
          </p:nvSpPr>
          <p:spPr>
            <a:xfrm>
              <a:off x="0" y="-19050"/>
              <a:ext cx="6328032" cy="721912"/>
            </a:xfrm>
            <a:prstGeom prst="rect">
              <a:avLst/>
            </a:prstGeom>
          </p:spPr>
          <p:txBody>
            <a:bodyPr lIns="0" tIns="0" rIns="0" bIns="0" rtlCol="0" anchor="t">
              <a:spAutoFit/>
            </a:bodyPr>
            <a:lstStyle/>
            <a:p>
              <a:pPr marL="0" lvl="0" indent="0" algn="l">
                <a:lnSpc>
                  <a:spcPts val="4410"/>
                </a:lnSpc>
                <a:spcBef>
                  <a:spcPct val="0"/>
                </a:spcBef>
              </a:pPr>
              <a:r>
                <a:rPr lang="en-US" sz="3500" b="1">
                  <a:solidFill>
                    <a:srgbClr val="454699"/>
                  </a:solidFill>
                  <a:latin typeface="League Spartan"/>
                  <a:ea typeface="League Spartan"/>
                  <a:cs typeface="League Spartan"/>
                  <a:sym typeface="League Spartan"/>
                </a:rPr>
                <a:t>PASS</a:t>
              </a:r>
              <a:r>
                <a:rPr lang="en-US" sz="3500" b="1" u="none">
                  <a:solidFill>
                    <a:srgbClr val="454699"/>
                  </a:solidFill>
                  <a:latin typeface="League Spartan"/>
                  <a:ea typeface="League Spartan"/>
                  <a:cs typeface="League Spartan"/>
                  <a:sym typeface="League Spartan"/>
                </a:rPr>
                <a:t>IVE SENSORS</a:t>
              </a:r>
            </a:p>
          </p:txBody>
        </p:sp>
        <p:sp>
          <p:nvSpPr>
            <p:cNvPr id="15" name="TextBox 15"/>
            <p:cNvSpPr txBox="1"/>
            <p:nvPr/>
          </p:nvSpPr>
          <p:spPr>
            <a:xfrm>
              <a:off x="0" y="900977"/>
              <a:ext cx="6328032" cy="2701967"/>
            </a:xfrm>
            <a:prstGeom prst="rect">
              <a:avLst/>
            </a:prstGeom>
          </p:spPr>
          <p:txBody>
            <a:bodyPr lIns="0" tIns="0" rIns="0" bIns="0" rtlCol="0" anchor="t">
              <a:spAutoFit/>
            </a:bodyPr>
            <a:lstStyle/>
            <a:p>
              <a:pPr marL="0" lvl="0" indent="0" algn="l">
                <a:lnSpc>
                  <a:spcPts val="3266"/>
                </a:lnSpc>
                <a:spcBef>
                  <a:spcPct val="0"/>
                </a:spcBef>
              </a:pPr>
              <a:r>
                <a:rPr lang="en-US" sz="2300">
                  <a:solidFill>
                    <a:srgbClr val="454699"/>
                  </a:solidFill>
                  <a:latin typeface="Roboto"/>
                  <a:ea typeface="Roboto"/>
                  <a:cs typeface="Roboto"/>
                  <a:sym typeface="Roboto"/>
                </a:rPr>
                <a:t>They receive</a:t>
              </a:r>
              <a:r>
                <a:rPr lang="en-US" sz="2300" u="none">
                  <a:solidFill>
                    <a:srgbClr val="454699"/>
                  </a:solidFill>
                  <a:latin typeface="Roboto"/>
                  <a:ea typeface="Roboto"/>
                  <a:cs typeface="Roboto"/>
                  <a:sym typeface="Roboto"/>
                </a:rPr>
                <a:t> and measure environmental energy entering the sensor e.g. microphones, temperature probes, Cameras, GNSS Receivers</a:t>
              </a:r>
            </a:p>
          </p:txBody>
        </p:sp>
      </p:grpSp>
      <p:sp>
        <p:nvSpPr>
          <p:cNvPr id="16" name="Freeform 16"/>
          <p:cNvSpPr/>
          <p:nvPr/>
        </p:nvSpPr>
        <p:spPr>
          <a:xfrm>
            <a:off x="16503325" y="4765512"/>
            <a:ext cx="755975" cy="755975"/>
          </a:xfrm>
          <a:custGeom>
            <a:avLst/>
            <a:gdLst/>
            <a:ahLst/>
            <a:cxnLst/>
            <a:rect l="l" t="t" r="r" b="b"/>
            <a:pathLst>
              <a:path w="755975" h="755975">
                <a:moveTo>
                  <a:pt x="0" y="0"/>
                </a:moveTo>
                <a:lnTo>
                  <a:pt x="755975" y="0"/>
                </a:lnTo>
                <a:lnTo>
                  <a:pt x="755975" y="755976"/>
                </a:lnTo>
                <a:lnTo>
                  <a:pt x="0" y="7559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7" name="TextBox 17"/>
          <p:cNvSpPr txBox="1"/>
          <p:nvPr/>
        </p:nvSpPr>
        <p:spPr>
          <a:xfrm>
            <a:off x="5519577" y="221608"/>
            <a:ext cx="5636865" cy="399288"/>
          </a:xfrm>
          <a:prstGeom prst="rect">
            <a:avLst/>
          </a:prstGeom>
        </p:spPr>
        <p:txBody>
          <a:bodyPr lIns="0" tIns="0" rIns="0" bIns="0" rtlCol="0" anchor="t">
            <a:spAutoFit/>
          </a:bodyPr>
          <a:lstStyle/>
          <a:p>
            <a:pPr algn="ctr">
              <a:lnSpc>
                <a:spcPts val="3275"/>
              </a:lnSpc>
              <a:spcBef>
                <a:spcPct val="0"/>
              </a:spcBef>
            </a:pPr>
            <a:r>
              <a:rPr lang="en-US" sz="2599" b="1" u="sng">
                <a:solidFill>
                  <a:srgbClr val="454699"/>
                </a:solidFill>
                <a:latin typeface="League Spartan"/>
                <a:ea typeface="League Spartan"/>
                <a:cs typeface="League Spartan"/>
                <a:sym typeface="League Spartan"/>
              </a:rPr>
              <a:t>FUNCTIONAL TYPEs OF SENSORS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15361816" y="8306739"/>
            <a:ext cx="1897484" cy="1061551"/>
            <a:chOff x="0" y="0"/>
            <a:chExt cx="726425" cy="406400"/>
          </a:xfrm>
        </p:grpSpPr>
        <p:sp>
          <p:nvSpPr>
            <p:cNvPr id="3" name="Freeform 3"/>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F8F4EB">
                <a:alpha val="7843"/>
              </a:srgbClr>
            </a:solidFill>
          </p:spPr>
          <p:txBody>
            <a:bodyPr/>
            <a:lstStyle/>
            <a:p>
              <a:endParaRPr lang="en-CA"/>
            </a:p>
          </p:txBody>
        </p:sp>
      </p:grpSp>
      <p:sp>
        <p:nvSpPr>
          <p:cNvPr id="4" name="Freeform 4"/>
          <p:cNvSpPr/>
          <p:nvPr/>
        </p:nvSpPr>
        <p:spPr>
          <a:xfrm>
            <a:off x="16358183" y="8449615"/>
            <a:ext cx="775800" cy="775800"/>
          </a:xfrm>
          <a:custGeom>
            <a:avLst/>
            <a:gdLst/>
            <a:ahLst/>
            <a:cxnLst/>
            <a:rect l="l" t="t" r="r" b="b"/>
            <a:pathLst>
              <a:path w="775800" h="775800">
                <a:moveTo>
                  <a:pt x="0" y="0"/>
                </a:moveTo>
                <a:lnTo>
                  <a:pt x="775800" y="0"/>
                </a:lnTo>
                <a:lnTo>
                  <a:pt x="775800" y="775800"/>
                </a:lnTo>
                <a:lnTo>
                  <a:pt x="0" y="775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5" name="Freeform 5"/>
          <p:cNvSpPr/>
          <p:nvPr/>
        </p:nvSpPr>
        <p:spPr>
          <a:xfrm>
            <a:off x="16473625" y="8565057"/>
            <a:ext cx="544916" cy="544916"/>
          </a:xfrm>
          <a:custGeom>
            <a:avLst/>
            <a:gdLst/>
            <a:ahLst/>
            <a:cxnLst/>
            <a:rect l="l" t="t" r="r" b="b"/>
            <a:pathLst>
              <a:path w="544916" h="544916">
                <a:moveTo>
                  <a:pt x="0" y="0"/>
                </a:moveTo>
                <a:lnTo>
                  <a:pt x="544916" y="0"/>
                </a:lnTo>
                <a:lnTo>
                  <a:pt x="544916" y="544916"/>
                </a:lnTo>
                <a:lnTo>
                  <a:pt x="0" y="5449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6" name="TextBox 6"/>
          <p:cNvSpPr txBox="1"/>
          <p:nvPr/>
        </p:nvSpPr>
        <p:spPr>
          <a:xfrm>
            <a:off x="9344655" y="968596"/>
            <a:ext cx="8943345" cy="3609213"/>
          </a:xfrm>
          <a:prstGeom prst="rect">
            <a:avLst/>
          </a:prstGeom>
        </p:spPr>
        <p:txBody>
          <a:bodyPr lIns="0" tIns="0" rIns="0" bIns="0" rtlCol="0" anchor="t">
            <a:spAutoFit/>
          </a:bodyPr>
          <a:lstStyle/>
          <a:p>
            <a:pPr marL="0" lvl="0" indent="0" algn="r">
              <a:lnSpc>
                <a:spcPts val="9576"/>
              </a:lnSpc>
              <a:spcBef>
                <a:spcPct val="0"/>
              </a:spcBef>
            </a:pPr>
            <a:r>
              <a:rPr lang="en-US" sz="7600" b="1">
                <a:solidFill>
                  <a:srgbClr val="F8F4EB"/>
                </a:solidFill>
                <a:latin typeface="League Spartan"/>
                <a:ea typeface="League Spartan"/>
                <a:cs typeface="League Spartan"/>
                <a:sym typeface="League Spartan"/>
              </a:rPr>
              <a:t>UNDERSTANDING SELECT SENSOR FUNCTIONS</a:t>
            </a:r>
          </a:p>
        </p:txBody>
      </p:sp>
      <p:sp>
        <p:nvSpPr>
          <p:cNvPr id="7" name="Freeform 7"/>
          <p:cNvSpPr/>
          <p:nvPr/>
        </p:nvSpPr>
        <p:spPr>
          <a:xfrm rot="5400000" flipH="1">
            <a:off x="0" y="0"/>
            <a:ext cx="5143500" cy="5143500"/>
          </a:xfrm>
          <a:custGeom>
            <a:avLst/>
            <a:gdLst/>
            <a:ahLst/>
            <a:cxnLst/>
            <a:rect l="l" t="t" r="r" b="b"/>
            <a:pathLst>
              <a:path w="5143500" h="5143500">
                <a:moveTo>
                  <a:pt x="5143500" y="0"/>
                </a:moveTo>
                <a:lnTo>
                  <a:pt x="0" y="0"/>
                </a:lnTo>
                <a:lnTo>
                  <a:pt x="0" y="5143500"/>
                </a:lnTo>
                <a:lnTo>
                  <a:pt x="5143500" y="5143500"/>
                </a:lnTo>
                <a:lnTo>
                  <a:pt x="514350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nvGrpSpPr>
          <p:cNvPr id="8" name="Group 8"/>
          <p:cNvGrpSpPr/>
          <p:nvPr/>
        </p:nvGrpSpPr>
        <p:grpSpPr>
          <a:xfrm>
            <a:off x="738337" y="335457"/>
            <a:ext cx="8405663" cy="9811208"/>
            <a:chOff x="0" y="0"/>
            <a:chExt cx="1817103" cy="2120949"/>
          </a:xfrm>
        </p:grpSpPr>
        <p:sp>
          <p:nvSpPr>
            <p:cNvPr id="9" name="Freeform 9"/>
            <p:cNvSpPr/>
            <p:nvPr/>
          </p:nvSpPr>
          <p:spPr>
            <a:xfrm>
              <a:off x="0" y="0"/>
              <a:ext cx="1817104" cy="2120949"/>
            </a:xfrm>
            <a:custGeom>
              <a:avLst/>
              <a:gdLst/>
              <a:ahLst/>
              <a:cxnLst/>
              <a:rect l="l" t="t" r="r" b="b"/>
              <a:pathLst>
                <a:path w="1817104" h="2120949">
                  <a:moveTo>
                    <a:pt x="1692643" y="2120949"/>
                  </a:moveTo>
                  <a:lnTo>
                    <a:pt x="124460" y="2120949"/>
                  </a:lnTo>
                  <a:cubicBezTo>
                    <a:pt x="55880" y="2120949"/>
                    <a:pt x="0" y="2065069"/>
                    <a:pt x="0" y="1996489"/>
                  </a:cubicBezTo>
                  <a:lnTo>
                    <a:pt x="0" y="124460"/>
                  </a:lnTo>
                  <a:cubicBezTo>
                    <a:pt x="0" y="55880"/>
                    <a:pt x="55880" y="0"/>
                    <a:pt x="124460" y="0"/>
                  </a:cubicBezTo>
                  <a:lnTo>
                    <a:pt x="1692644" y="0"/>
                  </a:lnTo>
                  <a:cubicBezTo>
                    <a:pt x="1761224" y="0"/>
                    <a:pt x="1817104" y="55880"/>
                    <a:pt x="1817104" y="124460"/>
                  </a:cubicBezTo>
                  <a:lnTo>
                    <a:pt x="1817104" y="1996489"/>
                  </a:lnTo>
                  <a:cubicBezTo>
                    <a:pt x="1817104" y="2065069"/>
                    <a:pt x="1761224" y="2120949"/>
                    <a:pt x="1692644" y="2120949"/>
                  </a:cubicBezTo>
                  <a:close/>
                </a:path>
              </a:pathLst>
            </a:custGeom>
            <a:solidFill>
              <a:srgbClr val="F8F4EB"/>
            </a:solidFill>
          </p:spPr>
          <p:txBody>
            <a:bodyPr/>
            <a:lstStyle/>
            <a:p>
              <a:endParaRPr lang="en-CA"/>
            </a:p>
          </p:txBody>
        </p:sp>
      </p:grpSp>
      <p:sp>
        <p:nvSpPr>
          <p:cNvPr id="10" name="TextBox 10"/>
          <p:cNvSpPr txBox="1"/>
          <p:nvPr/>
        </p:nvSpPr>
        <p:spPr>
          <a:xfrm>
            <a:off x="945337" y="825266"/>
            <a:ext cx="7991664" cy="9647472"/>
          </a:xfrm>
          <a:prstGeom prst="rect">
            <a:avLst/>
          </a:prstGeom>
        </p:spPr>
        <p:txBody>
          <a:bodyPr lIns="0" tIns="0" rIns="0" bIns="0" rtlCol="0" anchor="t">
            <a:spAutoFit/>
          </a:bodyPr>
          <a:lstStyle/>
          <a:p>
            <a:pPr marL="452070" lvl="1" indent="-226035" algn="l">
              <a:lnSpc>
                <a:spcPts val="2973"/>
              </a:lnSpc>
              <a:buFont typeface="Arial"/>
              <a:buChar char="•"/>
            </a:pPr>
            <a:r>
              <a:rPr lang="en-US" sz="2093" b="1">
                <a:solidFill>
                  <a:srgbClr val="FF3131"/>
                </a:solidFill>
                <a:latin typeface="Roboto Bold"/>
                <a:ea typeface="Roboto Bold"/>
                <a:cs typeface="Roboto Bold"/>
                <a:sym typeface="Roboto Bold"/>
              </a:rPr>
              <a:t>Cameras</a:t>
            </a:r>
            <a:r>
              <a:rPr lang="en-US" sz="2093">
                <a:solidFill>
                  <a:srgbClr val="454699"/>
                </a:solidFill>
                <a:latin typeface="Roboto"/>
                <a:ea typeface="Roboto"/>
                <a:cs typeface="Roboto"/>
                <a:sym typeface="Roboto"/>
              </a:rPr>
              <a:t>: . It is a critical and popular component of autonomous driving because they are relatively inexpensive and have high-resolution capabilities. It works by detecting light emitted from the surroundings on a photosensitive surface. </a:t>
            </a:r>
            <a:r>
              <a:rPr lang="en-US" sz="2093" b="1">
                <a:solidFill>
                  <a:srgbClr val="454699"/>
                </a:solidFill>
                <a:latin typeface="Roboto Bold"/>
                <a:ea typeface="Roboto Bold"/>
                <a:cs typeface="Roboto Bold"/>
                <a:sym typeface="Roboto Bold"/>
              </a:rPr>
              <a:t>Limitations of cameras</a:t>
            </a:r>
            <a:r>
              <a:rPr lang="en-US" sz="2093">
                <a:solidFill>
                  <a:srgbClr val="454699"/>
                </a:solidFill>
                <a:latin typeface="Roboto"/>
                <a:ea typeface="Roboto"/>
                <a:cs typeface="Roboto"/>
                <a:sym typeface="Roboto"/>
              </a:rPr>
              <a:t> include difficulty identifying objects at long distances, bad weather conditions and low light conditions. There are 6 or more different types of camera implementations and selection depends on the function and use-case. They include:  RGB camera, Depth Camera, Semantic Segmentation Camera, Instance Segmentation Camera, Dynamic Vision Sensor Camera, Optical Flow Camera etc.</a:t>
            </a:r>
          </a:p>
          <a:p>
            <a:pPr algn="l">
              <a:lnSpc>
                <a:spcPts val="2973"/>
              </a:lnSpc>
            </a:pPr>
            <a:endParaRPr lang="en-US" sz="2093">
              <a:solidFill>
                <a:srgbClr val="454699"/>
              </a:solidFill>
              <a:latin typeface="Roboto"/>
              <a:ea typeface="Roboto"/>
              <a:cs typeface="Roboto"/>
              <a:sym typeface="Roboto"/>
            </a:endParaRPr>
          </a:p>
          <a:p>
            <a:pPr marL="452070" lvl="1" indent="-226035" algn="l">
              <a:lnSpc>
                <a:spcPts val="2973"/>
              </a:lnSpc>
              <a:buFont typeface="Arial"/>
              <a:buChar char="•"/>
            </a:pPr>
            <a:r>
              <a:rPr lang="en-US" sz="2093" b="1">
                <a:solidFill>
                  <a:srgbClr val="000000"/>
                </a:solidFill>
                <a:latin typeface="Roboto Bold"/>
                <a:ea typeface="Roboto Bold"/>
                <a:cs typeface="Roboto Bold"/>
                <a:sym typeface="Roboto Bold"/>
              </a:rPr>
              <a:t> </a:t>
            </a:r>
            <a:r>
              <a:rPr lang="en-US" sz="2093" b="1">
                <a:solidFill>
                  <a:srgbClr val="004AAD"/>
                </a:solidFill>
                <a:latin typeface="Roboto Bold"/>
                <a:ea typeface="Roboto Bold"/>
                <a:cs typeface="Roboto Bold"/>
                <a:sym typeface="Roboto Bold"/>
              </a:rPr>
              <a:t>Ultrasonic RADAR (Radio Detection And Ranging)</a:t>
            </a:r>
            <a:r>
              <a:rPr lang="en-US" sz="2093">
                <a:solidFill>
                  <a:srgbClr val="454699"/>
                </a:solidFill>
                <a:latin typeface="Roboto"/>
                <a:ea typeface="Roboto"/>
                <a:cs typeface="Roboto"/>
                <a:sym typeface="Roboto"/>
              </a:rPr>
              <a:t>: It operates under the “echolocation principle” which Bats use to find their prey and used for contactless detection, positioning of objects, speed and location tracking etc. It emits micro/radio waves which bounces off objects in its path and the sensor receives the reflected signal. Ultrasonic Radars are independent from heat/cold weather conditions or the color of the object being detected. It works in bad or no lightening conditions and is not visible with human eyes. Downside is Ultrasonic Radar have a lower resolution than lidar or camera making it difficult to identify small objects or distinguish between similar objects.</a:t>
            </a:r>
          </a:p>
          <a:p>
            <a:pPr algn="l">
              <a:lnSpc>
                <a:spcPts val="2973"/>
              </a:lnSpc>
            </a:pPr>
            <a:endParaRPr lang="en-US" sz="2093">
              <a:solidFill>
                <a:srgbClr val="454699"/>
              </a:solidFill>
              <a:latin typeface="Roboto"/>
              <a:ea typeface="Roboto"/>
              <a:cs typeface="Roboto"/>
              <a:sym typeface="Roboto"/>
            </a:endParaRPr>
          </a:p>
          <a:p>
            <a:pPr marL="0" lvl="0" indent="0" algn="l">
              <a:lnSpc>
                <a:spcPts val="2973"/>
              </a:lnSpc>
            </a:pPr>
            <a:endParaRPr lang="en-US" sz="2093">
              <a:solidFill>
                <a:srgbClr val="454699"/>
              </a:solidFill>
              <a:latin typeface="Roboto"/>
              <a:ea typeface="Roboto"/>
              <a:cs typeface="Roboto"/>
              <a:sym typeface="Roboto"/>
            </a:endParaRPr>
          </a:p>
          <a:p>
            <a:pPr marL="0" lvl="0" indent="0" algn="l">
              <a:lnSpc>
                <a:spcPts val="2973"/>
              </a:lnSpc>
            </a:pPr>
            <a:endParaRPr lang="en-US" sz="2093">
              <a:solidFill>
                <a:srgbClr val="454699"/>
              </a:solidFill>
              <a:latin typeface="Roboto"/>
              <a:ea typeface="Roboto"/>
              <a:cs typeface="Roboto"/>
              <a:sym typeface="Roboto"/>
            </a:endParaRPr>
          </a:p>
        </p:txBody>
      </p:sp>
      <p:sp>
        <p:nvSpPr>
          <p:cNvPr id="11" name="Freeform 11"/>
          <p:cNvSpPr/>
          <p:nvPr/>
        </p:nvSpPr>
        <p:spPr>
          <a:xfrm rot="-10800000">
            <a:off x="11227296" y="9508565"/>
            <a:ext cx="1556869" cy="778435"/>
          </a:xfrm>
          <a:custGeom>
            <a:avLst/>
            <a:gdLst/>
            <a:ahLst/>
            <a:cxnLst/>
            <a:rect l="l" t="t" r="r" b="b"/>
            <a:pathLst>
              <a:path w="1556869" h="778435">
                <a:moveTo>
                  <a:pt x="0" y="0"/>
                </a:moveTo>
                <a:lnTo>
                  <a:pt x="1556869" y="0"/>
                </a:lnTo>
                <a:lnTo>
                  <a:pt x="1556869" y="778435"/>
                </a:lnTo>
                <a:lnTo>
                  <a:pt x="0" y="7784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15361816" y="8306739"/>
            <a:ext cx="1897484" cy="1061551"/>
            <a:chOff x="0" y="0"/>
            <a:chExt cx="726425" cy="406400"/>
          </a:xfrm>
        </p:grpSpPr>
        <p:sp>
          <p:nvSpPr>
            <p:cNvPr id="3" name="Freeform 3"/>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F8F4EB">
                <a:alpha val="7843"/>
              </a:srgbClr>
            </a:solidFill>
          </p:spPr>
          <p:txBody>
            <a:bodyPr/>
            <a:lstStyle/>
            <a:p>
              <a:endParaRPr lang="en-CA"/>
            </a:p>
          </p:txBody>
        </p:sp>
      </p:grpSp>
      <p:sp>
        <p:nvSpPr>
          <p:cNvPr id="4" name="Freeform 4"/>
          <p:cNvSpPr/>
          <p:nvPr/>
        </p:nvSpPr>
        <p:spPr>
          <a:xfrm>
            <a:off x="16358183" y="8449615"/>
            <a:ext cx="775800" cy="775800"/>
          </a:xfrm>
          <a:custGeom>
            <a:avLst/>
            <a:gdLst/>
            <a:ahLst/>
            <a:cxnLst/>
            <a:rect l="l" t="t" r="r" b="b"/>
            <a:pathLst>
              <a:path w="775800" h="775800">
                <a:moveTo>
                  <a:pt x="0" y="0"/>
                </a:moveTo>
                <a:lnTo>
                  <a:pt x="775800" y="0"/>
                </a:lnTo>
                <a:lnTo>
                  <a:pt x="775800" y="775800"/>
                </a:lnTo>
                <a:lnTo>
                  <a:pt x="0" y="775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5" name="Freeform 5"/>
          <p:cNvSpPr/>
          <p:nvPr/>
        </p:nvSpPr>
        <p:spPr>
          <a:xfrm>
            <a:off x="16473625" y="8565057"/>
            <a:ext cx="544916" cy="544916"/>
          </a:xfrm>
          <a:custGeom>
            <a:avLst/>
            <a:gdLst/>
            <a:ahLst/>
            <a:cxnLst/>
            <a:rect l="l" t="t" r="r" b="b"/>
            <a:pathLst>
              <a:path w="544916" h="544916">
                <a:moveTo>
                  <a:pt x="0" y="0"/>
                </a:moveTo>
                <a:lnTo>
                  <a:pt x="544916" y="0"/>
                </a:lnTo>
                <a:lnTo>
                  <a:pt x="544916" y="544916"/>
                </a:lnTo>
                <a:lnTo>
                  <a:pt x="0" y="5449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6" name="TextBox 6"/>
          <p:cNvSpPr txBox="1"/>
          <p:nvPr/>
        </p:nvSpPr>
        <p:spPr>
          <a:xfrm>
            <a:off x="9344655" y="968596"/>
            <a:ext cx="8943345" cy="3609213"/>
          </a:xfrm>
          <a:prstGeom prst="rect">
            <a:avLst/>
          </a:prstGeom>
        </p:spPr>
        <p:txBody>
          <a:bodyPr lIns="0" tIns="0" rIns="0" bIns="0" rtlCol="0" anchor="t">
            <a:spAutoFit/>
          </a:bodyPr>
          <a:lstStyle/>
          <a:p>
            <a:pPr marL="0" lvl="0" indent="0" algn="r">
              <a:lnSpc>
                <a:spcPts val="9576"/>
              </a:lnSpc>
              <a:spcBef>
                <a:spcPct val="0"/>
              </a:spcBef>
            </a:pPr>
            <a:r>
              <a:rPr lang="en-US" sz="7600" b="1">
                <a:solidFill>
                  <a:srgbClr val="F8F4EB"/>
                </a:solidFill>
                <a:latin typeface="League Spartan"/>
                <a:ea typeface="League Spartan"/>
                <a:cs typeface="League Spartan"/>
                <a:sym typeface="League Spartan"/>
              </a:rPr>
              <a:t>UNDERSTANDING SELECT SENSOR FUNCTIONS</a:t>
            </a:r>
          </a:p>
        </p:txBody>
      </p:sp>
      <p:sp>
        <p:nvSpPr>
          <p:cNvPr id="7" name="Freeform 7"/>
          <p:cNvSpPr/>
          <p:nvPr/>
        </p:nvSpPr>
        <p:spPr>
          <a:xfrm rot="5400000" flipH="1">
            <a:off x="0" y="0"/>
            <a:ext cx="5143500" cy="5143500"/>
          </a:xfrm>
          <a:custGeom>
            <a:avLst/>
            <a:gdLst/>
            <a:ahLst/>
            <a:cxnLst/>
            <a:rect l="l" t="t" r="r" b="b"/>
            <a:pathLst>
              <a:path w="5143500" h="5143500">
                <a:moveTo>
                  <a:pt x="5143500" y="0"/>
                </a:moveTo>
                <a:lnTo>
                  <a:pt x="0" y="0"/>
                </a:lnTo>
                <a:lnTo>
                  <a:pt x="0" y="5143500"/>
                </a:lnTo>
                <a:lnTo>
                  <a:pt x="5143500" y="5143500"/>
                </a:lnTo>
                <a:lnTo>
                  <a:pt x="514350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nvGrpSpPr>
          <p:cNvPr id="8" name="Group 8"/>
          <p:cNvGrpSpPr/>
          <p:nvPr/>
        </p:nvGrpSpPr>
        <p:grpSpPr>
          <a:xfrm>
            <a:off x="738337" y="335457"/>
            <a:ext cx="8405663" cy="9811208"/>
            <a:chOff x="0" y="0"/>
            <a:chExt cx="1817103" cy="2120949"/>
          </a:xfrm>
        </p:grpSpPr>
        <p:sp>
          <p:nvSpPr>
            <p:cNvPr id="9" name="Freeform 9"/>
            <p:cNvSpPr/>
            <p:nvPr/>
          </p:nvSpPr>
          <p:spPr>
            <a:xfrm>
              <a:off x="0" y="0"/>
              <a:ext cx="1817104" cy="2120949"/>
            </a:xfrm>
            <a:custGeom>
              <a:avLst/>
              <a:gdLst/>
              <a:ahLst/>
              <a:cxnLst/>
              <a:rect l="l" t="t" r="r" b="b"/>
              <a:pathLst>
                <a:path w="1817104" h="2120949">
                  <a:moveTo>
                    <a:pt x="1692643" y="2120949"/>
                  </a:moveTo>
                  <a:lnTo>
                    <a:pt x="124460" y="2120949"/>
                  </a:lnTo>
                  <a:cubicBezTo>
                    <a:pt x="55880" y="2120949"/>
                    <a:pt x="0" y="2065069"/>
                    <a:pt x="0" y="1996489"/>
                  </a:cubicBezTo>
                  <a:lnTo>
                    <a:pt x="0" y="124460"/>
                  </a:lnTo>
                  <a:cubicBezTo>
                    <a:pt x="0" y="55880"/>
                    <a:pt x="55880" y="0"/>
                    <a:pt x="124460" y="0"/>
                  </a:cubicBezTo>
                  <a:lnTo>
                    <a:pt x="1692644" y="0"/>
                  </a:lnTo>
                  <a:cubicBezTo>
                    <a:pt x="1761224" y="0"/>
                    <a:pt x="1817104" y="55880"/>
                    <a:pt x="1817104" y="124460"/>
                  </a:cubicBezTo>
                  <a:lnTo>
                    <a:pt x="1817104" y="1996489"/>
                  </a:lnTo>
                  <a:cubicBezTo>
                    <a:pt x="1817104" y="2065069"/>
                    <a:pt x="1761224" y="2120949"/>
                    <a:pt x="1692644" y="2120949"/>
                  </a:cubicBezTo>
                  <a:close/>
                </a:path>
              </a:pathLst>
            </a:custGeom>
            <a:solidFill>
              <a:srgbClr val="F8F4EB"/>
            </a:solidFill>
          </p:spPr>
          <p:txBody>
            <a:bodyPr/>
            <a:lstStyle/>
            <a:p>
              <a:endParaRPr lang="en-CA"/>
            </a:p>
          </p:txBody>
        </p:sp>
      </p:grpSp>
      <p:sp>
        <p:nvSpPr>
          <p:cNvPr id="10" name="TextBox 10"/>
          <p:cNvSpPr txBox="1"/>
          <p:nvPr/>
        </p:nvSpPr>
        <p:spPr>
          <a:xfrm>
            <a:off x="945337" y="662117"/>
            <a:ext cx="7991664" cy="10390422"/>
          </a:xfrm>
          <a:prstGeom prst="rect">
            <a:avLst/>
          </a:prstGeom>
        </p:spPr>
        <p:txBody>
          <a:bodyPr lIns="0" tIns="0" rIns="0" bIns="0" rtlCol="0" anchor="t">
            <a:spAutoFit/>
          </a:bodyPr>
          <a:lstStyle/>
          <a:p>
            <a:pPr marL="452070" lvl="1" indent="-226035" algn="l">
              <a:lnSpc>
                <a:spcPts val="2973"/>
              </a:lnSpc>
              <a:buFont typeface="Arial"/>
              <a:buChar char="•"/>
            </a:pPr>
            <a:r>
              <a:rPr lang="en-US" sz="2093" b="1" dirty="0">
                <a:solidFill>
                  <a:srgbClr val="00BF63"/>
                </a:solidFill>
                <a:latin typeface="Roboto Bold"/>
                <a:ea typeface="Roboto Bold"/>
                <a:cs typeface="Roboto Bold"/>
                <a:sym typeface="Roboto Bold"/>
              </a:rPr>
              <a:t>LIDAR( Light Detection And Ranging)</a:t>
            </a:r>
            <a:r>
              <a:rPr lang="en-US" sz="2093" dirty="0">
                <a:solidFill>
                  <a:srgbClr val="454699"/>
                </a:solidFill>
                <a:latin typeface="Roboto"/>
                <a:ea typeface="Roboto"/>
                <a:cs typeface="Roboto"/>
                <a:sym typeface="Roboto"/>
              </a:rPr>
              <a:t>: Its operating principle is like RADAR but uses infrared laser light which is not visible to the naked eye to measure distances between objects after emitting light pulses on the object. There are multiple types of lidar technologies used for various functions such as </a:t>
            </a:r>
            <a:r>
              <a:rPr lang="en-US" sz="2093" b="1" dirty="0">
                <a:solidFill>
                  <a:srgbClr val="454699"/>
                </a:solidFill>
                <a:latin typeface="Roboto Bold"/>
                <a:ea typeface="Roboto Bold"/>
                <a:cs typeface="Roboto Bold"/>
                <a:sym typeface="Roboto Bold"/>
              </a:rPr>
              <a:t>Airborne Lidar</a:t>
            </a:r>
            <a:r>
              <a:rPr lang="en-US" sz="2093" dirty="0">
                <a:solidFill>
                  <a:srgbClr val="454699"/>
                </a:solidFill>
                <a:latin typeface="Roboto"/>
                <a:ea typeface="Roboto"/>
                <a:cs typeface="Roboto"/>
                <a:sym typeface="Roboto"/>
              </a:rPr>
              <a:t> mounted on drones and helicopters, </a:t>
            </a:r>
            <a:r>
              <a:rPr lang="en-US" sz="2093" b="1" dirty="0">
                <a:solidFill>
                  <a:srgbClr val="454699"/>
                </a:solidFill>
                <a:latin typeface="Roboto Bold"/>
                <a:ea typeface="Roboto Bold"/>
                <a:cs typeface="Roboto Bold"/>
                <a:sym typeface="Roboto Bold"/>
              </a:rPr>
              <a:t>Terrestrial Lidar</a:t>
            </a:r>
            <a:r>
              <a:rPr lang="en-US" sz="2093" dirty="0">
                <a:solidFill>
                  <a:srgbClr val="454699"/>
                </a:solidFill>
                <a:latin typeface="Roboto"/>
                <a:ea typeface="Roboto"/>
                <a:cs typeface="Roboto"/>
                <a:sym typeface="Roboto"/>
              </a:rPr>
              <a:t> on the ground which can be </a:t>
            </a:r>
            <a:r>
              <a:rPr lang="en-US" sz="2093" u="sng" dirty="0">
                <a:solidFill>
                  <a:srgbClr val="454699"/>
                </a:solidFill>
                <a:latin typeface="Roboto"/>
                <a:ea typeface="Roboto"/>
                <a:cs typeface="Roboto"/>
                <a:sym typeface="Roboto"/>
              </a:rPr>
              <a:t>static </a:t>
            </a:r>
            <a:r>
              <a:rPr lang="en-US" sz="2093" dirty="0">
                <a:solidFill>
                  <a:srgbClr val="454699"/>
                </a:solidFill>
                <a:latin typeface="Roboto"/>
                <a:ea typeface="Roboto"/>
                <a:cs typeface="Roboto"/>
                <a:sym typeface="Roboto"/>
              </a:rPr>
              <a:t>or </a:t>
            </a:r>
            <a:r>
              <a:rPr lang="en-US" sz="2093" u="sng" dirty="0">
                <a:solidFill>
                  <a:srgbClr val="454699"/>
                </a:solidFill>
                <a:latin typeface="Roboto"/>
                <a:ea typeface="Roboto"/>
                <a:cs typeface="Roboto"/>
                <a:sym typeface="Roboto"/>
              </a:rPr>
              <a:t>mobile</a:t>
            </a:r>
            <a:r>
              <a:rPr lang="en-US" sz="2093" dirty="0">
                <a:solidFill>
                  <a:srgbClr val="454699"/>
                </a:solidFill>
                <a:latin typeface="Roboto"/>
                <a:ea typeface="Roboto"/>
                <a:cs typeface="Roboto"/>
                <a:sym typeface="Roboto"/>
              </a:rPr>
              <a:t>, </a:t>
            </a:r>
            <a:r>
              <a:rPr lang="en-US" sz="2093" b="1" dirty="0">
                <a:solidFill>
                  <a:srgbClr val="454699"/>
                </a:solidFill>
                <a:latin typeface="Roboto Bold"/>
                <a:ea typeface="Roboto Bold"/>
                <a:cs typeface="Roboto Bold"/>
                <a:sym typeface="Roboto Bold"/>
              </a:rPr>
              <a:t>Bathymetric</a:t>
            </a:r>
            <a:r>
              <a:rPr lang="en-US" sz="2093" dirty="0">
                <a:solidFill>
                  <a:srgbClr val="454699"/>
                </a:solidFill>
                <a:latin typeface="Roboto"/>
                <a:ea typeface="Roboto"/>
                <a:cs typeface="Roboto"/>
                <a:sym typeface="Roboto"/>
              </a:rPr>
              <a:t> </a:t>
            </a:r>
            <a:r>
              <a:rPr lang="en-US" sz="2093" b="1" dirty="0">
                <a:solidFill>
                  <a:srgbClr val="454699"/>
                </a:solidFill>
                <a:latin typeface="Roboto Bold"/>
                <a:ea typeface="Roboto Bold"/>
                <a:cs typeface="Roboto Bold"/>
                <a:sym typeface="Roboto Bold"/>
              </a:rPr>
              <a:t>Lidar</a:t>
            </a:r>
            <a:r>
              <a:rPr lang="en-US" sz="2093" dirty="0">
                <a:solidFill>
                  <a:srgbClr val="454699"/>
                </a:solidFill>
                <a:latin typeface="Roboto"/>
                <a:ea typeface="Roboto"/>
                <a:cs typeface="Roboto"/>
                <a:sym typeface="Roboto"/>
              </a:rPr>
              <a:t> which uses green light to measure seafloor and riverbed elevations, </a:t>
            </a:r>
            <a:r>
              <a:rPr lang="en-US" sz="2093" b="1" dirty="0">
                <a:solidFill>
                  <a:srgbClr val="454699"/>
                </a:solidFill>
                <a:latin typeface="Roboto Bold"/>
                <a:ea typeface="Roboto Bold"/>
                <a:cs typeface="Roboto Bold"/>
                <a:sym typeface="Roboto Bold"/>
              </a:rPr>
              <a:t>Wind Lidar</a:t>
            </a:r>
            <a:r>
              <a:rPr lang="en-US" sz="2093" dirty="0">
                <a:solidFill>
                  <a:srgbClr val="454699"/>
                </a:solidFill>
                <a:latin typeface="Roboto"/>
                <a:ea typeface="Roboto"/>
                <a:cs typeface="Roboto"/>
                <a:sym typeface="Roboto"/>
              </a:rPr>
              <a:t> to measure windspeed, turbulence and direction, </a:t>
            </a:r>
            <a:r>
              <a:rPr lang="en-US" sz="2093" b="1" dirty="0">
                <a:solidFill>
                  <a:srgbClr val="454699"/>
                </a:solidFill>
                <a:latin typeface="Roboto Bold"/>
                <a:ea typeface="Roboto Bold"/>
                <a:cs typeface="Roboto Bold"/>
                <a:sym typeface="Roboto Bold"/>
              </a:rPr>
              <a:t>Spaceborne Lidar</a:t>
            </a:r>
            <a:r>
              <a:rPr lang="en-US" sz="2093" dirty="0">
                <a:solidFill>
                  <a:srgbClr val="454699"/>
                </a:solidFill>
                <a:latin typeface="Roboto"/>
                <a:ea typeface="Roboto"/>
                <a:cs typeface="Roboto"/>
                <a:sym typeface="Roboto"/>
              </a:rPr>
              <a:t> for global mapping, environmental studies and climate monitoring. In </a:t>
            </a:r>
            <a:r>
              <a:rPr lang="en-US" sz="2093" b="1" dirty="0">
                <a:solidFill>
                  <a:srgbClr val="454699"/>
                </a:solidFill>
                <a:latin typeface="Roboto Bold"/>
                <a:ea typeface="Roboto Bold"/>
                <a:cs typeface="Roboto Bold"/>
                <a:sym typeface="Roboto Bold"/>
              </a:rPr>
              <a:t>Autonomous Driving</a:t>
            </a:r>
            <a:r>
              <a:rPr lang="en-US" sz="2093" dirty="0">
                <a:solidFill>
                  <a:srgbClr val="454699"/>
                </a:solidFill>
                <a:latin typeface="Roboto"/>
                <a:ea typeface="Roboto"/>
                <a:cs typeface="Roboto"/>
                <a:sym typeface="Roboto"/>
              </a:rPr>
              <a:t>, the common Lidar types include </a:t>
            </a:r>
            <a:r>
              <a:rPr lang="en-US" sz="2093" u="sng" dirty="0">
                <a:solidFill>
                  <a:srgbClr val="454699"/>
                </a:solidFill>
                <a:latin typeface="Roboto"/>
                <a:ea typeface="Roboto"/>
                <a:cs typeface="Roboto"/>
                <a:sym typeface="Roboto"/>
              </a:rPr>
              <a:t>Time of Flight Lida</a:t>
            </a:r>
            <a:r>
              <a:rPr lang="en-US" sz="2093" dirty="0">
                <a:solidFill>
                  <a:srgbClr val="454699"/>
                </a:solidFill>
                <a:latin typeface="Roboto"/>
                <a:ea typeface="Roboto"/>
                <a:cs typeface="Roboto"/>
                <a:sym typeface="Roboto"/>
              </a:rPr>
              <a:t>r, </a:t>
            </a:r>
            <a:r>
              <a:rPr lang="en-US" sz="2093" u="sng" dirty="0">
                <a:solidFill>
                  <a:srgbClr val="454699"/>
                </a:solidFill>
                <a:latin typeface="Roboto"/>
                <a:ea typeface="Roboto"/>
                <a:cs typeface="Roboto"/>
                <a:sym typeface="Roboto"/>
              </a:rPr>
              <a:t>Flash Lidar</a:t>
            </a:r>
            <a:r>
              <a:rPr lang="en-US" sz="2093" dirty="0">
                <a:solidFill>
                  <a:srgbClr val="454699"/>
                </a:solidFill>
                <a:latin typeface="Roboto"/>
                <a:ea typeface="Roboto"/>
                <a:cs typeface="Roboto"/>
                <a:sym typeface="Roboto"/>
              </a:rPr>
              <a:t>, </a:t>
            </a:r>
            <a:r>
              <a:rPr lang="en-US" sz="2093" u="sng" dirty="0">
                <a:solidFill>
                  <a:srgbClr val="454699"/>
                </a:solidFill>
                <a:latin typeface="Roboto"/>
                <a:ea typeface="Roboto"/>
                <a:cs typeface="Roboto"/>
                <a:sym typeface="Roboto"/>
              </a:rPr>
              <a:t>Scanning Lidar</a:t>
            </a:r>
            <a:r>
              <a:rPr lang="en-US" sz="2093" dirty="0">
                <a:solidFill>
                  <a:srgbClr val="454699"/>
                </a:solidFill>
                <a:latin typeface="Roboto"/>
                <a:ea typeface="Roboto"/>
                <a:cs typeface="Roboto"/>
                <a:sym typeface="Roboto"/>
              </a:rPr>
              <a:t>,</a:t>
            </a:r>
            <a:r>
              <a:rPr lang="en-US" sz="2093" u="sng" dirty="0">
                <a:solidFill>
                  <a:srgbClr val="454699"/>
                </a:solidFill>
                <a:latin typeface="Roboto"/>
                <a:ea typeface="Roboto"/>
                <a:cs typeface="Roboto"/>
                <a:sym typeface="Roboto"/>
              </a:rPr>
              <a:t> Frequency-Modulated Continuous Wave</a:t>
            </a:r>
            <a:r>
              <a:rPr lang="en-US" sz="2093" dirty="0">
                <a:solidFill>
                  <a:srgbClr val="454699"/>
                </a:solidFill>
                <a:latin typeface="Roboto"/>
                <a:ea typeface="Roboto"/>
                <a:cs typeface="Roboto"/>
                <a:sym typeface="Roboto"/>
              </a:rPr>
              <a:t>. With each having its own positives and negatives.</a:t>
            </a:r>
          </a:p>
          <a:p>
            <a:pPr algn="l">
              <a:lnSpc>
                <a:spcPts val="2973"/>
              </a:lnSpc>
            </a:pPr>
            <a:endParaRPr lang="en-US" sz="2093" dirty="0">
              <a:solidFill>
                <a:srgbClr val="454699"/>
              </a:solidFill>
              <a:latin typeface="Roboto"/>
              <a:ea typeface="Roboto"/>
              <a:cs typeface="Roboto"/>
              <a:sym typeface="Roboto"/>
            </a:endParaRPr>
          </a:p>
          <a:p>
            <a:pPr marL="452070" lvl="1" indent="-226035" algn="l">
              <a:lnSpc>
                <a:spcPts val="2973"/>
              </a:lnSpc>
              <a:buFont typeface="Arial"/>
              <a:buChar char="•"/>
            </a:pPr>
            <a:r>
              <a:rPr lang="en-US" sz="2093" b="1" dirty="0">
                <a:solidFill>
                  <a:srgbClr val="000000"/>
                </a:solidFill>
                <a:latin typeface="Roboto Bold"/>
                <a:ea typeface="Roboto Bold"/>
                <a:cs typeface="Roboto Bold"/>
                <a:sym typeface="Roboto Bold"/>
              </a:rPr>
              <a:t>GNSS Transmitter/Receiver</a:t>
            </a:r>
            <a:r>
              <a:rPr lang="en-US" sz="2093" dirty="0">
                <a:solidFill>
                  <a:srgbClr val="454699"/>
                </a:solidFill>
                <a:latin typeface="Roboto"/>
                <a:ea typeface="Roboto"/>
                <a:cs typeface="Roboto"/>
                <a:sym typeface="Roboto"/>
              </a:rPr>
              <a:t>: Global Navigation Satellite System is a critical component in autonomous driving. It refers to any satellite constellation that provides global positioning, navigation, and timing services e.g. include </a:t>
            </a:r>
            <a:r>
              <a:rPr lang="en-US" sz="2093" b="1" dirty="0">
                <a:solidFill>
                  <a:srgbClr val="454699"/>
                </a:solidFill>
                <a:latin typeface="Roboto Bold"/>
                <a:ea typeface="Roboto Bold"/>
                <a:cs typeface="Roboto Bold"/>
                <a:sym typeface="Roboto Bold"/>
              </a:rPr>
              <a:t>Galileo</a:t>
            </a:r>
            <a:r>
              <a:rPr lang="en-US" sz="2093" dirty="0">
                <a:solidFill>
                  <a:srgbClr val="454699"/>
                </a:solidFill>
                <a:latin typeface="Roboto"/>
                <a:ea typeface="Roboto"/>
                <a:cs typeface="Roboto"/>
                <a:sym typeface="Roboto"/>
              </a:rPr>
              <a:t> (EU), </a:t>
            </a:r>
            <a:r>
              <a:rPr lang="en-US" sz="2093" b="1" dirty="0">
                <a:solidFill>
                  <a:srgbClr val="454699"/>
                </a:solidFill>
                <a:latin typeface="Roboto Bold"/>
                <a:ea typeface="Roboto Bold"/>
                <a:cs typeface="Roboto Bold"/>
                <a:sym typeface="Roboto Bold"/>
              </a:rPr>
              <a:t>GPS</a:t>
            </a:r>
            <a:r>
              <a:rPr lang="en-US" sz="2093" dirty="0">
                <a:solidFill>
                  <a:srgbClr val="454699"/>
                </a:solidFill>
                <a:latin typeface="Roboto"/>
                <a:ea typeface="Roboto"/>
                <a:cs typeface="Roboto"/>
                <a:sym typeface="Roboto"/>
              </a:rPr>
              <a:t> (USA), </a:t>
            </a:r>
            <a:r>
              <a:rPr lang="en-US" sz="2093" b="1" dirty="0">
                <a:solidFill>
                  <a:srgbClr val="454699"/>
                </a:solidFill>
                <a:latin typeface="Roboto Bold"/>
                <a:ea typeface="Roboto Bold"/>
                <a:cs typeface="Roboto Bold"/>
                <a:sym typeface="Roboto Bold"/>
              </a:rPr>
              <a:t>GLONASS</a:t>
            </a:r>
            <a:r>
              <a:rPr lang="en-US" sz="2093" dirty="0">
                <a:solidFill>
                  <a:srgbClr val="454699"/>
                </a:solidFill>
                <a:latin typeface="Roboto"/>
                <a:ea typeface="Roboto"/>
                <a:cs typeface="Roboto"/>
                <a:sym typeface="Roboto"/>
              </a:rPr>
              <a:t> (Russia), </a:t>
            </a:r>
            <a:r>
              <a:rPr lang="en-US" sz="2093" b="1" dirty="0" err="1">
                <a:solidFill>
                  <a:srgbClr val="454699"/>
                </a:solidFill>
                <a:latin typeface="Roboto Bold"/>
                <a:ea typeface="Roboto Bold"/>
                <a:cs typeface="Roboto Bold"/>
                <a:sym typeface="Roboto Bold"/>
              </a:rPr>
              <a:t>Beidou</a:t>
            </a:r>
            <a:r>
              <a:rPr lang="en-US" sz="2093" dirty="0">
                <a:solidFill>
                  <a:srgbClr val="454699"/>
                </a:solidFill>
                <a:latin typeface="Roboto"/>
                <a:ea typeface="Roboto"/>
                <a:cs typeface="Roboto"/>
                <a:sym typeface="Roboto"/>
              </a:rPr>
              <a:t> (China). It relies on a network of satellites which orbit the earth and transmits signals using microwaves that allow a GPS receiver receive these services using a process known as satellite triangulation. GPS was originally developed by the US Department of Defense for use by the US Military during the cold war. </a:t>
            </a:r>
          </a:p>
          <a:p>
            <a:pPr algn="l">
              <a:lnSpc>
                <a:spcPts val="2973"/>
              </a:lnSpc>
            </a:pPr>
            <a:endParaRPr lang="en-US" sz="2093" dirty="0">
              <a:solidFill>
                <a:srgbClr val="454699"/>
              </a:solidFill>
              <a:latin typeface="Roboto"/>
              <a:ea typeface="Roboto"/>
              <a:cs typeface="Roboto"/>
              <a:sym typeface="Roboto"/>
            </a:endParaRPr>
          </a:p>
          <a:p>
            <a:pPr marL="0" lvl="0" indent="0" algn="l">
              <a:lnSpc>
                <a:spcPts val="2973"/>
              </a:lnSpc>
            </a:pPr>
            <a:endParaRPr lang="en-US" sz="2093" dirty="0">
              <a:solidFill>
                <a:srgbClr val="454699"/>
              </a:solidFill>
              <a:latin typeface="Roboto"/>
              <a:ea typeface="Roboto"/>
              <a:cs typeface="Roboto"/>
              <a:sym typeface="Roboto"/>
            </a:endParaRPr>
          </a:p>
          <a:p>
            <a:pPr marL="0" lvl="0" indent="0" algn="l">
              <a:lnSpc>
                <a:spcPts val="2973"/>
              </a:lnSpc>
            </a:pPr>
            <a:endParaRPr lang="en-US" sz="2093" dirty="0">
              <a:solidFill>
                <a:srgbClr val="454699"/>
              </a:solidFill>
              <a:latin typeface="Roboto"/>
              <a:ea typeface="Roboto"/>
              <a:cs typeface="Roboto"/>
              <a:sym typeface="Roboto"/>
            </a:endParaRPr>
          </a:p>
        </p:txBody>
      </p:sp>
      <p:sp>
        <p:nvSpPr>
          <p:cNvPr id="11" name="Freeform 11"/>
          <p:cNvSpPr/>
          <p:nvPr/>
        </p:nvSpPr>
        <p:spPr>
          <a:xfrm rot="-10800000">
            <a:off x="11227296" y="9508565"/>
            <a:ext cx="1556869" cy="778435"/>
          </a:xfrm>
          <a:custGeom>
            <a:avLst/>
            <a:gdLst/>
            <a:ahLst/>
            <a:cxnLst/>
            <a:rect l="l" t="t" r="r" b="b"/>
            <a:pathLst>
              <a:path w="1556869" h="778435">
                <a:moveTo>
                  <a:pt x="0" y="0"/>
                </a:moveTo>
                <a:lnTo>
                  <a:pt x="1556869" y="0"/>
                </a:lnTo>
                <a:lnTo>
                  <a:pt x="1556869" y="778435"/>
                </a:lnTo>
                <a:lnTo>
                  <a:pt x="0" y="7784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B0E4"/>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463769" y="1609806"/>
            <a:ext cx="16981944" cy="6976281"/>
            <a:chOff x="0" y="0"/>
            <a:chExt cx="4522993" cy="1858072"/>
          </a:xfrm>
        </p:grpSpPr>
        <p:sp>
          <p:nvSpPr>
            <p:cNvPr id="4" name="Freeform 4"/>
            <p:cNvSpPr/>
            <p:nvPr/>
          </p:nvSpPr>
          <p:spPr>
            <a:xfrm>
              <a:off x="0" y="0"/>
              <a:ext cx="4522993" cy="1858072"/>
            </a:xfrm>
            <a:custGeom>
              <a:avLst/>
              <a:gdLst/>
              <a:ahLst/>
              <a:cxnLst/>
              <a:rect l="l" t="t" r="r" b="b"/>
              <a:pathLst>
                <a:path w="4522993" h="1858072">
                  <a:moveTo>
                    <a:pt x="4398533" y="1858071"/>
                  </a:moveTo>
                  <a:lnTo>
                    <a:pt x="124460" y="1858071"/>
                  </a:lnTo>
                  <a:cubicBezTo>
                    <a:pt x="55880" y="1858071"/>
                    <a:pt x="0" y="1802192"/>
                    <a:pt x="0" y="1733611"/>
                  </a:cubicBezTo>
                  <a:lnTo>
                    <a:pt x="0" y="124460"/>
                  </a:lnTo>
                  <a:cubicBezTo>
                    <a:pt x="0" y="55880"/>
                    <a:pt x="55880" y="0"/>
                    <a:pt x="124460" y="0"/>
                  </a:cubicBezTo>
                  <a:lnTo>
                    <a:pt x="4398533" y="0"/>
                  </a:lnTo>
                  <a:cubicBezTo>
                    <a:pt x="4467113" y="0"/>
                    <a:pt x="4522993" y="55880"/>
                    <a:pt x="4522993" y="124460"/>
                  </a:cubicBezTo>
                  <a:lnTo>
                    <a:pt x="4522993" y="1733612"/>
                  </a:lnTo>
                  <a:cubicBezTo>
                    <a:pt x="4522993" y="1802192"/>
                    <a:pt x="4467113" y="1858072"/>
                    <a:pt x="4398533" y="1858072"/>
                  </a:cubicBezTo>
                  <a:close/>
                </a:path>
              </a:pathLst>
            </a:custGeom>
            <a:solidFill>
              <a:srgbClr val="F8F4EB"/>
            </a:solidFill>
          </p:spPr>
          <p:txBody>
            <a:bodyPr/>
            <a:lstStyle/>
            <a:p>
              <a:endParaRPr lang="en-CA"/>
            </a:p>
          </p:txBody>
        </p:sp>
      </p:grpSp>
      <p:sp>
        <p:nvSpPr>
          <p:cNvPr id="5" name="TextBox 5"/>
          <p:cNvSpPr txBox="1"/>
          <p:nvPr/>
        </p:nvSpPr>
        <p:spPr>
          <a:xfrm>
            <a:off x="800965" y="1828403"/>
            <a:ext cx="16458335" cy="6527236"/>
          </a:xfrm>
          <a:prstGeom prst="rect">
            <a:avLst/>
          </a:prstGeom>
        </p:spPr>
        <p:txBody>
          <a:bodyPr lIns="0" tIns="0" rIns="0" bIns="0" rtlCol="0" anchor="t">
            <a:spAutoFit/>
          </a:bodyPr>
          <a:lstStyle/>
          <a:p>
            <a:pPr algn="l">
              <a:lnSpc>
                <a:spcPts val="3740"/>
              </a:lnSpc>
            </a:pPr>
            <a:r>
              <a:rPr lang="en-US" sz="2633" dirty="0">
                <a:solidFill>
                  <a:srgbClr val="454699"/>
                </a:solidFill>
                <a:latin typeface="Roboto"/>
                <a:ea typeface="Roboto"/>
                <a:cs typeface="Roboto"/>
                <a:sym typeface="Roboto"/>
              </a:rPr>
              <a:t>This is a technique within the </a:t>
            </a:r>
            <a:r>
              <a:rPr lang="en-US" sz="2633" b="1" dirty="0">
                <a:solidFill>
                  <a:srgbClr val="454699"/>
                </a:solidFill>
                <a:latin typeface="Roboto Bold"/>
                <a:ea typeface="Roboto Bold"/>
                <a:cs typeface="Roboto Bold"/>
                <a:sym typeface="Roboto Bold"/>
              </a:rPr>
              <a:t>Artificial Intelligence</a:t>
            </a:r>
            <a:r>
              <a:rPr lang="en-US" sz="2633" dirty="0">
                <a:solidFill>
                  <a:srgbClr val="454699"/>
                </a:solidFill>
                <a:latin typeface="Roboto"/>
                <a:ea typeface="Roboto"/>
                <a:cs typeface="Roboto"/>
                <a:sym typeface="Roboto"/>
              </a:rPr>
              <a:t> domain whereby an agent learns to take actions in an environment without needing any pre-defined model of the environmental dynamics. The agent directly interacts with the environment, learns from experiences and adjusts it’s behavior based on rewards, instead of trying to understand how the environment works. </a:t>
            </a:r>
          </a:p>
          <a:p>
            <a:pPr algn="l">
              <a:lnSpc>
                <a:spcPts val="3740"/>
              </a:lnSpc>
            </a:pPr>
            <a:endParaRPr lang="en-US" sz="2633" dirty="0">
              <a:solidFill>
                <a:srgbClr val="454699"/>
              </a:solidFill>
              <a:latin typeface="Roboto"/>
              <a:ea typeface="Roboto"/>
              <a:cs typeface="Roboto"/>
              <a:sym typeface="Roboto"/>
            </a:endParaRPr>
          </a:p>
          <a:p>
            <a:pPr marL="0" lvl="0" indent="0" algn="l">
              <a:lnSpc>
                <a:spcPts val="3740"/>
              </a:lnSpc>
              <a:spcBef>
                <a:spcPct val="0"/>
              </a:spcBef>
            </a:pPr>
            <a:r>
              <a:rPr lang="en-US" sz="2633" dirty="0">
                <a:solidFill>
                  <a:srgbClr val="454699"/>
                </a:solidFill>
                <a:latin typeface="Roboto"/>
                <a:ea typeface="Roboto"/>
                <a:cs typeface="Roboto"/>
                <a:sym typeface="Roboto"/>
              </a:rPr>
              <a:t>It uses trial and error method to explore different actions in solving real-world problems like Energy Distribution and Management, Resource Management, Games Playing, Rocket Navigation, Descent and Landing, Biomedical Engineering, Autonomous Planet Exploration, Autonomous Driving, etc.</a:t>
            </a:r>
          </a:p>
          <a:p>
            <a:pPr marL="0" lvl="0" indent="0" algn="l">
              <a:lnSpc>
                <a:spcPts val="3740"/>
              </a:lnSpc>
              <a:spcBef>
                <a:spcPct val="0"/>
              </a:spcBef>
            </a:pPr>
            <a:endParaRPr lang="en-US" sz="2633" dirty="0">
              <a:solidFill>
                <a:srgbClr val="454699"/>
              </a:solidFill>
              <a:latin typeface="Roboto"/>
              <a:ea typeface="Roboto"/>
              <a:cs typeface="Roboto"/>
              <a:sym typeface="Roboto"/>
            </a:endParaRPr>
          </a:p>
          <a:p>
            <a:pPr marL="0" lvl="0" indent="0" algn="l">
              <a:lnSpc>
                <a:spcPts val="3740"/>
              </a:lnSpc>
              <a:spcBef>
                <a:spcPct val="0"/>
              </a:spcBef>
            </a:pPr>
            <a:r>
              <a:rPr lang="en-US" sz="2633" u="none" dirty="0">
                <a:solidFill>
                  <a:srgbClr val="454699"/>
                </a:solidFill>
                <a:latin typeface="Roboto"/>
                <a:ea typeface="Roboto"/>
                <a:cs typeface="Roboto"/>
                <a:sym typeface="Roboto"/>
              </a:rPr>
              <a:t>Common Algorithms include:</a:t>
            </a:r>
            <a:r>
              <a:rPr lang="en-US" sz="2633" b="1" u="none" dirty="0">
                <a:solidFill>
                  <a:srgbClr val="00BF63"/>
                </a:solidFill>
                <a:latin typeface="Roboto Bold"/>
                <a:ea typeface="Roboto Bold"/>
                <a:cs typeface="Roboto Bold"/>
                <a:sym typeface="Roboto Bold"/>
              </a:rPr>
              <a:t> </a:t>
            </a:r>
            <a:r>
              <a:rPr lang="en-US" sz="2633" b="1" u="none" dirty="0">
                <a:solidFill>
                  <a:srgbClr val="FF3131"/>
                </a:solidFill>
                <a:latin typeface="Roboto Bold"/>
                <a:ea typeface="Roboto Bold"/>
                <a:cs typeface="Roboto Bold"/>
                <a:sym typeface="Roboto Bold"/>
              </a:rPr>
              <a:t>Monte Carlo</a:t>
            </a:r>
            <a:r>
              <a:rPr lang="en-US" sz="2633" u="none" dirty="0">
                <a:solidFill>
                  <a:srgbClr val="454699"/>
                </a:solidFill>
                <a:latin typeface="Roboto"/>
                <a:ea typeface="Roboto"/>
                <a:cs typeface="Roboto"/>
                <a:sym typeface="Roboto"/>
              </a:rPr>
              <a:t> (MC), </a:t>
            </a:r>
            <a:r>
              <a:rPr lang="en-US" sz="2633" b="1" u="none" dirty="0">
                <a:solidFill>
                  <a:srgbClr val="00BF63"/>
                </a:solidFill>
                <a:latin typeface="Roboto Bold"/>
                <a:ea typeface="Roboto Bold"/>
                <a:cs typeface="Roboto Bold"/>
                <a:sym typeface="Roboto Bold"/>
              </a:rPr>
              <a:t>Temporal Difference</a:t>
            </a:r>
            <a:r>
              <a:rPr lang="en-US" sz="2633" u="none" dirty="0">
                <a:solidFill>
                  <a:srgbClr val="454699"/>
                </a:solidFill>
                <a:latin typeface="Roboto"/>
                <a:ea typeface="Roboto"/>
                <a:cs typeface="Roboto"/>
                <a:sym typeface="Roboto"/>
              </a:rPr>
              <a:t> (TD), </a:t>
            </a:r>
            <a:r>
              <a:rPr lang="en-US" sz="2633" b="1" u="none" dirty="0">
                <a:solidFill>
                  <a:srgbClr val="000000"/>
                </a:solidFill>
                <a:latin typeface="Roboto Bold"/>
                <a:ea typeface="Roboto Bold"/>
                <a:cs typeface="Roboto Bold"/>
                <a:sym typeface="Roboto Bold"/>
              </a:rPr>
              <a:t>Q-learning</a:t>
            </a:r>
            <a:r>
              <a:rPr lang="en-US" sz="2633" u="none" dirty="0">
                <a:solidFill>
                  <a:srgbClr val="454699"/>
                </a:solidFill>
                <a:latin typeface="Roboto"/>
                <a:ea typeface="Roboto"/>
                <a:cs typeface="Roboto"/>
                <a:sym typeface="Roboto"/>
              </a:rPr>
              <a:t>, </a:t>
            </a:r>
            <a:r>
              <a:rPr lang="en-US" sz="2633" b="1" u="none" dirty="0">
                <a:solidFill>
                  <a:srgbClr val="004AAD"/>
                </a:solidFill>
                <a:latin typeface="Roboto Bold"/>
                <a:ea typeface="Roboto Bold"/>
                <a:cs typeface="Roboto Bold"/>
                <a:sym typeface="Roboto Bold"/>
              </a:rPr>
              <a:t>SARSA</a:t>
            </a:r>
          </a:p>
          <a:p>
            <a:pPr marL="0" lvl="0" indent="0" algn="l">
              <a:lnSpc>
                <a:spcPts val="3740"/>
              </a:lnSpc>
              <a:spcBef>
                <a:spcPct val="0"/>
              </a:spcBef>
            </a:pPr>
            <a:endParaRPr lang="en-US" sz="2633" b="1" u="none" dirty="0">
              <a:solidFill>
                <a:srgbClr val="004AAD"/>
              </a:solidFill>
              <a:latin typeface="Roboto Bold"/>
              <a:ea typeface="Roboto Bold"/>
              <a:cs typeface="Roboto Bold"/>
              <a:sym typeface="Roboto Bold"/>
            </a:endParaRPr>
          </a:p>
          <a:p>
            <a:pPr marL="0" lvl="0" indent="0" algn="l">
              <a:lnSpc>
                <a:spcPts val="3740"/>
              </a:lnSpc>
              <a:spcBef>
                <a:spcPct val="0"/>
              </a:spcBef>
            </a:pPr>
            <a:r>
              <a:rPr lang="en-US" sz="2633" u="none" dirty="0">
                <a:solidFill>
                  <a:srgbClr val="454699"/>
                </a:solidFill>
                <a:latin typeface="Roboto"/>
                <a:ea typeface="Roboto"/>
                <a:cs typeface="Roboto"/>
                <a:sym typeface="Roboto"/>
              </a:rPr>
              <a:t>Currently, there are three top algorithms used for model-free reinforcement learning in </a:t>
            </a:r>
            <a:r>
              <a:rPr lang="en-US" sz="2633" b="1" u="none" dirty="0">
                <a:solidFill>
                  <a:srgbClr val="454699"/>
                </a:solidFill>
                <a:latin typeface="Roboto Bold"/>
                <a:ea typeface="Roboto Bold"/>
                <a:cs typeface="Roboto Bold"/>
                <a:sym typeface="Roboto Bold"/>
              </a:rPr>
              <a:t>classical</a:t>
            </a:r>
            <a:r>
              <a:rPr lang="en-US" sz="2633" u="none" dirty="0">
                <a:solidFill>
                  <a:srgbClr val="454699"/>
                </a:solidFill>
                <a:latin typeface="Roboto"/>
                <a:ea typeface="Roboto"/>
                <a:cs typeface="Roboto"/>
                <a:sym typeface="Roboto"/>
              </a:rPr>
              <a:t> and </a:t>
            </a:r>
            <a:r>
              <a:rPr lang="en-US" sz="2633" b="1" u="none" dirty="0">
                <a:solidFill>
                  <a:srgbClr val="454699"/>
                </a:solidFill>
                <a:latin typeface="Roboto Bold"/>
                <a:ea typeface="Roboto Bold"/>
                <a:cs typeface="Roboto Bold"/>
                <a:sym typeface="Roboto Bold"/>
              </a:rPr>
              <a:t>supercomputing.</a:t>
            </a:r>
            <a:r>
              <a:rPr lang="en-US" sz="2633" u="none" dirty="0">
                <a:solidFill>
                  <a:srgbClr val="454699"/>
                </a:solidFill>
                <a:latin typeface="Roboto"/>
                <a:ea typeface="Roboto"/>
                <a:cs typeface="Roboto"/>
                <a:sym typeface="Roboto"/>
              </a:rPr>
              <a:t> The choice among them often depends on the specific problem and environmental characteristics, since each algorithm has it’s weakness and strength. Let’s take a sneak peak in the next slide.</a:t>
            </a:r>
          </a:p>
        </p:txBody>
      </p:sp>
      <p:sp>
        <p:nvSpPr>
          <p:cNvPr id="6" name="TextBox 6"/>
          <p:cNvSpPr txBox="1"/>
          <p:nvPr/>
        </p:nvSpPr>
        <p:spPr>
          <a:xfrm>
            <a:off x="1605107" y="283462"/>
            <a:ext cx="15223667" cy="854201"/>
          </a:xfrm>
          <a:prstGeom prst="rect">
            <a:avLst/>
          </a:prstGeom>
        </p:spPr>
        <p:txBody>
          <a:bodyPr lIns="0" tIns="0" rIns="0" bIns="0" rtlCol="0" anchor="t">
            <a:spAutoFit/>
          </a:bodyPr>
          <a:lstStyle/>
          <a:p>
            <a:pPr marL="0" lvl="0" indent="0" algn="l">
              <a:lnSpc>
                <a:spcPts val="6804"/>
              </a:lnSpc>
              <a:spcBef>
                <a:spcPct val="0"/>
              </a:spcBef>
            </a:pPr>
            <a:r>
              <a:rPr lang="en-US" sz="5400" b="1" dirty="0">
                <a:solidFill>
                  <a:srgbClr val="454699"/>
                </a:solidFill>
                <a:latin typeface="League Spartan"/>
                <a:ea typeface="League Spartan"/>
                <a:cs typeface="League Spartan"/>
                <a:sym typeface="League Spartan"/>
              </a:rPr>
              <a:t>MODEL-FREE REINFORCEMENT LEARNING</a:t>
            </a:r>
          </a:p>
        </p:txBody>
      </p:sp>
      <p:grpSp>
        <p:nvGrpSpPr>
          <p:cNvPr id="7" name="Group 7"/>
          <p:cNvGrpSpPr/>
          <p:nvPr/>
        </p:nvGrpSpPr>
        <p:grpSpPr>
          <a:xfrm>
            <a:off x="15721171" y="8769480"/>
            <a:ext cx="1897484" cy="1061551"/>
            <a:chOff x="0" y="0"/>
            <a:chExt cx="726425" cy="406400"/>
          </a:xfrm>
        </p:grpSpPr>
        <p:sp>
          <p:nvSpPr>
            <p:cNvPr id="8" name="Freeform 8"/>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9" name="Group 9"/>
          <p:cNvGrpSpPr/>
          <p:nvPr/>
        </p:nvGrpSpPr>
        <p:grpSpPr>
          <a:xfrm>
            <a:off x="16669913" y="8912355"/>
            <a:ext cx="775800" cy="775800"/>
            <a:chOff x="0" y="0"/>
            <a:chExt cx="1034400" cy="1034400"/>
          </a:xfrm>
        </p:grpSpPr>
        <p:sp>
          <p:nvSpPr>
            <p:cNvPr id="10" name="Freeform 10"/>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1" name="Freeform 11"/>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
        <p:nvSpPr>
          <p:cNvPr id="12" name="Freeform 12"/>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398411" y="1580123"/>
            <a:ext cx="5218456" cy="7871207"/>
            <a:chOff x="0" y="0"/>
            <a:chExt cx="1213613" cy="1830542"/>
          </a:xfrm>
        </p:grpSpPr>
        <p:sp>
          <p:nvSpPr>
            <p:cNvPr id="3" name="Freeform 3"/>
            <p:cNvSpPr/>
            <p:nvPr/>
          </p:nvSpPr>
          <p:spPr>
            <a:xfrm>
              <a:off x="0" y="0"/>
              <a:ext cx="1213613" cy="1830542"/>
            </a:xfrm>
            <a:custGeom>
              <a:avLst/>
              <a:gdLst/>
              <a:ahLst/>
              <a:cxnLst/>
              <a:rect l="l" t="t" r="r" b="b"/>
              <a:pathLst>
                <a:path w="1213613" h="1830542">
                  <a:moveTo>
                    <a:pt x="1089153" y="1830542"/>
                  </a:moveTo>
                  <a:lnTo>
                    <a:pt x="124460" y="1830542"/>
                  </a:lnTo>
                  <a:cubicBezTo>
                    <a:pt x="55880" y="1830542"/>
                    <a:pt x="0" y="1774662"/>
                    <a:pt x="0" y="1706082"/>
                  </a:cubicBezTo>
                  <a:lnTo>
                    <a:pt x="0" y="124460"/>
                  </a:lnTo>
                  <a:cubicBezTo>
                    <a:pt x="0" y="55880"/>
                    <a:pt x="55880" y="0"/>
                    <a:pt x="124460" y="0"/>
                  </a:cubicBezTo>
                  <a:lnTo>
                    <a:pt x="1089153" y="0"/>
                  </a:lnTo>
                  <a:cubicBezTo>
                    <a:pt x="1157733" y="0"/>
                    <a:pt x="1213613" y="55880"/>
                    <a:pt x="1213613" y="124460"/>
                  </a:cubicBezTo>
                  <a:lnTo>
                    <a:pt x="1213613" y="1706082"/>
                  </a:lnTo>
                  <a:cubicBezTo>
                    <a:pt x="1213613" y="1774662"/>
                    <a:pt x="1157733" y="1830542"/>
                    <a:pt x="1089153" y="1830542"/>
                  </a:cubicBezTo>
                  <a:close/>
                </a:path>
              </a:pathLst>
            </a:custGeom>
            <a:solidFill>
              <a:srgbClr val="F8F4EB"/>
            </a:solidFill>
          </p:spPr>
          <p:txBody>
            <a:bodyPr/>
            <a:lstStyle/>
            <a:p>
              <a:endParaRPr lang="en-CA"/>
            </a:p>
          </p:txBody>
        </p:sp>
      </p:grpSp>
      <p:grpSp>
        <p:nvGrpSpPr>
          <p:cNvPr id="4" name="Group 4"/>
          <p:cNvGrpSpPr/>
          <p:nvPr/>
        </p:nvGrpSpPr>
        <p:grpSpPr>
          <a:xfrm>
            <a:off x="6049033" y="1580123"/>
            <a:ext cx="5853657" cy="7871207"/>
            <a:chOff x="0" y="0"/>
            <a:chExt cx="1361337" cy="1830542"/>
          </a:xfrm>
        </p:grpSpPr>
        <p:sp>
          <p:nvSpPr>
            <p:cNvPr id="5" name="Freeform 5"/>
            <p:cNvSpPr/>
            <p:nvPr/>
          </p:nvSpPr>
          <p:spPr>
            <a:xfrm>
              <a:off x="0" y="0"/>
              <a:ext cx="1361337" cy="1830542"/>
            </a:xfrm>
            <a:custGeom>
              <a:avLst/>
              <a:gdLst/>
              <a:ahLst/>
              <a:cxnLst/>
              <a:rect l="l" t="t" r="r" b="b"/>
              <a:pathLst>
                <a:path w="1361337" h="1830542">
                  <a:moveTo>
                    <a:pt x="1236877" y="1830542"/>
                  </a:moveTo>
                  <a:lnTo>
                    <a:pt x="124460" y="1830542"/>
                  </a:lnTo>
                  <a:cubicBezTo>
                    <a:pt x="55880" y="1830542"/>
                    <a:pt x="0" y="1774662"/>
                    <a:pt x="0" y="1706082"/>
                  </a:cubicBezTo>
                  <a:lnTo>
                    <a:pt x="0" y="124460"/>
                  </a:lnTo>
                  <a:cubicBezTo>
                    <a:pt x="0" y="55880"/>
                    <a:pt x="55880" y="0"/>
                    <a:pt x="124460" y="0"/>
                  </a:cubicBezTo>
                  <a:lnTo>
                    <a:pt x="1236877" y="0"/>
                  </a:lnTo>
                  <a:cubicBezTo>
                    <a:pt x="1305457" y="0"/>
                    <a:pt x="1361337" y="55880"/>
                    <a:pt x="1361337" y="124460"/>
                  </a:cubicBezTo>
                  <a:lnTo>
                    <a:pt x="1361337" y="1706082"/>
                  </a:lnTo>
                  <a:cubicBezTo>
                    <a:pt x="1361337" y="1774662"/>
                    <a:pt x="1305457" y="1830542"/>
                    <a:pt x="1236877" y="1830542"/>
                  </a:cubicBezTo>
                  <a:close/>
                </a:path>
              </a:pathLst>
            </a:custGeom>
            <a:solidFill>
              <a:srgbClr val="F8F4EB"/>
            </a:solidFill>
          </p:spPr>
          <p:txBody>
            <a:bodyPr/>
            <a:lstStyle/>
            <a:p>
              <a:endParaRPr lang="en-CA"/>
            </a:p>
          </p:txBody>
        </p:sp>
      </p:grpSp>
      <p:grpSp>
        <p:nvGrpSpPr>
          <p:cNvPr id="6" name="Group 6"/>
          <p:cNvGrpSpPr/>
          <p:nvPr/>
        </p:nvGrpSpPr>
        <p:grpSpPr>
          <a:xfrm>
            <a:off x="12331315" y="1580123"/>
            <a:ext cx="5554089" cy="7871207"/>
            <a:chOff x="0" y="0"/>
            <a:chExt cx="1291669" cy="1830542"/>
          </a:xfrm>
        </p:grpSpPr>
        <p:sp>
          <p:nvSpPr>
            <p:cNvPr id="7" name="Freeform 7"/>
            <p:cNvSpPr/>
            <p:nvPr/>
          </p:nvSpPr>
          <p:spPr>
            <a:xfrm>
              <a:off x="0" y="0"/>
              <a:ext cx="1291669" cy="1830542"/>
            </a:xfrm>
            <a:custGeom>
              <a:avLst/>
              <a:gdLst/>
              <a:ahLst/>
              <a:cxnLst/>
              <a:rect l="l" t="t" r="r" b="b"/>
              <a:pathLst>
                <a:path w="1291669" h="1830542">
                  <a:moveTo>
                    <a:pt x="1167209" y="1830542"/>
                  </a:moveTo>
                  <a:lnTo>
                    <a:pt x="124460" y="1830542"/>
                  </a:lnTo>
                  <a:cubicBezTo>
                    <a:pt x="55880" y="1830542"/>
                    <a:pt x="0" y="1774662"/>
                    <a:pt x="0" y="1706082"/>
                  </a:cubicBezTo>
                  <a:lnTo>
                    <a:pt x="0" y="124460"/>
                  </a:lnTo>
                  <a:cubicBezTo>
                    <a:pt x="0" y="55880"/>
                    <a:pt x="55880" y="0"/>
                    <a:pt x="124460" y="0"/>
                  </a:cubicBezTo>
                  <a:lnTo>
                    <a:pt x="1167209" y="0"/>
                  </a:lnTo>
                  <a:cubicBezTo>
                    <a:pt x="1235789" y="0"/>
                    <a:pt x="1291669" y="55880"/>
                    <a:pt x="1291669" y="124460"/>
                  </a:cubicBezTo>
                  <a:lnTo>
                    <a:pt x="1291669" y="1706082"/>
                  </a:lnTo>
                  <a:cubicBezTo>
                    <a:pt x="1291669" y="1774662"/>
                    <a:pt x="1235789" y="1830542"/>
                    <a:pt x="1167209" y="1830542"/>
                  </a:cubicBezTo>
                  <a:close/>
                </a:path>
              </a:pathLst>
            </a:custGeom>
            <a:solidFill>
              <a:srgbClr val="F8F4EB"/>
            </a:solidFill>
          </p:spPr>
          <p:txBody>
            <a:bodyPr/>
            <a:lstStyle/>
            <a:p>
              <a:endParaRPr lang="en-CA"/>
            </a:p>
          </p:txBody>
        </p:sp>
      </p:grpSp>
      <p:grpSp>
        <p:nvGrpSpPr>
          <p:cNvPr id="8" name="Group 8"/>
          <p:cNvGrpSpPr/>
          <p:nvPr/>
        </p:nvGrpSpPr>
        <p:grpSpPr>
          <a:xfrm>
            <a:off x="705309" y="2098098"/>
            <a:ext cx="4915099" cy="4296089"/>
            <a:chOff x="0" y="0"/>
            <a:chExt cx="6553465" cy="5728118"/>
          </a:xfrm>
        </p:grpSpPr>
        <p:sp>
          <p:nvSpPr>
            <p:cNvPr id="9" name="TextBox 9"/>
            <p:cNvSpPr txBox="1"/>
            <p:nvPr/>
          </p:nvSpPr>
          <p:spPr>
            <a:xfrm>
              <a:off x="0" y="-9525"/>
              <a:ext cx="6553465" cy="1199261"/>
            </a:xfrm>
            <a:prstGeom prst="rect">
              <a:avLst/>
            </a:prstGeom>
          </p:spPr>
          <p:txBody>
            <a:bodyPr lIns="0" tIns="0" rIns="0" bIns="0" rtlCol="0" anchor="t">
              <a:spAutoFit/>
            </a:bodyPr>
            <a:lstStyle/>
            <a:p>
              <a:pPr marL="0" lvl="0" indent="0" algn="l">
                <a:lnSpc>
                  <a:spcPts val="3654"/>
                </a:lnSpc>
                <a:spcBef>
                  <a:spcPct val="0"/>
                </a:spcBef>
              </a:pPr>
              <a:r>
                <a:rPr lang="en-US" sz="2900" b="1">
                  <a:solidFill>
                    <a:srgbClr val="FF3131"/>
                  </a:solidFill>
                  <a:latin typeface="League Spartan"/>
                  <a:ea typeface="League Spartan"/>
                  <a:cs typeface="League Spartan"/>
                  <a:sym typeface="League Spartan"/>
                </a:rPr>
                <a:t>DEEP Q-NET</a:t>
              </a:r>
              <a:r>
                <a:rPr lang="en-US" sz="2900" b="1" u="none">
                  <a:solidFill>
                    <a:srgbClr val="FF3131"/>
                  </a:solidFill>
                  <a:latin typeface="League Spartan"/>
                  <a:ea typeface="League Spartan"/>
                  <a:cs typeface="League Spartan"/>
                  <a:sym typeface="League Spartan"/>
                </a:rPr>
                <a:t>WORK (DQN)</a:t>
              </a:r>
            </a:p>
            <a:p>
              <a:pPr marL="0" lvl="0" indent="0" algn="l">
                <a:lnSpc>
                  <a:spcPts val="3654"/>
                </a:lnSpc>
                <a:spcBef>
                  <a:spcPct val="0"/>
                </a:spcBef>
              </a:pPr>
              <a:endParaRPr lang="en-US" sz="2900" b="1" u="none">
                <a:solidFill>
                  <a:srgbClr val="FF3131"/>
                </a:solidFill>
                <a:latin typeface="League Spartan"/>
                <a:ea typeface="League Spartan"/>
                <a:cs typeface="League Spartan"/>
                <a:sym typeface="League Spartan"/>
              </a:endParaRPr>
            </a:p>
          </p:txBody>
        </p:sp>
        <p:sp>
          <p:nvSpPr>
            <p:cNvPr id="10" name="TextBox 10"/>
            <p:cNvSpPr txBox="1"/>
            <p:nvPr/>
          </p:nvSpPr>
          <p:spPr>
            <a:xfrm>
              <a:off x="0" y="1387851"/>
              <a:ext cx="6553465" cy="4340267"/>
            </a:xfrm>
            <a:prstGeom prst="rect">
              <a:avLst/>
            </a:prstGeom>
          </p:spPr>
          <p:txBody>
            <a:bodyPr lIns="0" tIns="0" rIns="0" bIns="0" rtlCol="0" anchor="t">
              <a:spAutoFit/>
            </a:bodyPr>
            <a:lstStyle/>
            <a:p>
              <a:pPr marL="0" lvl="0" indent="0" algn="l">
                <a:lnSpc>
                  <a:spcPts val="3266"/>
                </a:lnSpc>
                <a:spcBef>
                  <a:spcPct val="0"/>
                </a:spcBef>
              </a:pPr>
              <a:r>
                <a:rPr lang="en-US" sz="2300">
                  <a:solidFill>
                    <a:srgbClr val="454699"/>
                  </a:solidFill>
                  <a:latin typeface="Roboto"/>
                  <a:ea typeface="Roboto"/>
                  <a:cs typeface="Roboto"/>
                  <a:sym typeface="Roboto"/>
                </a:rPr>
                <a:t>It</a:t>
              </a:r>
              <a:r>
                <a:rPr lang="en-US" sz="2300" u="none">
                  <a:solidFill>
                    <a:srgbClr val="454699"/>
                  </a:solidFill>
                  <a:latin typeface="Roboto"/>
                  <a:ea typeface="Roboto"/>
                  <a:cs typeface="Roboto"/>
                  <a:sym typeface="Roboto"/>
                </a:rPr>
                <a:t> is a </a:t>
              </a:r>
              <a:r>
                <a:rPr lang="en-US" sz="2300" b="1" u="none">
                  <a:solidFill>
                    <a:srgbClr val="454699"/>
                  </a:solidFill>
                  <a:latin typeface="Roboto Bold"/>
                  <a:ea typeface="Roboto Bold"/>
                  <a:cs typeface="Roboto Bold"/>
                  <a:sym typeface="Roboto Bold"/>
                </a:rPr>
                <a:t>value based</a:t>
              </a:r>
              <a:r>
                <a:rPr lang="en-US" sz="2300" u="none">
                  <a:solidFill>
                    <a:srgbClr val="454699"/>
                  </a:solidFill>
                  <a:latin typeface="Roboto"/>
                  <a:ea typeface="Roboto"/>
                  <a:cs typeface="Roboto"/>
                  <a:sym typeface="Roboto"/>
                </a:rPr>
                <a:t> reinforcement learning technique that uses neural networks to approximate the Q-value function, which then estimates the expected future rewards for each action given a state. Often used in environments with discrete action spaces, such as Atari games.</a:t>
              </a:r>
            </a:p>
          </p:txBody>
        </p:sp>
      </p:grpSp>
      <p:grpSp>
        <p:nvGrpSpPr>
          <p:cNvPr id="11" name="Group 11"/>
          <p:cNvGrpSpPr/>
          <p:nvPr/>
        </p:nvGrpSpPr>
        <p:grpSpPr>
          <a:xfrm>
            <a:off x="6169317" y="2098098"/>
            <a:ext cx="5613088" cy="7353232"/>
            <a:chOff x="0" y="0"/>
            <a:chExt cx="7484117" cy="9804310"/>
          </a:xfrm>
        </p:grpSpPr>
        <p:sp>
          <p:nvSpPr>
            <p:cNvPr id="12" name="TextBox 12"/>
            <p:cNvSpPr txBox="1"/>
            <p:nvPr/>
          </p:nvSpPr>
          <p:spPr>
            <a:xfrm>
              <a:off x="0" y="-19050"/>
              <a:ext cx="7484117" cy="1184402"/>
            </a:xfrm>
            <a:prstGeom prst="rect">
              <a:avLst/>
            </a:prstGeom>
          </p:spPr>
          <p:txBody>
            <a:bodyPr lIns="0" tIns="0" rIns="0" bIns="0" rtlCol="0" anchor="t">
              <a:spAutoFit/>
            </a:bodyPr>
            <a:lstStyle/>
            <a:p>
              <a:pPr marL="0" lvl="0" indent="0" algn="l">
                <a:lnSpc>
                  <a:spcPts val="3527"/>
                </a:lnSpc>
                <a:spcBef>
                  <a:spcPct val="0"/>
                </a:spcBef>
              </a:pPr>
              <a:r>
                <a:rPr lang="en-US" sz="2799" b="1" u="none">
                  <a:solidFill>
                    <a:srgbClr val="00BF63"/>
                  </a:solidFill>
                  <a:latin typeface="League Spartan"/>
                  <a:ea typeface="League Spartan"/>
                  <a:cs typeface="League Spartan"/>
                  <a:sym typeface="League Spartan"/>
                </a:rPr>
                <a:t>A3C(ASYNCHRONOUS ADVANTAGE ACTOR CRITIC)</a:t>
              </a:r>
            </a:p>
          </p:txBody>
        </p:sp>
        <p:sp>
          <p:nvSpPr>
            <p:cNvPr id="13" name="TextBox 13"/>
            <p:cNvSpPr txBox="1"/>
            <p:nvPr/>
          </p:nvSpPr>
          <p:spPr>
            <a:xfrm>
              <a:off x="0" y="1363467"/>
              <a:ext cx="7484117" cy="8440843"/>
            </a:xfrm>
            <a:prstGeom prst="rect">
              <a:avLst/>
            </a:prstGeom>
          </p:spPr>
          <p:txBody>
            <a:bodyPr lIns="0" tIns="0" rIns="0" bIns="0" rtlCol="0" anchor="t">
              <a:spAutoFit/>
            </a:bodyPr>
            <a:lstStyle/>
            <a:p>
              <a:pPr marL="431804" lvl="1" indent="-215902" algn="l">
                <a:lnSpc>
                  <a:spcPts val="2840"/>
                </a:lnSpc>
                <a:spcBef>
                  <a:spcPct val="0"/>
                </a:spcBef>
                <a:buFont typeface="Arial"/>
                <a:buChar char="•"/>
              </a:pPr>
              <a:r>
                <a:rPr lang="en-US" sz="2000">
                  <a:solidFill>
                    <a:srgbClr val="454699"/>
                  </a:solidFill>
                  <a:latin typeface="Roboto"/>
                  <a:ea typeface="Roboto"/>
                  <a:cs typeface="Roboto"/>
                  <a:sym typeface="Roboto"/>
                </a:rPr>
                <a:t> It combines bot</a:t>
              </a:r>
              <a:r>
                <a:rPr lang="en-US" sz="2000" u="none">
                  <a:solidFill>
                    <a:srgbClr val="454699"/>
                  </a:solidFill>
                  <a:latin typeface="Roboto"/>
                  <a:ea typeface="Roboto"/>
                  <a:cs typeface="Roboto"/>
                  <a:sym typeface="Roboto"/>
                </a:rPr>
                <a:t>h </a:t>
              </a:r>
              <a:r>
                <a:rPr lang="en-US" sz="2000" b="1" u="none">
                  <a:solidFill>
                    <a:srgbClr val="454699"/>
                  </a:solidFill>
                  <a:latin typeface="Roboto Bold"/>
                  <a:ea typeface="Roboto Bold"/>
                  <a:cs typeface="Roboto Bold"/>
                  <a:sym typeface="Roboto Bold"/>
                </a:rPr>
                <a:t>value-based</a:t>
              </a:r>
              <a:r>
                <a:rPr lang="en-US" sz="2000" u="none">
                  <a:solidFill>
                    <a:srgbClr val="454699"/>
                  </a:solidFill>
                  <a:latin typeface="Roboto"/>
                  <a:ea typeface="Roboto"/>
                  <a:cs typeface="Roboto"/>
                  <a:sym typeface="Roboto"/>
                </a:rPr>
                <a:t> and </a:t>
              </a:r>
              <a:r>
                <a:rPr lang="en-US" sz="2000" b="1" u="none">
                  <a:solidFill>
                    <a:srgbClr val="454699"/>
                  </a:solidFill>
                  <a:latin typeface="Roboto Bold"/>
                  <a:ea typeface="Roboto Bold"/>
                  <a:cs typeface="Roboto Bold"/>
                  <a:sym typeface="Roboto Bold"/>
                </a:rPr>
                <a:t>policy-based</a:t>
              </a:r>
              <a:r>
                <a:rPr lang="en-US" sz="2000" u="none">
                  <a:solidFill>
                    <a:srgbClr val="454699"/>
                  </a:solidFill>
                  <a:latin typeface="Roboto"/>
                  <a:ea typeface="Roboto"/>
                  <a:cs typeface="Roboto"/>
                  <a:sym typeface="Roboto"/>
                </a:rPr>
                <a:t> approaches to leverage their respective strengths. It uses the </a:t>
              </a:r>
              <a:r>
                <a:rPr lang="en-US" sz="2000" u="none">
                  <a:solidFill>
                    <a:srgbClr val="DDCB2D"/>
                  </a:solidFill>
                  <a:latin typeface="Roboto"/>
                  <a:ea typeface="Roboto"/>
                  <a:cs typeface="Roboto"/>
                  <a:sym typeface="Roboto"/>
                </a:rPr>
                <a:t>A</a:t>
              </a:r>
              <a:r>
                <a:rPr lang="en-US" sz="2000" b="1" u="none">
                  <a:solidFill>
                    <a:srgbClr val="DDCB2D"/>
                  </a:solidFill>
                  <a:latin typeface="Roboto Bold"/>
                  <a:ea typeface="Roboto Bold"/>
                  <a:cs typeface="Roboto Bold"/>
                  <a:sym typeface="Roboto Bold"/>
                </a:rPr>
                <a:t>ctor-Critic</a:t>
              </a:r>
              <a:r>
                <a:rPr lang="en-US" sz="2000" u="none">
                  <a:solidFill>
                    <a:srgbClr val="454699"/>
                  </a:solidFill>
                  <a:latin typeface="Roboto"/>
                  <a:ea typeface="Roboto"/>
                  <a:cs typeface="Roboto"/>
                  <a:sym typeface="Roboto"/>
                </a:rPr>
                <a:t> approach and implemented in environments with discrete and continuous action spaces where parallelization can be utilized.</a:t>
              </a:r>
            </a:p>
            <a:p>
              <a:pPr marL="0" lvl="0" indent="0" algn="l">
                <a:lnSpc>
                  <a:spcPts val="2840"/>
                </a:lnSpc>
                <a:spcBef>
                  <a:spcPct val="0"/>
                </a:spcBef>
              </a:pPr>
              <a:endParaRPr lang="en-US" sz="2000" u="none">
                <a:solidFill>
                  <a:srgbClr val="454699"/>
                </a:solidFill>
                <a:latin typeface="Roboto"/>
                <a:ea typeface="Roboto"/>
                <a:cs typeface="Roboto"/>
                <a:sym typeface="Roboto"/>
              </a:endParaRPr>
            </a:p>
            <a:p>
              <a:pPr marL="0" lvl="0" indent="0" algn="l">
                <a:lnSpc>
                  <a:spcPts val="2840"/>
                </a:lnSpc>
                <a:spcBef>
                  <a:spcPct val="0"/>
                </a:spcBef>
              </a:pPr>
              <a:r>
                <a:rPr lang="en-US" sz="2000" u="none">
                  <a:solidFill>
                    <a:srgbClr val="454699"/>
                  </a:solidFill>
                  <a:latin typeface="Roboto"/>
                  <a:ea typeface="Roboto"/>
                  <a:cs typeface="Roboto"/>
                  <a:sym typeface="Roboto"/>
                </a:rPr>
                <a:t> -</a:t>
              </a:r>
              <a:r>
                <a:rPr lang="en-US" sz="2000" b="1" u="none">
                  <a:solidFill>
                    <a:srgbClr val="454699"/>
                  </a:solidFill>
                  <a:latin typeface="Roboto Bold"/>
                  <a:ea typeface="Roboto Bold"/>
                  <a:cs typeface="Roboto Bold"/>
                  <a:sym typeface="Roboto Bold"/>
                </a:rPr>
                <a:t>Actor</a:t>
              </a:r>
              <a:r>
                <a:rPr lang="en-US" sz="2000" u="none">
                  <a:solidFill>
                    <a:srgbClr val="454699"/>
                  </a:solidFill>
                  <a:latin typeface="Roboto"/>
                  <a:ea typeface="Roboto"/>
                  <a:cs typeface="Roboto"/>
                  <a:sym typeface="Roboto"/>
                </a:rPr>
                <a:t>: Represents the policy that selects actions                    </a:t>
              </a:r>
            </a:p>
            <a:p>
              <a:pPr marL="0" lvl="0" indent="0" algn="l">
                <a:lnSpc>
                  <a:spcPts val="2840"/>
                </a:lnSpc>
                <a:spcBef>
                  <a:spcPct val="0"/>
                </a:spcBef>
              </a:pPr>
              <a:r>
                <a:rPr lang="en-US" sz="2000" u="none">
                  <a:solidFill>
                    <a:srgbClr val="454699"/>
                  </a:solidFill>
                  <a:latin typeface="Roboto"/>
                  <a:ea typeface="Roboto"/>
                  <a:cs typeface="Roboto"/>
                  <a:sym typeface="Roboto"/>
                </a:rPr>
                <a:t> -</a:t>
              </a:r>
              <a:r>
                <a:rPr lang="en-US" sz="2000" b="1" u="none">
                  <a:solidFill>
                    <a:srgbClr val="454699"/>
                  </a:solidFill>
                  <a:latin typeface="Roboto Bold"/>
                  <a:ea typeface="Roboto Bold"/>
                  <a:cs typeface="Roboto Bold"/>
                  <a:sym typeface="Roboto Bold"/>
                </a:rPr>
                <a:t>Critic</a:t>
              </a:r>
              <a:r>
                <a:rPr lang="en-US" sz="2000" u="none">
                  <a:solidFill>
                    <a:srgbClr val="454699"/>
                  </a:solidFill>
                  <a:latin typeface="Roboto"/>
                  <a:ea typeface="Roboto"/>
                  <a:cs typeface="Roboto"/>
                  <a:sym typeface="Roboto"/>
                </a:rPr>
                <a:t>: Evaluates the action by estimating the value function.</a:t>
              </a:r>
            </a:p>
            <a:p>
              <a:pPr marL="0" lvl="0" indent="0" algn="l">
                <a:lnSpc>
                  <a:spcPts val="2840"/>
                </a:lnSpc>
                <a:spcBef>
                  <a:spcPct val="0"/>
                </a:spcBef>
              </a:pPr>
              <a:endParaRPr lang="en-US" sz="2000" u="none">
                <a:solidFill>
                  <a:srgbClr val="454699"/>
                </a:solidFill>
                <a:latin typeface="Roboto"/>
                <a:ea typeface="Roboto"/>
                <a:cs typeface="Roboto"/>
                <a:sym typeface="Roboto"/>
              </a:endParaRPr>
            </a:p>
            <a:p>
              <a:pPr marL="0" lvl="0" indent="0" algn="l">
                <a:lnSpc>
                  <a:spcPts val="2840"/>
                </a:lnSpc>
                <a:spcBef>
                  <a:spcPct val="0"/>
                </a:spcBef>
              </a:pPr>
              <a:r>
                <a:rPr lang="en-US" sz="2000" b="1">
                  <a:solidFill>
                    <a:srgbClr val="454699"/>
                  </a:solidFill>
                  <a:latin typeface="Roboto Bold"/>
                  <a:ea typeface="Roboto Bold"/>
                  <a:cs typeface="Roboto Bold"/>
                  <a:sym typeface="Roboto Bold"/>
                </a:rPr>
                <a:t>         </a:t>
              </a:r>
              <a:r>
                <a:rPr lang="en-US" sz="2000" b="1" u="sng">
                  <a:solidFill>
                    <a:srgbClr val="454699"/>
                  </a:solidFill>
                  <a:latin typeface="Roboto Bold"/>
                  <a:ea typeface="Roboto Bold"/>
                  <a:cs typeface="Roboto Bold"/>
                  <a:sym typeface="Roboto Bold"/>
                </a:rPr>
                <a:t> It uses this mechanism to function</a:t>
              </a:r>
            </a:p>
            <a:p>
              <a:pPr marL="0" lvl="0" indent="0" algn="l">
                <a:lnSpc>
                  <a:spcPts val="2840"/>
                </a:lnSpc>
                <a:spcBef>
                  <a:spcPct val="0"/>
                </a:spcBef>
              </a:pPr>
              <a:endParaRPr lang="en-US" sz="2000" b="1" u="sng">
                <a:solidFill>
                  <a:srgbClr val="454699"/>
                </a:solidFill>
                <a:latin typeface="Roboto Bold"/>
                <a:ea typeface="Roboto Bold"/>
                <a:cs typeface="Roboto Bold"/>
                <a:sym typeface="Roboto Bold"/>
              </a:endParaRPr>
            </a:p>
            <a:p>
              <a:pPr marL="431804" lvl="1" indent="-215902" algn="l">
                <a:lnSpc>
                  <a:spcPts val="2840"/>
                </a:lnSpc>
                <a:spcBef>
                  <a:spcPct val="0"/>
                </a:spcBef>
                <a:buFont typeface="Arial"/>
                <a:buChar char="•"/>
              </a:pPr>
              <a:r>
                <a:rPr lang="en-US" sz="2000" u="none">
                  <a:solidFill>
                    <a:srgbClr val="454699"/>
                  </a:solidFill>
                  <a:latin typeface="Roboto"/>
                  <a:ea typeface="Roboto"/>
                  <a:cs typeface="Roboto"/>
                  <a:sym typeface="Roboto"/>
                </a:rPr>
                <a:t>A policy is updated in the direction of the </a:t>
              </a:r>
              <a:r>
                <a:rPr lang="en-US" sz="2000" b="1" u="none">
                  <a:solidFill>
                    <a:srgbClr val="454699"/>
                  </a:solidFill>
                  <a:latin typeface="Roboto Bold"/>
                  <a:ea typeface="Roboto Bold"/>
                  <a:cs typeface="Roboto Bold"/>
                  <a:sym typeface="Roboto Bold"/>
                </a:rPr>
                <a:t>Actor</a:t>
              </a:r>
              <a:r>
                <a:rPr lang="en-US" sz="2000" u="none">
                  <a:solidFill>
                    <a:srgbClr val="454699"/>
                  </a:solidFill>
                  <a:latin typeface="Roboto"/>
                  <a:ea typeface="Roboto"/>
                  <a:cs typeface="Roboto"/>
                  <a:sym typeface="Roboto"/>
                </a:rPr>
                <a:t> by the critic</a:t>
              </a:r>
            </a:p>
            <a:p>
              <a:pPr marL="431804" lvl="1" indent="-215902" algn="l">
                <a:lnSpc>
                  <a:spcPts val="2840"/>
                </a:lnSpc>
                <a:spcBef>
                  <a:spcPct val="0"/>
                </a:spcBef>
                <a:buFont typeface="Arial"/>
                <a:buChar char="•"/>
              </a:pPr>
              <a:r>
                <a:rPr lang="en-US" sz="2000" u="none">
                  <a:solidFill>
                    <a:srgbClr val="454699"/>
                  </a:solidFill>
                  <a:latin typeface="Roboto"/>
                  <a:ea typeface="Roboto"/>
                  <a:cs typeface="Roboto"/>
                  <a:sym typeface="Roboto"/>
                </a:rPr>
                <a:t>The </a:t>
              </a:r>
              <a:r>
                <a:rPr lang="en-US" sz="2000" b="1" u="none">
                  <a:solidFill>
                    <a:srgbClr val="454699"/>
                  </a:solidFill>
                  <a:latin typeface="Roboto Bold"/>
                  <a:ea typeface="Roboto Bold"/>
                  <a:cs typeface="Roboto Bold"/>
                  <a:sym typeface="Roboto Bold"/>
                </a:rPr>
                <a:t>Critic</a:t>
              </a:r>
              <a:r>
                <a:rPr lang="en-US" sz="2000" u="none">
                  <a:solidFill>
                    <a:srgbClr val="454699"/>
                  </a:solidFill>
                  <a:latin typeface="Roboto"/>
                  <a:ea typeface="Roboto"/>
                  <a:cs typeface="Roboto"/>
                  <a:sym typeface="Roboto"/>
                </a:rPr>
                <a:t> receives feedback from the environment and update the value function.</a:t>
              </a:r>
            </a:p>
            <a:p>
              <a:pPr marL="0" lvl="0" indent="0" algn="l">
                <a:lnSpc>
                  <a:spcPts val="2840"/>
                </a:lnSpc>
                <a:spcBef>
                  <a:spcPct val="0"/>
                </a:spcBef>
              </a:pPr>
              <a:endParaRPr lang="en-US" sz="2000" u="none">
                <a:solidFill>
                  <a:srgbClr val="454699"/>
                </a:solidFill>
                <a:latin typeface="Roboto"/>
                <a:ea typeface="Roboto"/>
                <a:cs typeface="Roboto"/>
                <a:sym typeface="Roboto"/>
              </a:endParaRPr>
            </a:p>
          </p:txBody>
        </p:sp>
      </p:grpSp>
      <p:grpSp>
        <p:nvGrpSpPr>
          <p:cNvPr id="14" name="Group 14"/>
          <p:cNvGrpSpPr/>
          <p:nvPr/>
        </p:nvGrpSpPr>
        <p:grpSpPr>
          <a:xfrm>
            <a:off x="12534601" y="2098098"/>
            <a:ext cx="5147518" cy="5999158"/>
            <a:chOff x="0" y="0"/>
            <a:chExt cx="6863357" cy="7998878"/>
          </a:xfrm>
        </p:grpSpPr>
        <p:sp>
          <p:nvSpPr>
            <p:cNvPr id="15" name="TextBox 15"/>
            <p:cNvSpPr txBox="1"/>
            <p:nvPr/>
          </p:nvSpPr>
          <p:spPr>
            <a:xfrm>
              <a:off x="0" y="-19050"/>
              <a:ext cx="6863357" cy="1258570"/>
            </a:xfrm>
            <a:prstGeom prst="rect">
              <a:avLst/>
            </a:prstGeom>
          </p:spPr>
          <p:txBody>
            <a:bodyPr lIns="0" tIns="0" rIns="0" bIns="0" rtlCol="0" anchor="t">
              <a:spAutoFit/>
            </a:bodyPr>
            <a:lstStyle/>
            <a:p>
              <a:pPr marL="0" lvl="0" indent="0" algn="l">
                <a:lnSpc>
                  <a:spcPts val="3780"/>
                </a:lnSpc>
                <a:spcBef>
                  <a:spcPct val="0"/>
                </a:spcBef>
              </a:pPr>
              <a:r>
                <a:rPr lang="en-US" sz="3000" b="1">
                  <a:solidFill>
                    <a:srgbClr val="454699"/>
                  </a:solidFill>
                  <a:latin typeface="League Spartan"/>
                  <a:ea typeface="League Spartan"/>
                  <a:cs typeface="League Spartan"/>
                  <a:sym typeface="League Spartan"/>
                </a:rPr>
                <a:t>PROXIMAL POLICY OPTIMIZATION (PPO)</a:t>
              </a:r>
            </a:p>
          </p:txBody>
        </p:sp>
        <p:sp>
          <p:nvSpPr>
            <p:cNvPr id="16" name="TextBox 16"/>
            <p:cNvSpPr txBox="1"/>
            <p:nvPr/>
          </p:nvSpPr>
          <p:spPr>
            <a:xfrm>
              <a:off x="0" y="1437635"/>
              <a:ext cx="6863357" cy="6561243"/>
            </a:xfrm>
            <a:prstGeom prst="rect">
              <a:avLst/>
            </a:prstGeom>
          </p:spPr>
          <p:txBody>
            <a:bodyPr lIns="0" tIns="0" rIns="0" bIns="0" rtlCol="0" anchor="t">
              <a:spAutoFit/>
            </a:bodyPr>
            <a:lstStyle/>
            <a:p>
              <a:pPr algn="l">
                <a:lnSpc>
                  <a:spcPts val="2840"/>
                </a:lnSpc>
              </a:pPr>
              <a:r>
                <a:rPr lang="en-US" sz="2000">
                  <a:solidFill>
                    <a:srgbClr val="454699"/>
                  </a:solidFill>
                  <a:latin typeface="Roboto"/>
                  <a:ea typeface="Roboto"/>
                  <a:cs typeface="Roboto"/>
                  <a:sym typeface="Roboto"/>
                </a:rPr>
                <a:t>It is a </a:t>
              </a:r>
              <a:r>
                <a:rPr lang="en-US" sz="2000" b="1">
                  <a:solidFill>
                    <a:srgbClr val="454699"/>
                  </a:solidFill>
                  <a:latin typeface="Roboto Bold"/>
                  <a:ea typeface="Roboto Bold"/>
                  <a:cs typeface="Roboto Bold"/>
                  <a:sym typeface="Roboto Bold"/>
                </a:rPr>
                <a:t>Policy based</a:t>
              </a:r>
              <a:r>
                <a:rPr lang="en-US" sz="2000">
                  <a:solidFill>
                    <a:srgbClr val="454699"/>
                  </a:solidFill>
                  <a:latin typeface="Roboto"/>
                  <a:ea typeface="Roboto"/>
                  <a:cs typeface="Roboto"/>
                  <a:sym typeface="Roboto"/>
                </a:rPr>
                <a:t> reinforcement learning technique and is motivated by this question? how can we take the biggest possible improvement step on a policy using the data we currently have, without stepping so far that we accidentally cause performance collapse.</a:t>
              </a:r>
            </a:p>
            <a:p>
              <a:pPr algn="l">
                <a:lnSpc>
                  <a:spcPts val="2840"/>
                </a:lnSpc>
              </a:pPr>
              <a:r>
                <a:rPr lang="en-US" sz="2000">
                  <a:solidFill>
                    <a:srgbClr val="454699"/>
                  </a:solidFill>
                  <a:latin typeface="Roboto"/>
                  <a:ea typeface="Roboto"/>
                  <a:cs typeface="Roboto"/>
                  <a:sym typeface="Roboto"/>
                </a:rPr>
                <a:t> </a:t>
              </a:r>
            </a:p>
            <a:p>
              <a:pPr marL="0" lvl="0" indent="0" algn="l">
                <a:lnSpc>
                  <a:spcPts val="2840"/>
                </a:lnSpc>
                <a:spcBef>
                  <a:spcPct val="0"/>
                </a:spcBef>
              </a:pPr>
              <a:r>
                <a:rPr lang="en-US" sz="2000">
                  <a:solidFill>
                    <a:srgbClr val="454699"/>
                  </a:solidFill>
                  <a:latin typeface="Roboto"/>
                  <a:ea typeface="Roboto"/>
                  <a:cs typeface="Roboto"/>
                  <a:sym typeface="Roboto"/>
                </a:rPr>
                <a:t>It simplifies the optimization process by using a surrogate objective function and clipping mechanisms to limit the policy update at each step. PPO is suited to natively handle continuous and high dimensional action spaces.</a:t>
              </a:r>
            </a:p>
          </p:txBody>
        </p:sp>
      </p:grpSp>
      <p:sp>
        <p:nvSpPr>
          <p:cNvPr id="17" name="TextBox 17"/>
          <p:cNvSpPr txBox="1"/>
          <p:nvPr/>
        </p:nvSpPr>
        <p:spPr>
          <a:xfrm>
            <a:off x="2543529" y="247248"/>
            <a:ext cx="13756779" cy="690372"/>
          </a:xfrm>
          <a:prstGeom prst="rect">
            <a:avLst/>
          </a:prstGeom>
        </p:spPr>
        <p:txBody>
          <a:bodyPr lIns="0" tIns="0" rIns="0" bIns="0" rtlCol="0" anchor="t">
            <a:spAutoFit/>
          </a:bodyPr>
          <a:lstStyle/>
          <a:p>
            <a:pPr algn="ctr">
              <a:lnSpc>
                <a:spcPts val="5543"/>
              </a:lnSpc>
              <a:spcBef>
                <a:spcPct val="0"/>
              </a:spcBef>
            </a:pPr>
            <a:r>
              <a:rPr lang="en-US" sz="4399">
                <a:solidFill>
                  <a:srgbClr val="FAFCFC"/>
                </a:solidFill>
                <a:latin typeface="League Spartan"/>
                <a:ea typeface="League Spartan"/>
                <a:cs typeface="League Spartan"/>
                <a:sym typeface="League Spartan"/>
              </a:rPr>
              <a:t>Model-Free Reinforcement Learning Algorithms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BB56"/>
        </a:solidFill>
        <a:effectLst/>
      </p:bgPr>
    </p:bg>
    <p:spTree>
      <p:nvGrpSpPr>
        <p:cNvPr id="1" name=""/>
        <p:cNvGrpSpPr/>
        <p:nvPr/>
      </p:nvGrpSpPr>
      <p:grpSpPr>
        <a:xfrm>
          <a:off x="0" y="0"/>
          <a:ext cx="0" cy="0"/>
          <a:chOff x="0" y="0"/>
          <a:chExt cx="0" cy="0"/>
        </a:xfrm>
      </p:grpSpPr>
      <p:grpSp>
        <p:nvGrpSpPr>
          <p:cNvPr id="2" name="Group 2"/>
          <p:cNvGrpSpPr/>
          <p:nvPr/>
        </p:nvGrpSpPr>
        <p:grpSpPr>
          <a:xfrm>
            <a:off x="14429702" y="8083658"/>
            <a:ext cx="1897484" cy="1061551"/>
            <a:chOff x="0" y="0"/>
            <a:chExt cx="726425" cy="406400"/>
          </a:xfrm>
        </p:grpSpPr>
        <p:sp>
          <p:nvSpPr>
            <p:cNvPr id="3" name="Freeform 3"/>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4" name="Group 4"/>
          <p:cNvGrpSpPr/>
          <p:nvPr/>
        </p:nvGrpSpPr>
        <p:grpSpPr>
          <a:xfrm>
            <a:off x="15333271" y="8226533"/>
            <a:ext cx="775800" cy="775800"/>
            <a:chOff x="0" y="0"/>
            <a:chExt cx="1034400" cy="1034400"/>
          </a:xfrm>
        </p:grpSpPr>
        <p:sp>
          <p:nvSpPr>
            <p:cNvPr id="5" name="Freeform 5"/>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6" name="Freeform 6"/>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grpSp>
      <p:sp>
        <p:nvSpPr>
          <p:cNvPr id="7" name="Freeform 7"/>
          <p:cNvSpPr/>
          <p:nvPr/>
        </p:nvSpPr>
        <p:spPr>
          <a:xfrm flipH="1">
            <a:off x="0" y="5880316"/>
            <a:ext cx="4406684" cy="4406684"/>
          </a:xfrm>
          <a:custGeom>
            <a:avLst/>
            <a:gdLst/>
            <a:ahLst/>
            <a:cxnLst/>
            <a:rect l="l" t="t" r="r" b="b"/>
            <a:pathLst>
              <a:path w="4406684" h="4406684">
                <a:moveTo>
                  <a:pt x="4406684" y="0"/>
                </a:moveTo>
                <a:lnTo>
                  <a:pt x="0" y="0"/>
                </a:lnTo>
                <a:lnTo>
                  <a:pt x="0" y="4406684"/>
                </a:lnTo>
                <a:lnTo>
                  <a:pt x="4406684" y="4406684"/>
                </a:lnTo>
                <a:lnTo>
                  <a:pt x="440668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8" name="Freeform 8"/>
          <p:cNvSpPr/>
          <p:nvPr/>
        </p:nvSpPr>
        <p:spPr>
          <a:xfrm>
            <a:off x="12234351" y="4648813"/>
            <a:ext cx="1936133" cy="1936133"/>
          </a:xfrm>
          <a:custGeom>
            <a:avLst/>
            <a:gdLst/>
            <a:ahLst/>
            <a:cxnLst/>
            <a:rect l="l" t="t" r="r" b="b"/>
            <a:pathLst>
              <a:path w="1936133" h="1936133">
                <a:moveTo>
                  <a:pt x="0" y="0"/>
                </a:moveTo>
                <a:lnTo>
                  <a:pt x="1936133" y="0"/>
                </a:lnTo>
                <a:lnTo>
                  <a:pt x="1936133" y="1936133"/>
                </a:lnTo>
                <a:lnTo>
                  <a:pt x="0" y="19361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
        <p:nvSpPr>
          <p:cNvPr id="9" name="Freeform 9"/>
          <p:cNvSpPr/>
          <p:nvPr/>
        </p:nvSpPr>
        <p:spPr>
          <a:xfrm>
            <a:off x="13911267" y="3846909"/>
            <a:ext cx="518435" cy="518435"/>
          </a:xfrm>
          <a:custGeom>
            <a:avLst/>
            <a:gdLst/>
            <a:ahLst/>
            <a:cxnLst/>
            <a:rect l="l" t="t" r="r" b="b"/>
            <a:pathLst>
              <a:path w="518435" h="518435">
                <a:moveTo>
                  <a:pt x="0" y="0"/>
                </a:moveTo>
                <a:lnTo>
                  <a:pt x="518435" y="0"/>
                </a:lnTo>
                <a:lnTo>
                  <a:pt x="518435" y="518436"/>
                </a:lnTo>
                <a:lnTo>
                  <a:pt x="0" y="51843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CA"/>
          </a:p>
        </p:txBody>
      </p:sp>
      <p:grpSp>
        <p:nvGrpSpPr>
          <p:cNvPr id="10" name="Group 10"/>
          <p:cNvGrpSpPr/>
          <p:nvPr/>
        </p:nvGrpSpPr>
        <p:grpSpPr>
          <a:xfrm>
            <a:off x="1234319" y="3846909"/>
            <a:ext cx="14486852" cy="3815660"/>
            <a:chOff x="0" y="0"/>
            <a:chExt cx="4192750" cy="1104319"/>
          </a:xfrm>
        </p:grpSpPr>
        <p:sp>
          <p:nvSpPr>
            <p:cNvPr id="11" name="Freeform 11"/>
            <p:cNvSpPr/>
            <p:nvPr/>
          </p:nvSpPr>
          <p:spPr>
            <a:xfrm>
              <a:off x="0" y="0"/>
              <a:ext cx="4192751" cy="1104320"/>
            </a:xfrm>
            <a:custGeom>
              <a:avLst/>
              <a:gdLst/>
              <a:ahLst/>
              <a:cxnLst/>
              <a:rect l="l" t="t" r="r" b="b"/>
              <a:pathLst>
                <a:path w="4192751" h="1104320">
                  <a:moveTo>
                    <a:pt x="4068290" y="1104319"/>
                  </a:moveTo>
                  <a:lnTo>
                    <a:pt x="124460" y="1104319"/>
                  </a:lnTo>
                  <a:cubicBezTo>
                    <a:pt x="55880" y="1104319"/>
                    <a:pt x="0" y="1048439"/>
                    <a:pt x="0" y="979859"/>
                  </a:cubicBezTo>
                  <a:lnTo>
                    <a:pt x="0" y="124460"/>
                  </a:lnTo>
                  <a:cubicBezTo>
                    <a:pt x="0" y="55880"/>
                    <a:pt x="55880" y="0"/>
                    <a:pt x="124460" y="0"/>
                  </a:cubicBezTo>
                  <a:lnTo>
                    <a:pt x="4068290" y="0"/>
                  </a:lnTo>
                  <a:cubicBezTo>
                    <a:pt x="4136870" y="0"/>
                    <a:pt x="4192751" y="55880"/>
                    <a:pt x="4192751" y="124460"/>
                  </a:cubicBezTo>
                  <a:lnTo>
                    <a:pt x="4192751" y="979859"/>
                  </a:lnTo>
                  <a:cubicBezTo>
                    <a:pt x="4192751" y="1048439"/>
                    <a:pt x="4136870" y="1104320"/>
                    <a:pt x="4068290" y="1104320"/>
                  </a:cubicBezTo>
                  <a:close/>
                </a:path>
              </a:pathLst>
            </a:custGeom>
            <a:solidFill>
              <a:srgbClr val="F8F4EB"/>
            </a:solidFill>
          </p:spPr>
          <p:txBody>
            <a:bodyPr/>
            <a:lstStyle/>
            <a:p>
              <a:endParaRPr lang="en-CA"/>
            </a:p>
          </p:txBody>
        </p:sp>
      </p:grpSp>
      <p:sp>
        <p:nvSpPr>
          <p:cNvPr id="12" name="TextBox 12"/>
          <p:cNvSpPr txBox="1"/>
          <p:nvPr/>
        </p:nvSpPr>
        <p:spPr>
          <a:xfrm>
            <a:off x="1746768" y="4396611"/>
            <a:ext cx="13157803" cy="2399696"/>
          </a:xfrm>
          <a:prstGeom prst="rect">
            <a:avLst/>
          </a:prstGeom>
        </p:spPr>
        <p:txBody>
          <a:bodyPr lIns="0" tIns="0" rIns="0" bIns="0" rtlCol="0" anchor="t">
            <a:spAutoFit/>
          </a:bodyPr>
          <a:lstStyle/>
          <a:p>
            <a:pPr marL="0" lvl="0" indent="0" algn="l">
              <a:lnSpc>
                <a:spcPts val="3764"/>
              </a:lnSpc>
              <a:spcBef>
                <a:spcPct val="0"/>
              </a:spcBef>
            </a:pPr>
            <a:r>
              <a:rPr lang="en-US" sz="2650" dirty="0">
                <a:solidFill>
                  <a:srgbClr val="454699"/>
                </a:solidFill>
                <a:latin typeface="Roboto"/>
                <a:ea typeface="Roboto"/>
                <a:cs typeface="Roboto"/>
                <a:sym typeface="Roboto"/>
              </a:rPr>
              <a:t>Self-Driving cars, particularly </a:t>
            </a:r>
            <a:r>
              <a:rPr lang="en-US" sz="2650" b="1" dirty="0">
                <a:solidFill>
                  <a:srgbClr val="454699"/>
                </a:solidFill>
                <a:latin typeface="Roboto Bold"/>
                <a:ea typeface="Roboto Bold"/>
                <a:cs typeface="Roboto Bold"/>
                <a:sym typeface="Roboto Bold"/>
              </a:rPr>
              <a:t>Autonomous Vehicles Te</a:t>
            </a:r>
            <a:r>
              <a:rPr lang="en-US" sz="2650" b="1" u="none" dirty="0">
                <a:solidFill>
                  <a:srgbClr val="454699"/>
                </a:solidFill>
                <a:latin typeface="Roboto Bold"/>
                <a:ea typeface="Roboto Bold"/>
                <a:cs typeface="Roboto Bold"/>
                <a:sym typeface="Roboto Bold"/>
              </a:rPr>
              <a:t>chnology</a:t>
            </a:r>
            <a:r>
              <a:rPr lang="en-US" sz="2650" u="none" dirty="0">
                <a:solidFill>
                  <a:srgbClr val="454699"/>
                </a:solidFill>
                <a:latin typeface="Roboto"/>
                <a:ea typeface="Roboto"/>
                <a:cs typeface="Roboto"/>
                <a:sym typeface="Roboto"/>
              </a:rPr>
              <a:t> has been touted to revolutionize our roads with the promise of reducing road accidents, drunk driving, congestion, energy consumption and emissions/pollutions etc. While true and promising, the technology adoption is still nascent due to its direct correlation with human lives and properties, therefore safety must be paramount.</a:t>
            </a:r>
          </a:p>
        </p:txBody>
      </p:sp>
      <p:sp>
        <p:nvSpPr>
          <p:cNvPr id="13" name="TextBox 13"/>
          <p:cNvSpPr txBox="1"/>
          <p:nvPr/>
        </p:nvSpPr>
        <p:spPr>
          <a:xfrm>
            <a:off x="1038225" y="981075"/>
            <a:ext cx="14009827" cy="2526997"/>
          </a:xfrm>
          <a:prstGeom prst="rect">
            <a:avLst/>
          </a:prstGeom>
        </p:spPr>
        <p:txBody>
          <a:bodyPr lIns="0" tIns="0" rIns="0" bIns="0" rtlCol="0" anchor="t">
            <a:spAutoFit/>
          </a:bodyPr>
          <a:lstStyle/>
          <a:p>
            <a:pPr marL="0" lvl="0" indent="0" algn="l">
              <a:lnSpc>
                <a:spcPts val="10080"/>
              </a:lnSpc>
              <a:spcBef>
                <a:spcPct val="0"/>
              </a:spcBef>
            </a:pPr>
            <a:r>
              <a:rPr lang="en-US" sz="8000" b="1">
                <a:solidFill>
                  <a:srgbClr val="454699"/>
                </a:solidFill>
                <a:latin typeface="League Spartan"/>
                <a:ea typeface="League Spartan"/>
                <a:cs typeface="League Spartan"/>
                <a:sym typeface="League Spartan"/>
              </a:rPr>
              <a:t>S</a:t>
            </a:r>
            <a:r>
              <a:rPr lang="en-US" sz="8000" b="1" u="none">
                <a:solidFill>
                  <a:srgbClr val="454699"/>
                </a:solidFill>
                <a:latin typeface="League Spartan"/>
                <a:ea typeface="League Spartan"/>
                <a:cs typeface="League Spartan"/>
                <a:sym typeface="League Spartan"/>
              </a:rPr>
              <a:t>AFETY IN SELF-DRIVING VEHICLES</a:t>
            </a:r>
          </a:p>
        </p:txBody>
      </p:sp>
      <p:sp>
        <p:nvSpPr>
          <p:cNvPr id="14" name="Freeform 14"/>
          <p:cNvSpPr/>
          <p:nvPr/>
        </p:nvSpPr>
        <p:spPr>
          <a:xfrm rot="5400000">
            <a:off x="16921938" y="1813032"/>
            <a:ext cx="1821416" cy="910708"/>
          </a:xfrm>
          <a:custGeom>
            <a:avLst/>
            <a:gdLst/>
            <a:ahLst/>
            <a:cxnLst/>
            <a:rect l="l" t="t" r="r" b="b"/>
            <a:pathLst>
              <a:path w="1821416" h="910708">
                <a:moveTo>
                  <a:pt x="0" y="0"/>
                </a:moveTo>
                <a:lnTo>
                  <a:pt x="1821416" y="0"/>
                </a:lnTo>
                <a:lnTo>
                  <a:pt x="1821416" y="910708"/>
                </a:lnTo>
                <a:lnTo>
                  <a:pt x="0" y="91070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CA"/>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B0E4"/>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206024" y="2047673"/>
            <a:ext cx="15223667" cy="6165091"/>
            <a:chOff x="0" y="0"/>
            <a:chExt cx="4054691" cy="1642018"/>
          </a:xfrm>
        </p:grpSpPr>
        <p:sp>
          <p:nvSpPr>
            <p:cNvPr id="4" name="Freeform 4"/>
            <p:cNvSpPr/>
            <p:nvPr/>
          </p:nvSpPr>
          <p:spPr>
            <a:xfrm>
              <a:off x="0" y="0"/>
              <a:ext cx="4054691" cy="1642018"/>
            </a:xfrm>
            <a:custGeom>
              <a:avLst/>
              <a:gdLst/>
              <a:ahLst/>
              <a:cxnLst/>
              <a:rect l="l" t="t" r="r" b="b"/>
              <a:pathLst>
                <a:path w="4054691" h="1642018">
                  <a:moveTo>
                    <a:pt x="3930231" y="1642018"/>
                  </a:moveTo>
                  <a:lnTo>
                    <a:pt x="124460" y="1642018"/>
                  </a:lnTo>
                  <a:cubicBezTo>
                    <a:pt x="55880" y="1642018"/>
                    <a:pt x="0" y="1586138"/>
                    <a:pt x="0" y="1517558"/>
                  </a:cubicBezTo>
                  <a:lnTo>
                    <a:pt x="0" y="124460"/>
                  </a:lnTo>
                  <a:cubicBezTo>
                    <a:pt x="0" y="55880"/>
                    <a:pt x="55880" y="0"/>
                    <a:pt x="124460" y="0"/>
                  </a:cubicBezTo>
                  <a:lnTo>
                    <a:pt x="3930231" y="0"/>
                  </a:lnTo>
                  <a:cubicBezTo>
                    <a:pt x="3998811" y="0"/>
                    <a:pt x="4054691" y="55880"/>
                    <a:pt x="4054691" y="124460"/>
                  </a:cubicBezTo>
                  <a:lnTo>
                    <a:pt x="4054691" y="1517558"/>
                  </a:lnTo>
                  <a:cubicBezTo>
                    <a:pt x="4054691" y="1586138"/>
                    <a:pt x="3998811" y="1642018"/>
                    <a:pt x="3930231" y="1642018"/>
                  </a:cubicBezTo>
                  <a:close/>
                </a:path>
              </a:pathLst>
            </a:custGeom>
            <a:solidFill>
              <a:srgbClr val="F8F4EB"/>
            </a:solidFill>
          </p:spPr>
          <p:txBody>
            <a:bodyPr/>
            <a:lstStyle/>
            <a:p>
              <a:endParaRPr lang="en-CA"/>
            </a:p>
          </p:txBody>
        </p:sp>
      </p:grpSp>
      <p:sp>
        <p:nvSpPr>
          <p:cNvPr id="5" name="TextBox 5"/>
          <p:cNvSpPr txBox="1"/>
          <p:nvPr/>
        </p:nvSpPr>
        <p:spPr>
          <a:xfrm>
            <a:off x="1568685" y="2383409"/>
            <a:ext cx="14498345" cy="5139227"/>
          </a:xfrm>
          <a:prstGeom prst="rect">
            <a:avLst/>
          </a:prstGeom>
        </p:spPr>
        <p:txBody>
          <a:bodyPr lIns="0" tIns="0" rIns="0" bIns="0" rtlCol="0" anchor="t">
            <a:spAutoFit/>
          </a:bodyPr>
          <a:lstStyle/>
          <a:p>
            <a:pPr marL="0" lvl="0" indent="0" algn="l">
              <a:lnSpc>
                <a:spcPts val="3124"/>
              </a:lnSpc>
              <a:spcBef>
                <a:spcPct val="0"/>
              </a:spcBef>
            </a:pPr>
            <a:r>
              <a:rPr lang="en-US" sz="2200" dirty="0">
                <a:solidFill>
                  <a:srgbClr val="454699"/>
                </a:solidFill>
                <a:latin typeface="Roboto"/>
                <a:ea typeface="Roboto"/>
                <a:cs typeface="Roboto"/>
                <a:sym typeface="Roboto"/>
              </a:rPr>
              <a:t>Trolley problem, in moral philosophy, was</a:t>
            </a:r>
            <a:r>
              <a:rPr lang="en-US" sz="2200" u="none" dirty="0">
                <a:solidFill>
                  <a:srgbClr val="454699"/>
                </a:solidFill>
                <a:latin typeface="Roboto"/>
                <a:ea typeface="Roboto"/>
                <a:cs typeface="Roboto"/>
                <a:sym typeface="Roboto"/>
              </a:rPr>
              <a:t> first posed by the contemporary British philosopher Philippa Foot and is used in ethics, psychology, warfare, artificial intelligence etc. It involves ethical dilemmas to allows us to think through the consequence of an action and consider whether it’s moral value is determined solely by its outcome.</a:t>
            </a:r>
          </a:p>
          <a:p>
            <a:pPr marL="0" lvl="0" indent="0" algn="l">
              <a:lnSpc>
                <a:spcPts val="3124"/>
              </a:lnSpc>
              <a:spcBef>
                <a:spcPct val="0"/>
              </a:spcBef>
            </a:pPr>
            <a:endParaRPr lang="en-US" sz="2200" u="none" dirty="0">
              <a:solidFill>
                <a:srgbClr val="454699"/>
              </a:solidFill>
              <a:latin typeface="Roboto"/>
              <a:ea typeface="Roboto"/>
              <a:cs typeface="Roboto"/>
              <a:sym typeface="Roboto"/>
            </a:endParaRPr>
          </a:p>
          <a:p>
            <a:pPr marL="0" lvl="0" indent="0" algn="l">
              <a:lnSpc>
                <a:spcPts val="3124"/>
              </a:lnSpc>
              <a:spcBef>
                <a:spcPct val="0"/>
              </a:spcBef>
            </a:pPr>
            <a:r>
              <a:rPr lang="en-US" sz="2200" b="1" u="none" dirty="0">
                <a:solidFill>
                  <a:srgbClr val="454699"/>
                </a:solidFill>
                <a:latin typeface="Roboto Bold"/>
                <a:ea typeface="Roboto Bold"/>
                <a:cs typeface="Roboto Bold"/>
                <a:sym typeface="Roboto Bold"/>
              </a:rPr>
              <a:t>MIT University</a:t>
            </a:r>
            <a:r>
              <a:rPr lang="en-US" sz="2200" u="none" dirty="0">
                <a:solidFill>
                  <a:srgbClr val="454699"/>
                </a:solidFill>
                <a:latin typeface="Roboto"/>
                <a:ea typeface="Roboto"/>
                <a:cs typeface="Roboto"/>
                <a:sym typeface="Roboto"/>
              </a:rPr>
              <a:t> has one specifically for Autonomous Driving scenarios called </a:t>
            </a:r>
            <a:r>
              <a:rPr lang="en-US" sz="2200" b="1" u="none" dirty="0">
                <a:solidFill>
                  <a:srgbClr val="454699"/>
                </a:solidFill>
                <a:latin typeface="Roboto Bold"/>
                <a:ea typeface="Roboto Bold"/>
                <a:cs typeface="Roboto Bold"/>
                <a:sym typeface="Roboto Bold"/>
              </a:rPr>
              <a:t>Moral Machine</a:t>
            </a:r>
            <a:r>
              <a:rPr lang="en-US" sz="2200" u="none" dirty="0">
                <a:solidFill>
                  <a:srgbClr val="454699"/>
                </a:solidFill>
                <a:latin typeface="Roboto"/>
                <a:ea typeface="Roboto"/>
                <a:cs typeface="Roboto"/>
                <a:sym typeface="Roboto"/>
              </a:rPr>
              <a:t> where participants can design their scenarios or browse through other peoples scenarios: </a:t>
            </a:r>
            <a:r>
              <a:rPr lang="en-US" sz="2200" b="1" u="sng" dirty="0">
                <a:solidFill>
                  <a:srgbClr val="454699"/>
                </a:solidFill>
                <a:latin typeface="Roboto Bold"/>
                <a:ea typeface="Roboto Bold"/>
                <a:cs typeface="Roboto Bold"/>
                <a:sym typeface="Roboto Bold"/>
              </a:rPr>
              <a:t>https://www.moralmachine.net</a:t>
            </a:r>
          </a:p>
          <a:p>
            <a:pPr marL="0" lvl="0" indent="0" algn="l">
              <a:lnSpc>
                <a:spcPts val="3124"/>
              </a:lnSpc>
              <a:spcBef>
                <a:spcPct val="0"/>
              </a:spcBef>
            </a:pPr>
            <a:endParaRPr lang="en-US" sz="2200" b="1" u="sng" dirty="0">
              <a:solidFill>
                <a:srgbClr val="454699"/>
              </a:solidFill>
              <a:latin typeface="Roboto Bold"/>
              <a:ea typeface="Roboto Bold"/>
              <a:cs typeface="Roboto Bold"/>
              <a:sym typeface="Roboto Bold"/>
            </a:endParaRPr>
          </a:p>
          <a:p>
            <a:pPr marL="0" lvl="0" indent="0" algn="l">
              <a:lnSpc>
                <a:spcPts val="3124"/>
              </a:lnSpc>
              <a:spcBef>
                <a:spcPct val="0"/>
              </a:spcBef>
            </a:pPr>
            <a:r>
              <a:rPr lang="en-US" sz="2200" u="sng" dirty="0">
                <a:solidFill>
                  <a:srgbClr val="454699"/>
                </a:solidFill>
                <a:latin typeface="Roboto"/>
                <a:ea typeface="Roboto"/>
                <a:cs typeface="Roboto"/>
                <a:sym typeface="Roboto"/>
              </a:rPr>
              <a:t>Let’s take a look at my designed scenario: “</a:t>
            </a:r>
            <a:r>
              <a:rPr lang="en-US" sz="2200" i="1" dirty="0">
                <a:solidFill>
                  <a:srgbClr val="FF3131"/>
                </a:solidFill>
                <a:latin typeface="Roboto Italics"/>
                <a:ea typeface="Roboto Italics"/>
                <a:cs typeface="Roboto Italics"/>
                <a:sym typeface="Roboto Italics"/>
              </a:rPr>
              <a:t>If the breaks of a car fail due to a cyberattack and the car has 2 passenger's in the front seat, a biker without a helmet on the right lane, and a truck in front on a highway going at 150m/h. Then the truck is suddenly forced to an emergency stop in the ‘’</a:t>
            </a:r>
            <a:r>
              <a:rPr lang="en-US" sz="2200" i="1" dirty="0" err="1">
                <a:solidFill>
                  <a:srgbClr val="FF3131"/>
                </a:solidFill>
                <a:latin typeface="Roboto Italics"/>
                <a:ea typeface="Roboto Italics"/>
                <a:cs typeface="Roboto Italics"/>
                <a:sym typeface="Roboto Italics"/>
              </a:rPr>
              <a:t>overtakelane</a:t>
            </a:r>
            <a:r>
              <a:rPr lang="en-US" sz="2200" i="1" dirty="0">
                <a:solidFill>
                  <a:srgbClr val="FF3131"/>
                </a:solidFill>
                <a:latin typeface="Roboto Italics"/>
                <a:ea typeface="Roboto Italics"/>
                <a:cs typeface="Roboto Italics"/>
                <a:sym typeface="Roboto Italics"/>
              </a:rPr>
              <a:t>'' because a dog ran across from the woods, making driving reckless to the other road users on the overtake lane.  Should the AV crash to the biker to reduce speed and possible kill him/her, rear end the truck and possibly kill the two passenger, or hit the curb to potentially kill the passenger at the driver side?</a:t>
            </a:r>
            <a:r>
              <a:rPr lang="en-US" sz="2200" u="sng" dirty="0">
                <a:solidFill>
                  <a:srgbClr val="454699"/>
                </a:solidFill>
                <a:latin typeface="Roboto"/>
                <a:ea typeface="Roboto"/>
                <a:cs typeface="Roboto"/>
                <a:sym typeface="Roboto"/>
              </a:rPr>
              <a:t>”</a:t>
            </a:r>
          </a:p>
        </p:txBody>
      </p:sp>
      <p:sp>
        <p:nvSpPr>
          <p:cNvPr id="6" name="TextBox 6"/>
          <p:cNvSpPr txBox="1"/>
          <p:nvPr/>
        </p:nvSpPr>
        <p:spPr>
          <a:xfrm>
            <a:off x="2035633" y="408051"/>
            <a:ext cx="15223667" cy="881252"/>
          </a:xfrm>
          <a:prstGeom prst="rect">
            <a:avLst/>
          </a:prstGeom>
        </p:spPr>
        <p:txBody>
          <a:bodyPr lIns="0" tIns="0" rIns="0" bIns="0" rtlCol="0" anchor="t">
            <a:spAutoFit/>
          </a:bodyPr>
          <a:lstStyle/>
          <a:p>
            <a:pPr marL="0" lvl="0" indent="0" algn="l">
              <a:lnSpc>
                <a:spcPts val="7056"/>
              </a:lnSpc>
              <a:spcBef>
                <a:spcPct val="0"/>
              </a:spcBef>
            </a:pPr>
            <a:r>
              <a:rPr lang="en-US" sz="5600" b="1">
                <a:solidFill>
                  <a:srgbClr val="454699"/>
                </a:solidFill>
                <a:latin typeface="League Spartan"/>
                <a:ea typeface="League Spartan"/>
                <a:cs typeface="League Spartan"/>
                <a:sym typeface="League Spartan"/>
              </a:rPr>
              <a:t>ETHICS IN AUTONOMOUS VEHICLES</a:t>
            </a:r>
          </a:p>
        </p:txBody>
      </p:sp>
      <p:grpSp>
        <p:nvGrpSpPr>
          <p:cNvPr id="7" name="Group 7"/>
          <p:cNvGrpSpPr/>
          <p:nvPr/>
        </p:nvGrpSpPr>
        <p:grpSpPr>
          <a:xfrm>
            <a:off x="15673546" y="8212763"/>
            <a:ext cx="1897484" cy="1061551"/>
            <a:chOff x="0" y="0"/>
            <a:chExt cx="726425" cy="406400"/>
          </a:xfrm>
        </p:grpSpPr>
        <p:sp>
          <p:nvSpPr>
            <p:cNvPr id="8" name="Freeform 8"/>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9" name="Group 9"/>
          <p:cNvGrpSpPr/>
          <p:nvPr/>
        </p:nvGrpSpPr>
        <p:grpSpPr>
          <a:xfrm>
            <a:off x="16669913" y="8355639"/>
            <a:ext cx="775800" cy="775800"/>
            <a:chOff x="0" y="0"/>
            <a:chExt cx="1034400" cy="1034400"/>
          </a:xfrm>
        </p:grpSpPr>
        <p:sp>
          <p:nvSpPr>
            <p:cNvPr id="10" name="Freeform 10"/>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1" name="Freeform 11"/>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
        <p:nvSpPr>
          <p:cNvPr id="12" name="Freeform 12"/>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15361816" y="8306739"/>
            <a:ext cx="1897484" cy="1061551"/>
            <a:chOff x="0" y="0"/>
            <a:chExt cx="726425" cy="406400"/>
          </a:xfrm>
        </p:grpSpPr>
        <p:sp>
          <p:nvSpPr>
            <p:cNvPr id="3" name="Freeform 3"/>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F8F4EB">
                <a:alpha val="7843"/>
              </a:srgbClr>
            </a:solidFill>
          </p:spPr>
          <p:txBody>
            <a:bodyPr/>
            <a:lstStyle/>
            <a:p>
              <a:endParaRPr lang="en-CA"/>
            </a:p>
          </p:txBody>
        </p:sp>
      </p:grpSp>
      <p:sp>
        <p:nvSpPr>
          <p:cNvPr id="4" name="Freeform 4"/>
          <p:cNvSpPr/>
          <p:nvPr/>
        </p:nvSpPr>
        <p:spPr>
          <a:xfrm>
            <a:off x="16358183" y="8449615"/>
            <a:ext cx="775800" cy="775800"/>
          </a:xfrm>
          <a:custGeom>
            <a:avLst/>
            <a:gdLst/>
            <a:ahLst/>
            <a:cxnLst/>
            <a:rect l="l" t="t" r="r" b="b"/>
            <a:pathLst>
              <a:path w="775800" h="775800">
                <a:moveTo>
                  <a:pt x="0" y="0"/>
                </a:moveTo>
                <a:lnTo>
                  <a:pt x="775800" y="0"/>
                </a:lnTo>
                <a:lnTo>
                  <a:pt x="775800" y="775800"/>
                </a:lnTo>
                <a:lnTo>
                  <a:pt x="0" y="775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5" name="Freeform 5"/>
          <p:cNvSpPr/>
          <p:nvPr/>
        </p:nvSpPr>
        <p:spPr>
          <a:xfrm>
            <a:off x="16473625" y="8565057"/>
            <a:ext cx="544916" cy="544916"/>
          </a:xfrm>
          <a:custGeom>
            <a:avLst/>
            <a:gdLst/>
            <a:ahLst/>
            <a:cxnLst/>
            <a:rect l="l" t="t" r="r" b="b"/>
            <a:pathLst>
              <a:path w="544916" h="544916">
                <a:moveTo>
                  <a:pt x="0" y="0"/>
                </a:moveTo>
                <a:lnTo>
                  <a:pt x="544916" y="0"/>
                </a:lnTo>
                <a:lnTo>
                  <a:pt x="544916" y="544916"/>
                </a:lnTo>
                <a:lnTo>
                  <a:pt x="0" y="5449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6" name="TextBox 6"/>
          <p:cNvSpPr txBox="1"/>
          <p:nvPr/>
        </p:nvSpPr>
        <p:spPr>
          <a:xfrm>
            <a:off x="9717979" y="968596"/>
            <a:ext cx="8570021" cy="4818888"/>
          </a:xfrm>
          <a:prstGeom prst="rect">
            <a:avLst/>
          </a:prstGeom>
        </p:spPr>
        <p:txBody>
          <a:bodyPr lIns="0" tIns="0" rIns="0" bIns="0" rtlCol="0" anchor="t">
            <a:spAutoFit/>
          </a:bodyPr>
          <a:lstStyle/>
          <a:p>
            <a:pPr marL="0" lvl="0" indent="0" algn="r">
              <a:lnSpc>
                <a:spcPts val="9576"/>
              </a:lnSpc>
              <a:spcBef>
                <a:spcPct val="0"/>
              </a:spcBef>
            </a:pPr>
            <a:r>
              <a:rPr lang="en-US" sz="7600" b="1">
                <a:solidFill>
                  <a:srgbClr val="F8F4EB"/>
                </a:solidFill>
                <a:latin typeface="League Spartan"/>
                <a:ea typeface="League Spartan"/>
                <a:cs typeface="League Spartan"/>
                <a:sym typeface="League Spartan"/>
              </a:rPr>
              <a:t>WHY IS AUTONOMOUS DRIVING SAFETY DIFFICULT</a:t>
            </a:r>
          </a:p>
        </p:txBody>
      </p:sp>
      <p:sp>
        <p:nvSpPr>
          <p:cNvPr id="7" name="Freeform 7"/>
          <p:cNvSpPr/>
          <p:nvPr/>
        </p:nvSpPr>
        <p:spPr>
          <a:xfrm rot="5400000" flipH="1">
            <a:off x="0" y="0"/>
            <a:ext cx="5143500" cy="5143500"/>
          </a:xfrm>
          <a:custGeom>
            <a:avLst/>
            <a:gdLst/>
            <a:ahLst/>
            <a:cxnLst/>
            <a:rect l="l" t="t" r="r" b="b"/>
            <a:pathLst>
              <a:path w="5143500" h="5143500">
                <a:moveTo>
                  <a:pt x="5143500" y="0"/>
                </a:moveTo>
                <a:lnTo>
                  <a:pt x="0" y="0"/>
                </a:lnTo>
                <a:lnTo>
                  <a:pt x="0" y="5143500"/>
                </a:lnTo>
                <a:lnTo>
                  <a:pt x="5143500" y="5143500"/>
                </a:lnTo>
                <a:lnTo>
                  <a:pt x="514350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nvGrpSpPr>
          <p:cNvPr id="8" name="Group 8"/>
          <p:cNvGrpSpPr/>
          <p:nvPr/>
        </p:nvGrpSpPr>
        <p:grpSpPr>
          <a:xfrm>
            <a:off x="334104" y="963934"/>
            <a:ext cx="9152713" cy="8404356"/>
            <a:chOff x="0" y="0"/>
            <a:chExt cx="1978598" cy="1816821"/>
          </a:xfrm>
        </p:grpSpPr>
        <p:sp>
          <p:nvSpPr>
            <p:cNvPr id="9" name="Freeform 9"/>
            <p:cNvSpPr/>
            <p:nvPr/>
          </p:nvSpPr>
          <p:spPr>
            <a:xfrm>
              <a:off x="0" y="0"/>
              <a:ext cx="1978598" cy="1816821"/>
            </a:xfrm>
            <a:custGeom>
              <a:avLst/>
              <a:gdLst/>
              <a:ahLst/>
              <a:cxnLst/>
              <a:rect l="l" t="t" r="r" b="b"/>
              <a:pathLst>
                <a:path w="1978598" h="1816821">
                  <a:moveTo>
                    <a:pt x="1854138" y="1816821"/>
                  </a:moveTo>
                  <a:lnTo>
                    <a:pt x="124460" y="1816821"/>
                  </a:lnTo>
                  <a:cubicBezTo>
                    <a:pt x="55880" y="1816821"/>
                    <a:pt x="0" y="1760941"/>
                    <a:pt x="0" y="1692361"/>
                  </a:cubicBezTo>
                  <a:lnTo>
                    <a:pt x="0" y="124460"/>
                  </a:lnTo>
                  <a:cubicBezTo>
                    <a:pt x="0" y="55880"/>
                    <a:pt x="55880" y="0"/>
                    <a:pt x="124460" y="0"/>
                  </a:cubicBezTo>
                  <a:lnTo>
                    <a:pt x="1854138" y="0"/>
                  </a:lnTo>
                  <a:cubicBezTo>
                    <a:pt x="1922718" y="0"/>
                    <a:pt x="1978598" y="55880"/>
                    <a:pt x="1978598" y="124460"/>
                  </a:cubicBezTo>
                  <a:lnTo>
                    <a:pt x="1978598" y="1692361"/>
                  </a:lnTo>
                  <a:cubicBezTo>
                    <a:pt x="1978598" y="1760941"/>
                    <a:pt x="1922718" y="1816821"/>
                    <a:pt x="1854138" y="1816821"/>
                  </a:cubicBezTo>
                  <a:close/>
                </a:path>
              </a:pathLst>
            </a:custGeom>
            <a:solidFill>
              <a:srgbClr val="F8F4EB"/>
            </a:solidFill>
          </p:spPr>
          <p:txBody>
            <a:bodyPr/>
            <a:lstStyle/>
            <a:p>
              <a:endParaRPr lang="en-CA"/>
            </a:p>
          </p:txBody>
        </p:sp>
      </p:grpSp>
      <p:sp>
        <p:nvSpPr>
          <p:cNvPr id="10" name="TextBox 10"/>
          <p:cNvSpPr txBox="1"/>
          <p:nvPr/>
        </p:nvSpPr>
        <p:spPr>
          <a:xfrm>
            <a:off x="478883" y="1129838"/>
            <a:ext cx="9007934" cy="8716938"/>
          </a:xfrm>
          <a:prstGeom prst="rect">
            <a:avLst/>
          </a:prstGeom>
        </p:spPr>
        <p:txBody>
          <a:bodyPr lIns="0" tIns="0" rIns="0" bIns="0" rtlCol="0" anchor="t">
            <a:spAutoFit/>
          </a:bodyPr>
          <a:lstStyle/>
          <a:p>
            <a:pPr algn="l">
              <a:lnSpc>
                <a:spcPts val="3115"/>
              </a:lnSpc>
            </a:pPr>
            <a:r>
              <a:rPr lang="en-US" sz="2193" b="1" dirty="0">
                <a:solidFill>
                  <a:srgbClr val="454699"/>
                </a:solidFill>
                <a:latin typeface="Roboto Bold"/>
                <a:ea typeface="Roboto Bold"/>
                <a:cs typeface="Roboto Bold"/>
                <a:sym typeface="Roboto Bold"/>
              </a:rPr>
              <a:t>Public Assurance:</a:t>
            </a:r>
          </a:p>
          <a:p>
            <a:pPr marL="473660" lvl="1" indent="-236830" algn="l">
              <a:lnSpc>
                <a:spcPts val="3115"/>
              </a:lnSpc>
              <a:buFont typeface="Arial"/>
              <a:buChar char="•"/>
            </a:pPr>
            <a:r>
              <a:rPr lang="en-US" sz="2193" u="none" dirty="0">
                <a:solidFill>
                  <a:srgbClr val="454699"/>
                </a:solidFill>
                <a:latin typeface="Roboto"/>
                <a:ea typeface="Roboto"/>
                <a:cs typeface="Roboto"/>
                <a:sym typeface="Roboto"/>
              </a:rPr>
              <a:t>Expectation of super human level </a:t>
            </a:r>
            <a:r>
              <a:rPr lang="en-US" sz="2193" dirty="0">
                <a:solidFill>
                  <a:srgbClr val="454699"/>
                </a:solidFill>
                <a:latin typeface="Roboto"/>
                <a:ea typeface="Roboto"/>
                <a:cs typeface="Roboto"/>
                <a:sym typeface="Roboto"/>
              </a:rPr>
              <a:t>for</a:t>
            </a:r>
            <a:r>
              <a:rPr lang="en-US" sz="2193" u="none" dirty="0">
                <a:solidFill>
                  <a:srgbClr val="454699"/>
                </a:solidFill>
                <a:latin typeface="Roboto"/>
                <a:ea typeface="Roboto"/>
                <a:cs typeface="Roboto"/>
                <a:sym typeface="Roboto"/>
              </a:rPr>
              <a:t> machine performance immediately.</a:t>
            </a:r>
          </a:p>
          <a:p>
            <a:pPr marL="473660" lvl="1" indent="-236830" algn="l">
              <a:lnSpc>
                <a:spcPts val="3115"/>
              </a:lnSpc>
              <a:buFont typeface="Arial"/>
              <a:buChar char="•"/>
            </a:pPr>
            <a:r>
              <a:rPr lang="en-US" sz="2193" u="none" dirty="0">
                <a:solidFill>
                  <a:srgbClr val="454699"/>
                </a:solidFill>
                <a:latin typeface="Roboto"/>
                <a:ea typeface="Roboto"/>
                <a:cs typeface="Roboto"/>
                <a:sym typeface="Roboto"/>
              </a:rPr>
              <a:t>Trust is easily given, and extreme distrust when an accident occurs.</a:t>
            </a:r>
          </a:p>
          <a:p>
            <a:pPr marL="473660" lvl="1" indent="-236830" algn="l">
              <a:lnSpc>
                <a:spcPts val="3115"/>
              </a:lnSpc>
              <a:buFont typeface="Arial"/>
              <a:buChar char="•"/>
            </a:pPr>
            <a:r>
              <a:rPr lang="en-US" sz="2193" u="none" dirty="0">
                <a:solidFill>
                  <a:srgbClr val="454699"/>
                </a:solidFill>
                <a:latin typeface="Roboto"/>
                <a:ea typeface="Roboto"/>
                <a:cs typeface="Roboto"/>
                <a:sym typeface="Roboto"/>
              </a:rPr>
              <a:t>AV vendors cannot just put autonomous vehicles on the road without state licenses as it’s a recipe for chaos. Proper simulation, track testing and public road testing during off-hours must be conducted first.</a:t>
            </a:r>
          </a:p>
          <a:p>
            <a:pPr algn="l">
              <a:lnSpc>
                <a:spcPts val="3115"/>
              </a:lnSpc>
            </a:pPr>
            <a:endParaRPr lang="en-US" sz="2193" u="none" dirty="0">
              <a:solidFill>
                <a:srgbClr val="454699"/>
              </a:solidFill>
              <a:latin typeface="Roboto"/>
              <a:ea typeface="Roboto"/>
              <a:cs typeface="Roboto"/>
              <a:sym typeface="Roboto"/>
            </a:endParaRPr>
          </a:p>
          <a:p>
            <a:pPr algn="l">
              <a:lnSpc>
                <a:spcPts val="3115"/>
              </a:lnSpc>
            </a:pPr>
            <a:r>
              <a:rPr lang="en-US" sz="2193" b="1" u="none" dirty="0">
                <a:solidFill>
                  <a:srgbClr val="454699"/>
                </a:solidFill>
                <a:latin typeface="Roboto Bold"/>
                <a:ea typeface="Roboto Bold"/>
                <a:cs typeface="Roboto Bold"/>
                <a:sym typeface="Roboto Bold"/>
              </a:rPr>
              <a:t>Industry Standard:</a:t>
            </a:r>
          </a:p>
          <a:p>
            <a:pPr marL="473660" lvl="1" indent="-236830" algn="l">
              <a:lnSpc>
                <a:spcPts val="3115"/>
              </a:lnSpc>
              <a:buFont typeface="Arial"/>
              <a:buChar char="•"/>
            </a:pPr>
            <a:r>
              <a:rPr lang="en-US" sz="2193" u="none" dirty="0">
                <a:solidFill>
                  <a:srgbClr val="454699"/>
                </a:solidFill>
                <a:latin typeface="Roboto"/>
                <a:ea typeface="Roboto"/>
                <a:cs typeface="Roboto"/>
                <a:sym typeface="Roboto"/>
              </a:rPr>
              <a:t>Traditional Safety Regulators are still struggling to understand software, AI centric framework and test in the automotive sector.</a:t>
            </a:r>
          </a:p>
          <a:p>
            <a:pPr marL="473660" lvl="1" indent="-236830" algn="l">
              <a:lnSpc>
                <a:spcPts val="3115"/>
              </a:lnSpc>
              <a:buFont typeface="Arial"/>
              <a:buChar char="•"/>
            </a:pPr>
            <a:r>
              <a:rPr lang="en-US" sz="2193" u="none" dirty="0">
                <a:solidFill>
                  <a:srgbClr val="454699"/>
                </a:solidFill>
                <a:latin typeface="Roboto"/>
                <a:ea typeface="Roboto"/>
                <a:cs typeface="Roboto"/>
                <a:sym typeface="Roboto"/>
              </a:rPr>
              <a:t>While 99% is great, autonomous driving safety requires 99.9999%.</a:t>
            </a:r>
          </a:p>
          <a:p>
            <a:pPr algn="l">
              <a:lnSpc>
                <a:spcPts val="3115"/>
              </a:lnSpc>
            </a:pPr>
            <a:endParaRPr lang="en-US" sz="2193" u="none" dirty="0">
              <a:solidFill>
                <a:srgbClr val="454699"/>
              </a:solidFill>
              <a:latin typeface="Roboto"/>
              <a:ea typeface="Roboto"/>
              <a:cs typeface="Roboto"/>
              <a:sym typeface="Roboto"/>
            </a:endParaRPr>
          </a:p>
          <a:p>
            <a:pPr algn="l">
              <a:lnSpc>
                <a:spcPts val="3115"/>
              </a:lnSpc>
            </a:pPr>
            <a:r>
              <a:rPr lang="en-US" sz="2193" b="1" u="none" dirty="0">
                <a:solidFill>
                  <a:srgbClr val="454699"/>
                </a:solidFill>
                <a:latin typeface="Roboto Bold"/>
                <a:ea typeface="Roboto Bold"/>
                <a:cs typeface="Roboto Bold"/>
                <a:sym typeface="Roboto Bold"/>
              </a:rPr>
              <a:t>Technical Nightmare:</a:t>
            </a:r>
          </a:p>
          <a:p>
            <a:pPr marL="473660" lvl="1" indent="-236830" algn="l">
              <a:lnSpc>
                <a:spcPts val="3115"/>
              </a:lnSpc>
              <a:buFont typeface="Arial"/>
              <a:buChar char="•"/>
            </a:pPr>
            <a:r>
              <a:rPr lang="en-US" sz="2193" u="none" dirty="0">
                <a:solidFill>
                  <a:srgbClr val="454699"/>
                </a:solidFill>
                <a:latin typeface="Roboto"/>
                <a:ea typeface="Roboto"/>
                <a:cs typeface="Roboto"/>
                <a:sym typeface="Roboto"/>
              </a:rPr>
              <a:t>From a game theory perspective, there are lots of rational and irrational players involved in cooperative and competitive games when using the road.</a:t>
            </a:r>
          </a:p>
          <a:p>
            <a:pPr marL="473660" lvl="1" indent="-236830" algn="l">
              <a:lnSpc>
                <a:spcPts val="3115"/>
              </a:lnSpc>
              <a:buFont typeface="Arial"/>
              <a:buChar char="•"/>
            </a:pPr>
            <a:r>
              <a:rPr lang="en-US" sz="2193" u="none" dirty="0">
                <a:solidFill>
                  <a:srgbClr val="454699"/>
                </a:solidFill>
                <a:latin typeface="Roboto"/>
                <a:ea typeface="Roboto"/>
                <a:cs typeface="Roboto"/>
                <a:sym typeface="Roboto"/>
              </a:rPr>
              <a:t>It’s impossible to consider all driving scenarios so engineers have to reimagine the AI algorithms capable of excellent optimization and  generalization to solve this problem.</a:t>
            </a:r>
          </a:p>
          <a:p>
            <a:pPr algn="l">
              <a:lnSpc>
                <a:spcPts val="3115"/>
              </a:lnSpc>
            </a:pPr>
            <a:endParaRPr lang="en-US" sz="2193" u="none" dirty="0">
              <a:solidFill>
                <a:srgbClr val="454699"/>
              </a:solidFill>
              <a:latin typeface="Roboto"/>
              <a:ea typeface="Roboto"/>
              <a:cs typeface="Roboto"/>
              <a:sym typeface="Roboto"/>
            </a:endParaRPr>
          </a:p>
        </p:txBody>
      </p:sp>
      <p:sp>
        <p:nvSpPr>
          <p:cNvPr id="11" name="Freeform 11"/>
          <p:cNvSpPr/>
          <p:nvPr/>
        </p:nvSpPr>
        <p:spPr>
          <a:xfrm rot="-10800000">
            <a:off x="11227296" y="9508565"/>
            <a:ext cx="1556869" cy="778435"/>
          </a:xfrm>
          <a:custGeom>
            <a:avLst/>
            <a:gdLst/>
            <a:ahLst/>
            <a:cxnLst/>
            <a:rect l="l" t="t" r="r" b="b"/>
            <a:pathLst>
              <a:path w="1556869" h="778435">
                <a:moveTo>
                  <a:pt x="0" y="0"/>
                </a:moveTo>
                <a:lnTo>
                  <a:pt x="1556869" y="0"/>
                </a:lnTo>
                <a:lnTo>
                  <a:pt x="1556869" y="778435"/>
                </a:lnTo>
                <a:lnTo>
                  <a:pt x="0" y="7784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15361816" y="8306739"/>
            <a:ext cx="1897484" cy="1061551"/>
            <a:chOff x="0" y="0"/>
            <a:chExt cx="726425" cy="406400"/>
          </a:xfrm>
        </p:grpSpPr>
        <p:sp>
          <p:nvSpPr>
            <p:cNvPr id="3" name="Freeform 3"/>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F8F4EB">
                <a:alpha val="7843"/>
              </a:srgbClr>
            </a:solidFill>
          </p:spPr>
          <p:txBody>
            <a:bodyPr/>
            <a:lstStyle/>
            <a:p>
              <a:endParaRPr lang="en-CA"/>
            </a:p>
          </p:txBody>
        </p:sp>
      </p:grpSp>
      <p:sp>
        <p:nvSpPr>
          <p:cNvPr id="4" name="Freeform 4"/>
          <p:cNvSpPr/>
          <p:nvPr/>
        </p:nvSpPr>
        <p:spPr>
          <a:xfrm>
            <a:off x="16358183" y="8449615"/>
            <a:ext cx="775800" cy="775800"/>
          </a:xfrm>
          <a:custGeom>
            <a:avLst/>
            <a:gdLst/>
            <a:ahLst/>
            <a:cxnLst/>
            <a:rect l="l" t="t" r="r" b="b"/>
            <a:pathLst>
              <a:path w="775800" h="775800">
                <a:moveTo>
                  <a:pt x="0" y="0"/>
                </a:moveTo>
                <a:lnTo>
                  <a:pt x="775800" y="0"/>
                </a:lnTo>
                <a:lnTo>
                  <a:pt x="775800" y="775800"/>
                </a:lnTo>
                <a:lnTo>
                  <a:pt x="0" y="775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5" name="Freeform 5"/>
          <p:cNvSpPr/>
          <p:nvPr/>
        </p:nvSpPr>
        <p:spPr>
          <a:xfrm>
            <a:off x="16473625" y="8565057"/>
            <a:ext cx="544916" cy="544916"/>
          </a:xfrm>
          <a:custGeom>
            <a:avLst/>
            <a:gdLst/>
            <a:ahLst/>
            <a:cxnLst/>
            <a:rect l="l" t="t" r="r" b="b"/>
            <a:pathLst>
              <a:path w="544916" h="544916">
                <a:moveTo>
                  <a:pt x="0" y="0"/>
                </a:moveTo>
                <a:lnTo>
                  <a:pt x="544916" y="0"/>
                </a:lnTo>
                <a:lnTo>
                  <a:pt x="544916" y="544916"/>
                </a:lnTo>
                <a:lnTo>
                  <a:pt x="0" y="5449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6" name="TextBox 6"/>
          <p:cNvSpPr txBox="1"/>
          <p:nvPr/>
        </p:nvSpPr>
        <p:spPr>
          <a:xfrm>
            <a:off x="9717979" y="968596"/>
            <a:ext cx="8570021" cy="6028563"/>
          </a:xfrm>
          <a:prstGeom prst="rect">
            <a:avLst/>
          </a:prstGeom>
        </p:spPr>
        <p:txBody>
          <a:bodyPr lIns="0" tIns="0" rIns="0" bIns="0" rtlCol="0" anchor="t">
            <a:spAutoFit/>
          </a:bodyPr>
          <a:lstStyle/>
          <a:p>
            <a:pPr marL="0" lvl="0" indent="0" algn="r">
              <a:lnSpc>
                <a:spcPts val="9576"/>
              </a:lnSpc>
              <a:spcBef>
                <a:spcPct val="0"/>
              </a:spcBef>
            </a:pPr>
            <a:r>
              <a:rPr lang="en-US" sz="7600" b="1">
                <a:solidFill>
                  <a:srgbClr val="F8F4EB"/>
                </a:solidFill>
                <a:latin typeface="League Spartan"/>
                <a:ea typeface="League Spartan"/>
                <a:cs typeface="League Spartan"/>
                <a:sym typeface="League Spartan"/>
              </a:rPr>
              <a:t>WHY IS AUTONOMOUS DRIVING SAFETY A TECHNICAL NIGHTMARE</a:t>
            </a:r>
          </a:p>
        </p:txBody>
      </p:sp>
      <p:sp>
        <p:nvSpPr>
          <p:cNvPr id="7" name="Freeform 7"/>
          <p:cNvSpPr/>
          <p:nvPr/>
        </p:nvSpPr>
        <p:spPr>
          <a:xfrm rot="5400000" flipH="1">
            <a:off x="0" y="0"/>
            <a:ext cx="5143500" cy="5143500"/>
          </a:xfrm>
          <a:custGeom>
            <a:avLst/>
            <a:gdLst/>
            <a:ahLst/>
            <a:cxnLst/>
            <a:rect l="l" t="t" r="r" b="b"/>
            <a:pathLst>
              <a:path w="5143500" h="5143500">
                <a:moveTo>
                  <a:pt x="5143500" y="0"/>
                </a:moveTo>
                <a:lnTo>
                  <a:pt x="0" y="0"/>
                </a:lnTo>
                <a:lnTo>
                  <a:pt x="0" y="5143500"/>
                </a:lnTo>
                <a:lnTo>
                  <a:pt x="5143500" y="5143500"/>
                </a:lnTo>
                <a:lnTo>
                  <a:pt x="514350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nvGrpSpPr>
          <p:cNvPr id="8" name="Group 8"/>
          <p:cNvGrpSpPr/>
          <p:nvPr/>
        </p:nvGrpSpPr>
        <p:grpSpPr>
          <a:xfrm>
            <a:off x="375253" y="152648"/>
            <a:ext cx="9152713" cy="9355918"/>
            <a:chOff x="0" y="0"/>
            <a:chExt cx="1978598" cy="2022526"/>
          </a:xfrm>
        </p:grpSpPr>
        <p:sp>
          <p:nvSpPr>
            <p:cNvPr id="9" name="Freeform 9"/>
            <p:cNvSpPr/>
            <p:nvPr/>
          </p:nvSpPr>
          <p:spPr>
            <a:xfrm>
              <a:off x="0" y="0"/>
              <a:ext cx="1978598" cy="2022526"/>
            </a:xfrm>
            <a:custGeom>
              <a:avLst/>
              <a:gdLst/>
              <a:ahLst/>
              <a:cxnLst/>
              <a:rect l="l" t="t" r="r" b="b"/>
              <a:pathLst>
                <a:path w="1978598" h="2022526">
                  <a:moveTo>
                    <a:pt x="1854138" y="2022526"/>
                  </a:moveTo>
                  <a:lnTo>
                    <a:pt x="124460" y="2022526"/>
                  </a:lnTo>
                  <a:cubicBezTo>
                    <a:pt x="55880" y="2022526"/>
                    <a:pt x="0" y="1966646"/>
                    <a:pt x="0" y="1898066"/>
                  </a:cubicBezTo>
                  <a:lnTo>
                    <a:pt x="0" y="124460"/>
                  </a:lnTo>
                  <a:cubicBezTo>
                    <a:pt x="0" y="55880"/>
                    <a:pt x="55880" y="0"/>
                    <a:pt x="124460" y="0"/>
                  </a:cubicBezTo>
                  <a:lnTo>
                    <a:pt x="1854138" y="0"/>
                  </a:lnTo>
                  <a:cubicBezTo>
                    <a:pt x="1922718" y="0"/>
                    <a:pt x="1978598" y="55880"/>
                    <a:pt x="1978598" y="124460"/>
                  </a:cubicBezTo>
                  <a:lnTo>
                    <a:pt x="1978598" y="1898066"/>
                  </a:lnTo>
                  <a:cubicBezTo>
                    <a:pt x="1978598" y="1966646"/>
                    <a:pt x="1922718" y="2022526"/>
                    <a:pt x="1854138" y="2022526"/>
                  </a:cubicBezTo>
                  <a:close/>
                </a:path>
              </a:pathLst>
            </a:custGeom>
            <a:solidFill>
              <a:srgbClr val="F8F4EB"/>
            </a:solidFill>
          </p:spPr>
          <p:txBody>
            <a:bodyPr/>
            <a:lstStyle/>
            <a:p>
              <a:endParaRPr lang="en-CA"/>
            </a:p>
          </p:txBody>
        </p:sp>
      </p:grpSp>
      <p:sp>
        <p:nvSpPr>
          <p:cNvPr id="10" name="TextBox 10"/>
          <p:cNvSpPr txBox="1"/>
          <p:nvPr/>
        </p:nvSpPr>
        <p:spPr>
          <a:xfrm>
            <a:off x="604277" y="303012"/>
            <a:ext cx="9078446" cy="9512028"/>
          </a:xfrm>
          <a:prstGeom prst="rect">
            <a:avLst/>
          </a:prstGeom>
        </p:spPr>
        <p:txBody>
          <a:bodyPr lIns="0" tIns="0" rIns="0" bIns="0" rtlCol="0" anchor="t">
            <a:spAutoFit/>
          </a:bodyPr>
          <a:lstStyle/>
          <a:p>
            <a:pPr algn="l">
              <a:lnSpc>
                <a:spcPts val="3115"/>
              </a:lnSpc>
            </a:pPr>
            <a:r>
              <a:rPr lang="en-US" sz="2193" b="1" dirty="0">
                <a:solidFill>
                  <a:srgbClr val="000000"/>
                </a:solidFill>
                <a:latin typeface="Roboto Bold"/>
                <a:ea typeface="Roboto Bold"/>
                <a:cs typeface="Roboto Bold"/>
                <a:sym typeface="Roboto Bold"/>
              </a:rPr>
              <a:t>Its in the Miles:</a:t>
            </a:r>
          </a:p>
          <a:p>
            <a:pPr marL="473660" lvl="1" indent="-236830" algn="l">
              <a:lnSpc>
                <a:spcPts val="3115"/>
              </a:lnSpc>
              <a:buFont typeface="Arial"/>
              <a:buChar char="•"/>
            </a:pPr>
            <a:r>
              <a:rPr lang="en-US" sz="2193" b="1" u="none" dirty="0">
                <a:solidFill>
                  <a:srgbClr val="454699"/>
                </a:solidFill>
                <a:latin typeface="Roboto Bold"/>
                <a:ea typeface="Roboto Bold"/>
                <a:cs typeface="Roboto Bold"/>
                <a:sym typeface="Roboto Bold"/>
              </a:rPr>
              <a:t>300+</a:t>
            </a:r>
            <a:r>
              <a:rPr lang="en-US" sz="2193" u="none" dirty="0">
                <a:solidFill>
                  <a:srgbClr val="454699"/>
                </a:solidFill>
                <a:latin typeface="Roboto"/>
                <a:ea typeface="Roboto"/>
                <a:cs typeface="Roboto"/>
                <a:sym typeface="Roboto"/>
              </a:rPr>
              <a:t> </a:t>
            </a:r>
            <a:r>
              <a:rPr lang="en-US" sz="2193" b="1" u="none" dirty="0">
                <a:solidFill>
                  <a:srgbClr val="454699"/>
                </a:solidFill>
                <a:latin typeface="Roboto Bold"/>
                <a:ea typeface="Roboto Bold"/>
                <a:cs typeface="Roboto Bold"/>
                <a:sym typeface="Roboto Bold"/>
              </a:rPr>
              <a:t>million</a:t>
            </a:r>
            <a:r>
              <a:rPr lang="en-US" sz="2193" u="none" dirty="0">
                <a:solidFill>
                  <a:srgbClr val="454699"/>
                </a:solidFill>
                <a:latin typeface="Roboto"/>
                <a:ea typeface="Roboto"/>
                <a:cs typeface="Roboto"/>
                <a:sym typeface="Roboto"/>
              </a:rPr>
              <a:t> miles of real autonomous driving is needed to validate.</a:t>
            </a:r>
          </a:p>
          <a:p>
            <a:pPr algn="l">
              <a:lnSpc>
                <a:spcPts val="3115"/>
              </a:lnSpc>
            </a:pPr>
            <a:endParaRPr lang="en-US" sz="2193" u="none" dirty="0">
              <a:solidFill>
                <a:srgbClr val="454699"/>
              </a:solidFill>
              <a:latin typeface="Roboto"/>
              <a:ea typeface="Roboto"/>
              <a:cs typeface="Roboto"/>
              <a:sym typeface="Roboto"/>
            </a:endParaRPr>
          </a:p>
          <a:p>
            <a:pPr algn="l">
              <a:lnSpc>
                <a:spcPts val="3115"/>
              </a:lnSpc>
            </a:pPr>
            <a:r>
              <a:rPr lang="en-US" sz="2193" b="1" u="none" dirty="0">
                <a:solidFill>
                  <a:srgbClr val="454699"/>
                </a:solidFill>
                <a:latin typeface="Roboto Bold"/>
                <a:ea typeface="Roboto Bold"/>
                <a:cs typeface="Roboto Bold"/>
                <a:sym typeface="Roboto Bold"/>
              </a:rPr>
              <a:t>Let’s take a look at where we are now in 2025?</a:t>
            </a:r>
          </a:p>
          <a:p>
            <a:pPr algn="l">
              <a:lnSpc>
                <a:spcPts val="3115"/>
              </a:lnSpc>
            </a:pPr>
            <a:endParaRPr lang="en-US" sz="2193" b="1" u="none" dirty="0">
              <a:solidFill>
                <a:srgbClr val="454699"/>
              </a:solidFill>
              <a:latin typeface="Roboto Bold"/>
              <a:ea typeface="Roboto Bold"/>
              <a:cs typeface="Roboto Bold"/>
              <a:sym typeface="Roboto Bold"/>
            </a:endParaRPr>
          </a:p>
          <a:p>
            <a:pPr algn="l">
              <a:lnSpc>
                <a:spcPts val="3115"/>
              </a:lnSpc>
            </a:pPr>
            <a:r>
              <a:rPr lang="en-US" sz="2193" b="1" u="none" dirty="0">
                <a:solidFill>
                  <a:srgbClr val="FF3131"/>
                </a:solidFill>
                <a:latin typeface="Roboto Bold"/>
                <a:ea typeface="Roboto Bold"/>
                <a:cs typeface="Roboto Bold"/>
                <a:sym typeface="Roboto Bold"/>
              </a:rPr>
              <a:t>Apollo Go by Baidu: Founded in 2017</a:t>
            </a:r>
            <a:r>
              <a:rPr lang="en-US" sz="2193" u="none" dirty="0">
                <a:solidFill>
                  <a:srgbClr val="454699"/>
                </a:solidFill>
                <a:latin typeface="Roboto"/>
                <a:ea typeface="Roboto"/>
                <a:cs typeface="Roboto"/>
                <a:sym typeface="Roboto"/>
              </a:rPr>
              <a:t> </a:t>
            </a:r>
          </a:p>
          <a:p>
            <a:pPr algn="l">
              <a:lnSpc>
                <a:spcPts val="3115"/>
              </a:lnSpc>
            </a:pPr>
            <a:r>
              <a:rPr lang="en-US" sz="2193" b="1" u="none" dirty="0">
                <a:solidFill>
                  <a:srgbClr val="454699"/>
                </a:solidFill>
                <a:latin typeface="Roboto Bold"/>
                <a:ea typeface="Roboto Bold"/>
                <a:cs typeface="Roboto Bold"/>
                <a:sym typeface="Roboto Bold"/>
              </a:rPr>
              <a:t>Total miles:</a:t>
            </a:r>
            <a:r>
              <a:rPr lang="en-US" sz="2193" u="none" dirty="0">
                <a:solidFill>
                  <a:srgbClr val="454699"/>
                </a:solidFill>
                <a:latin typeface="Roboto"/>
                <a:ea typeface="Roboto"/>
                <a:cs typeface="Roboto"/>
                <a:sym typeface="Roboto"/>
              </a:rPr>
              <a:t> Not Publicly Available</a:t>
            </a:r>
          </a:p>
          <a:p>
            <a:pPr algn="l">
              <a:lnSpc>
                <a:spcPts val="3115"/>
              </a:lnSpc>
            </a:pPr>
            <a:r>
              <a:rPr lang="en-US" sz="2193" b="1" u="none" dirty="0">
                <a:solidFill>
                  <a:srgbClr val="454699"/>
                </a:solidFill>
                <a:latin typeface="Roboto Bold"/>
                <a:ea typeface="Roboto Bold"/>
                <a:cs typeface="Roboto Bold"/>
                <a:sym typeface="Roboto Bold"/>
              </a:rPr>
              <a:t>Public Road Miles:</a:t>
            </a:r>
            <a:r>
              <a:rPr lang="en-US" sz="2193" u="none" dirty="0">
                <a:solidFill>
                  <a:srgbClr val="454699"/>
                </a:solidFill>
                <a:latin typeface="Roboto"/>
                <a:ea typeface="Roboto"/>
                <a:cs typeface="Roboto"/>
                <a:sym typeface="Roboto"/>
              </a:rPr>
              <a:t> Not Publicly Available</a:t>
            </a:r>
          </a:p>
          <a:p>
            <a:pPr algn="l">
              <a:lnSpc>
                <a:spcPts val="3115"/>
              </a:lnSpc>
            </a:pPr>
            <a:r>
              <a:rPr lang="en-US" sz="2193" b="1" u="none" dirty="0">
                <a:solidFill>
                  <a:srgbClr val="454699"/>
                </a:solidFill>
                <a:latin typeface="Roboto Bold"/>
                <a:ea typeface="Roboto Bold"/>
                <a:cs typeface="Roboto Bold"/>
                <a:sym typeface="Roboto Bold"/>
              </a:rPr>
              <a:t>Simulated Miles:</a:t>
            </a:r>
            <a:r>
              <a:rPr lang="en-US" sz="2193" u="none" dirty="0">
                <a:solidFill>
                  <a:srgbClr val="454699"/>
                </a:solidFill>
                <a:latin typeface="Roboto"/>
                <a:ea typeface="Roboto"/>
                <a:cs typeface="Roboto"/>
                <a:sym typeface="Roboto"/>
              </a:rPr>
              <a:t> Not Publicly Available</a:t>
            </a:r>
          </a:p>
          <a:p>
            <a:pPr algn="l">
              <a:lnSpc>
                <a:spcPts val="3115"/>
              </a:lnSpc>
            </a:pPr>
            <a:endParaRPr lang="en-US" sz="2193" u="none" dirty="0">
              <a:solidFill>
                <a:srgbClr val="454699"/>
              </a:solidFill>
              <a:latin typeface="Roboto"/>
              <a:ea typeface="Roboto"/>
              <a:cs typeface="Roboto"/>
              <a:sym typeface="Roboto"/>
            </a:endParaRPr>
          </a:p>
          <a:p>
            <a:pPr algn="l">
              <a:lnSpc>
                <a:spcPts val="3115"/>
              </a:lnSpc>
            </a:pPr>
            <a:r>
              <a:rPr lang="en-US" sz="2193" b="1" u="none" dirty="0" err="1">
                <a:solidFill>
                  <a:srgbClr val="00BF63"/>
                </a:solidFill>
                <a:latin typeface="Roboto Bold"/>
                <a:ea typeface="Roboto Bold"/>
                <a:cs typeface="Roboto Bold"/>
                <a:sym typeface="Roboto Bold"/>
              </a:rPr>
              <a:t>Zoox</a:t>
            </a:r>
            <a:r>
              <a:rPr lang="en-US" sz="2193" b="1" u="none" dirty="0">
                <a:solidFill>
                  <a:srgbClr val="00BF63"/>
                </a:solidFill>
                <a:latin typeface="Roboto Bold"/>
                <a:ea typeface="Roboto Bold"/>
                <a:cs typeface="Roboto Bold"/>
                <a:sym typeface="Roboto Bold"/>
              </a:rPr>
              <a:t> by Amazon: Founded in 2014</a:t>
            </a:r>
          </a:p>
          <a:p>
            <a:pPr algn="l">
              <a:lnSpc>
                <a:spcPts val="3115"/>
              </a:lnSpc>
            </a:pPr>
            <a:r>
              <a:rPr lang="en-US" sz="2193" b="1" u="none" dirty="0">
                <a:solidFill>
                  <a:srgbClr val="454699"/>
                </a:solidFill>
                <a:latin typeface="Roboto Bold"/>
                <a:ea typeface="Roboto Bold"/>
                <a:cs typeface="Roboto Bold"/>
                <a:sym typeface="Roboto Bold"/>
              </a:rPr>
              <a:t>Total miles:</a:t>
            </a:r>
            <a:r>
              <a:rPr lang="en-US" sz="2193" u="none" dirty="0">
                <a:solidFill>
                  <a:srgbClr val="454699"/>
                </a:solidFill>
                <a:latin typeface="Roboto"/>
                <a:ea typeface="Roboto"/>
                <a:cs typeface="Roboto"/>
                <a:sym typeface="Roboto"/>
              </a:rPr>
              <a:t> Not Publicly Available</a:t>
            </a:r>
          </a:p>
          <a:p>
            <a:pPr algn="l">
              <a:lnSpc>
                <a:spcPts val="3115"/>
              </a:lnSpc>
            </a:pPr>
            <a:r>
              <a:rPr lang="en-US" sz="2193" b="1" u="none" dirty="0">
                <a:solidFill>
                  <a:srgbClr val="454699"/>
                </a:solidFill>
                <a:latin typeface="Roboto Bold"/>
                <a:ea typeface="Roboto Bold"/>
                <a:cs typeface="Roboto Bold"/>
                <a:sym typeface="Roboto Bold"/>
              </a:rPr>
              <a:t>Public Road Miles:</a:t>
            </a:r>
            <a:r>
              <a:rPr lang="en-US" sz="2193" u="none" dirty="0">
                <a:solidFill>
                  <a:srgbClr val="454699"/>
                </a:solidFill>
                <a:latin typeface="Roboto"/>
                <a:ea typeface="Roboto"/>
                <a:cs typeface="Roboto"/>
                <a:sym typeface="Roboto"/>
              </a:rPr>
              <a:t> 2+ million</a:t>
            </a:r>
          </a:p>
          <a:p>
            <a:pPr algn="l">
              <a:lnSpc>
                <a:spcPts val="3115"/>
              </a:lnSpc>
            </a:pPr>
            <a:r>
              <a:rPr lang="en-US" sz="2193" b="1" u="none" dirty="0">
                <a:solidFill>
                  <a:srgbClr val="454699"/>
                </a:solidFill>
                <a:latin typeface="Roboto Bold"/>
                <a:ea typeface="Roboto Bold"/>
                <a:cs typeface="Roboto Bold"/>
                <a:sym typeface="Roboto Bold"/>
              </a:rPr>
              <a:t>Simulated Miles:</a:t>
            </a:r>
            <a:r>
              <a:rPr lang="en-US" sz="2193" u="none" dirty="0">
                <a:solidFill>
                  <a:srgbClr val="454699"/>
                </a:solidFill>
                <a:latin typeface="Roboto"/>
                <a:ea typeface="Roboto"/>
                <a:cs typeface="Roboto"/>
                <a:sym typeface="Roboto"/>
              </a:rPr>
              <a:t> Not Publicly Available</a:t>
            </a:r>
          </a:p>
          <a:p>
            <a:pPr algn="l">
              <a:lnSpc>
                <a:spcPts val="3115"/>
              </a:lnSpc>
            </a:pPr>
            <a:endParaRPr lang="en-US" sz="2193" u="none" dirty="0">
              <a:solidFill>
                <a:srgbClr val="454699"/>
              </a:solidFill>
              <a:latin typeface="Roboto"/>
              <a:ea typeface="Roboto"/>
              <a:cs typeface="Roboto"/>
              <a:sym typeface="Roboto"/>
            </a:endParaRPr>
          </a:p>
          <a:p>
            <a:pPr algn="l">
              <a:lnSpc>
                <a:spcPts val="3115"/>
              </a:lnSpc>
            </a:pPr>
            <a:r>
              <a:rPr lang="en-US" sz="2193" b="1" u="none" dirty="0">
                <a:solidFill>
                  <a:srgbClr val="004AAD"/>
                </a:solidFill>
                <a:latin typeface="Roboto Bold"/>
                <a:ea typeface="Roboto Bold"/>
                <a:cs typeface="Roboto Bold"/>
                <a:sym typeface="Roboto Bold"/>
              </a:rPr>
              <a:t>Waymo by Google: Founded in 2009</a:t>
            </a:r>
          </a:p>
          <a:p>
            <a:pPr algn="l">
              <a:lnSpc>
                <a:spcPts val="3115"/>
              </a:lnSpc>
            </a:pPr>
            <a:r>
              <a:rPr lang="en-US" sz="2193" b="1" u="none" dirty="0">
                <a:solidFill>
                  <a:srgbClr val="454699"/>
                </a:solidFill>
                <a:latin typeface="Roboto Bold"/>
                <a:ea typeface="Roboto Bold"/>
                <a:cs typeface="Roboto Bold"/>
                <a:sym typeface="Roboto Bold"/>
              </a:rPr>
              <a:t>Total miles:</a:t>
            </a:r>
            <a:r>
              <a:rPr lang="en-US" sz="2193" u="none" dirty="0">
                <a:solidFill>
                  <a:srgbClr val="454699"/>
                </a:solidFill>
                <a:latin typeface="Roboto"/>
                <a:ea typeface="Roboto"/>
                <a:cs typeface="Roboto"/>
                <a:sym typeface="Roboto"/>
              </a:rPr>
              <a:t> 40+ million </a:t>
            </a:r>
          </a:p>
          <a:p>
            <a:pPr algn="l">
              <a:lnSpc>
                <a:spcPts val="3115"/>
              </a:lnSpc>
            </a:pPr>
            <a:r>
              <a:rPr lang="en-US" sz="2193" b="1" u="none" dirty="0">
                <a:solidFill>
                  <a:srgbClr val="454699"/>
                </a:solidFill>
                <a:latin typeface="Roboto Bold"/>
                <a:ea typeface="Roboto Bold"/>
                <a:cs typeface="Roboto Bold"/>
                <a:sym typeface="Roboto Bold"/>
              </a:rPr>
              <a:t>Public Road Miles:</a:t>
            </a:r>
            <a:r>
              <a:rPr lang="en-US" sz="2193" u="none" dirty="0">
                <a:solidFill>
                  <a:srgbClr val="454699"/>
                </a:solidFill>
                <a:latin typeface="Roboto"/>
                <a:ea typeface="Roboto"/>
                <a:cs typeface="Roboto"/>
                <a:sym typeface="Roboto"/>
              </a:rPr>
              <a:t> 25+ million</a:t>
            </a:r>
          </a:p>
          <a:p>
            <a:pPr algn="l">
              <a:lnSpc>
                <a:spcPts val="3115"/>
              </a:lnSpc>
            </a:pPr>
            <a:r>
              <a:rPr lang="en-US" sz="2193" b="1" u="none" dirty="0">
                <a:solidFill>
                  <a:srgbClr val="454699"/>
                </a:solidFill>
                <a:latin typeface="Roboto Bold"/>
                <a:ea typeface="Roboto Bold"/>
                <a:cs typeface="Roboto Bold"/>
                <a:sym typeface="Roboto Bold"/>
              </a:rPr>
              <a:t>Simulated Miles:</a:t>
            </a:r>
            <a:r>
              <a:rPr lang="en-US" sz="2193" u="none" dirty="0">
                <a:solidFill>
                  <a:srgbClr val="454699"/>
                </a:solidFill>
                <a:latin typeface="Roboto"/>
                <a:ea typeface="Roboto"/>
                <a:cs typeface="Roboto"/>
                <a:sym typeface="Roboto"/>
              </a:rPr>
              <a:t> 20+ billion</a:t>
            </a:r>
          </a:p>
          <a:p>
            <a:pPr algn="l">
              <a:lnSpc>
                <a:spcPts val="3115"/>
              </a:lnSpc>
            </a:pPr>
            <a:endParaRPr lang="en-US" sz="2193" u="none" dirty="0">
              <a:solidFill>
                <a:srgbClr val="454699"/>
              </a:solidFill>
              <a:latin typeface="Roboto"/>
              <a:ea typeface="Roboto"/>
              <a:cs typeface="Roboto"/>
              <a:sym typeface="Roboto"/>
            </a:endParaRPr>
          </a:p>
          <a:p>
            <a:pPr algn="l">
              <a:lnSpc>
                <a:spcPts val="3115"/>
              </a:lnSpc>
            </a:pPr>
            <a:r>
              <a:rPr lang="en-US" sz="2193" u="none" dirty="0">
                <a:solidFill>
                  <a:srgbClr val="454699"/>
                </a:solidFill>
                <a:latin typeface="Roboto"/>
                <a:ea typeface="Roboto"/>
                <a:cs typeface="Roboto"/>
                <a:sym typeface="Roboto"/>
              </a:rPr>
              <a:t>Using the Marathon analogy.</a:t>
            </a:r>
            <a:r>
              <a:rPr lang="en-US" sz="2193" b="1" u="none" dirty="0">
                <a:solidFill>
                  <a:srgbClr val="454699"/>
                </a:solidFill>
                <a:latin typeface="Roboto Bold"/>
                <a:ea typeface="Roboto Bold"/>
                <a:cs typeface="Roboto Bold"/>
                <a:sym typeface="Roboto Bold"/>
              </a:rPr>
              <a:t> Waymo </a:t>
            </a:r>
            <a:r>
              <a:rPr lang="en-US" sz="2193" u="none" dirty="0">
                <a:solidFill>
                  <a:srgbClr val="454699"/>
                </a:solidFill>
                <a:latin typeface="Roboto"/>
                <a:ea typeface="Roboto"/>
                <a:cs typeface="Roboto"/>
                <a:sym typeface="Roboto"/>
              </a:rPr>
              <a:t>has impressive results and leading, but we are still in mile </a:t>
            </a:r>
            <a:r>
              <a:rPr lang="en-US" sz="2193" b="1" u="none" dirty="0">
                <a:solidFill>
                  <a:srgbClr val="454699"/>
                </a:solidFill>
                <a:latin typeface="Roboto Bold"/>
                <a:ea typeface="Roboto Bold"/>
                <a:cs typeface="Roboto Bold"/>
                <a:sym typeface="Roboto Bold"/>
              </a:rPr>
              <a:t>3.4</a:t>
            </a:r>
            <a:r>
              <a:rPr lang="en-US" sz="2193" u="none" dirty="0">
                <a:solidFill>
                  <a:srgbClr val="454699"/>
                </a:solidFill>
                <a:latin typeface="Roboto"/>
                <a:ea typeface="Roboto"/>
                <a:cs typeface="Roboto"/>
                <a:sym typeface="Roboto"/>
              </a:rPr>
              <a:t> out of </a:t>
            </a:r>
            <a:r>
              <a:rPr lang="en-US" sz="2193" b="1" u="none" dirty="0">
                <a:solidFill>
                  <a:srgbClr val="454699"/>
                </a:solidFill>
                <a:latin typeface="Roboto Bold"/>
                <a:ea typeface="Roboto Bold"/>
                <a:cs typeface="Roboto Bold"/>
                <a:sym typeface="Roboto Bold"/>
              </a:rPr>
              <a:t>26.2miles</a:t>
            </a:r>
            <a:r>
              <a:rPr lang="en-US" sz="2193" u="none" dirty="0">
                <a:solidFill>
                  <a:srgbClr val="454699"/>
                </a:solidFill>
                <a:latin typeface="Roboto"/>
                <a:ea typeface="Roboto"/>
                <a:cs typeface="Roboto"/>
                <a:sym typeface="Roboto"/>
              </a:rPr>
              <a:t> or</a:t>
            </a:r>
            <a:r>
              <a:rPr lang="en-US" sz="2193" b="1" u="none" dirty="0">
                <a:solidFill>
                  <a:srgbClr val="454699"/>
                </a:solidFill>
                <a:latin typeface="Roboto Bold"/>
                <a:ea typeface="Roboto Bold"/>
                <a:cs typeface="Roboto Bold"/>
                <a:sym typeface="Roboto Bold"/>
              </a:rPr>
              <a:t> 5.4</a:t>
            </a:r>
            <a:r>
              <a:rPr lang="en-US" sz="2193" u="none" dirty="0">
                <a:solidFill>
                  <a:srgbClr val="454699"/>
                </a:solidFill>
                <a:latin typeface="Roboto"/>
                <a:ea typeface="Roboto"/>
                <a:cs typeface="Roboto"/>
                <a:sym typeface="Roboto"/>
              </a:rPr>
              <a:t> of </a:t>
            </a:r>
            <a:r>
              <a:rPr lang="en-US" sz="2193" b="1" u="none" dirty="0">
                <a:solidFill>
                  <a:srgbClr val="454699"/>
                </a:solidFill>
                <a:latin typeface="Roboto Bold"/>
                <a:ea typeface="Roboto Bold"/>
                <a:cs typeface="Roboto Bold"/>
                <a:sym typeface="Roboto Bold"/>
              </a:rPr>
              <a:t>42.1km </a:t>
            </a:r>
            <a:r>
              <a:rPr lang="en-US" sz="2193" u="none" dirty="0">
                <a:solidFill>
                  <a:srgbClr val="454699"/>
                </a:solidFill>
                <a:latin typeface="Roboto"/>
                <a:ea typeface="Roboto"/>
                <a:cs typeface="Roboto"/>
                <a:sym typeface="Roboto"/>
              </a:rPr>
              <a:t>for safety scenario validation.</a:t>
            </a:r>
          </a:p>
          <a:p>
            <a:pPr algn="l">
              <a:lnSpc>
                <a:spcPts val="3115"/>
              </a:lnSpc>
            </a:pPr>
            <a:endParaRPr lang="en-US" sz="2193" u="none" dirty="0">
              <a:solidFill>
                <a:srgbClr val="454699"/>
              </a:solidFill>
              <a:latin typeface="Roboto"/>
              <a:ea typeface="Roboto"/>
              <a:cs typeface="Roboto"/>
              <a:sym typeface="Roboto"/>
            </a:endParaRPr>
          </a:p>
        </p:txBody>
      </p:sp>
      <p:sp>
        <p:nvSpPr>
          <p:cNvPr id="11" name="Freeform 11"/>
          <p:cNvSpPr/>
          <p:nvPr/>
        </p:nvSpPr>
        <p:spPr>
          <a:xfrm rot="-10800000">
            <a:off x="11227296" y="9508565"/>
            <a:ext cx="1556869" cy="778435"/>
          </a:xfrm>
          <a:custGeom>
            <a:avLst/>
            <a:gdLst/>
            <a:ahLst/>
            <a:cxnLst/>
            <a:rect l="l" t="t" r="r" b="b"/>
            <a:pathLst>
              <a:path w="1556869" h="778435">
                <a:moveTo>
                  <a:pt x="0" y="0"/>
                </a:moveTo>
                <a:lnTo>
                  <a:pt x="1556869" y="0"/>
                </a:lnTo>
                <a:lnTo>
                  <a:pt x="1556869" y="778435"/>
                </a:lnTo>
                <a:lnTo>
                  <a:pt x="0" y="77843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BB56"/>
        </a:solidFill>
        <a:effectLst/>
      </p:bgPr>
    </p:bg>
    <p:spTree>
      <p:nvGrpSpPr>
        <p:cNvPr id="1" name=""/>
        <p:cNvGrpSpPr/>
        <p:nvPr/>
      </p:nvGrpSpPr>
      <p:grpSpPr>
        <a:xfrm>
          <a:off x="0" y="0"/>
          <a:ext cx="0" cy="0"/>
          <a:chOff x="0" y="0"/>
          <a:chExt cx="0" cy="0"/>
        </a:xfrm>
      </p:grpSpPr>
      <p:grpSp>
        <p:nvGrpSpPr>
          <p:cNvPr id="2" name="Group 2"/>
          <p:cNvGrpSpPr/>
          <p:nvPr/>
        </p:nvGrpSpPr>
        <p:grpSpPr>
          <a:xfrm>
            <a:off x="14429702" y="8083658"/>
            <a:ext cx="1897484" cy="1061551"/>
            <a:chOff x="0" y="0"/>
            <a:chExt cx="726425" cy="406400"/>
          </a:xfrm>
        </p:grpSpPr>
        <p:sp>
          <p:nvSpPr>
            <p:cNvPr id="3" name="Freeform 3"/>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4" name="Group 4"/>
          <p:cNvGrpSpPr/>
          <p:nvPr/>
        </p:nvGrpSpPr>
        <p:grpSpPr>
          <a:xfrm>
            <a:off x="15333271" y="8226533"/>
            <a:ext cx="775800" cy="775800"/>
            <a:chOff x="0" y="0"/>
            <a:chExt cx="1034400" cy="1034400"/>
          </a:xfrm>
        </p:grpSpPr>
        <p:sp>
          <p:nvSpPr>
            <p:cNvPr id="5" name="Freeform 5"/>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sp>
          <p:nvSpPr>
            <p:cNvPr id="6" name="Freeform 6"/>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grpSp>
      <p:sp>
        <p:nvSpPr>
          <p:cNvPr id="7" name="Freeform 7"/>
          <p:cNvSpPr/>
          <p:nvPr/>
        </p:nvSpPr>
        <p:spPr>
          <a:xfrm flipH="1">
            <a:off x="0" y="5880316"/>
            <a:ext cx="4406684" cy="4406684"/>
          </a:xfrm>
          <a:custGeom>
            <a:avLst/>
            <a:gdLst/>
            <a:ahLst/>
            <a:cxnLst/>
            <a:rect l="l" t="t" r="r" b="b"/>
            <a:pathLst>
              <a:path w="4406684" h="4406684">
                <a:moveTo>
                  <a:pt x="4406684" y="0"/>
                </a:moveTo>
                <a:lnTo>
                  <a:pt x="0" y="0"/>
                </a:lnTo>
                <a:lnTo>
                  <a:pt x="0" y="4406684"/>
                </a:lnTo>
                <a:lnTo>
                  <a:pt x="4406684" y="4406684"/>
                </a:lnTo>
                <a:lnTo>
                  <a:pt x="4406684"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8" name="Freeform 8"/>
          <p:cNvSpPr/>
          <p:nvPr/>
        </p:nvSpPr>
        <p:spPr>
          <a:xfrm>
            <a:off x="12234351" y="4648813"/>
            <a:ext cx="1936133" cy="1936133"/>
          </a:xfrm>
          <a:custGeom>
            <a:avLst/>
            <a:gdLst/>
            <a:ahLst/>
            <a:cxnLst/>
            <a:rect l="l" t="t" r="r" b="b"/>
            <a:pathLst>
              <a:path w="1936133" h="1936133">
                <a:moveTo>
                  <a:pt x="0" y="0"/>
                </a:moveTo>
                <a:lnTo>
                  <a:pt x="1936133" y="0"/>
                </a:lnTo>
                <a:lnTo>
                  <a:pt x="1936133" y="1936133"/>
                </a:lnTo>
                <a:lnTo>
                  <a:pt x="0" y="19361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
        <p:nvSpPr>
          <p:cNvPr id="9" name="Freeform 9"/>
          <p:cNvSpPr/>
          <p:nvPr/>
        </p:nvSpPr>
        <p:spPr>
          <a:xfrm>
            <a:off x="13911267" y="3846909"/>
            <a:ext cx="518435" cy="518435"/>
          </a:xfrm>
          <a:custGeom>
            <a:avLst/>
            <a:gdLst/>
            <a:ahLst/>
            <a:cxnLst/>
            <a:rect l="l" t="t" r="r" b="b"/>
            <a:pathLst>
              <a:path w="518435" h="518435">
                <a:moveTo>
                  <a:pt x="0" y="0"/>
                </a:moveTo>
                <a:lnTo>
                  <a:pt x="518435" y="0"/>
                </a:lnTo>
                <a:lnTo>
                  <a:pt x="518435" y="518436"/>
                </a:lnTo>
                <a:lnTo>
                  <a:pt x="0" y="51843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CA"/>
          </a:p>
        </p:txBody>
      </p:sp>
      <p:grpSp>
        <p:nvGrpSpPr>
          <p:cNvPr id="10" name="Group 10"/>
          <p:cNvGrpSpPr/>
          <p:nvPr/>
        </p:nvGrpSpPr>
        <p:grpSpPr>
          <a:xfrm>
            <a:off x="1234319" y="3846909"/>
            <a:ext cx="14486852" cy="3815660"/>
            <a:chOff x="0" y="0"/>
            <a:chExt cx="4192750" cy="1104319"/>
          </a:xfrm>
        </p:grpSpPr>
        <p:sp>
          <p:nvSpPr>
            <p:cNvPr id="11" name="Freeform 11"/>
            <p:cNvSpPr/>
            <p:nvPr/>
          </p:nvSpPr>
          <p:spPr>
            <a:xfrm>
              <a:off x="0" y="0"/>
              <a:ext cx="4192751" cy="1104320"/>
            </a:xfrm>
            <a:custGeom>
              <a:avLst/>
              <a:gdLst/>
              <a:ahLst/>
              <a:cxnLst/>
              <a:rect l="l" t="t" r="r" b="b"/>
              <a:pathLst>
                <a:path w="4192751" h="1104320">
                  <a:moveTo>
                    <a:pt x="4068290" y="1104319"/>
                  </a:moveTo>
                  <a:lnTo>
                    <a:pt x="124460" y="1104319"/>
                  </a:lnTo>
                  <a:cubicBezTo>
                    <a:pt x="55880" y="1104319"/>
                    <a:pt x="0" y="1048439"/>
                    <a:pt x="0" y="979859"/>
                  </a:cubicBezTo>
                  <a:lnTo>
                    <a:pt x="0" y="124460"/>
                  </a:lnTo>
                  <a:cubicBezTo>
                    <a:pt x="0" y="55880"/>
                    <a:pt x="55880" y="0"/>
                    <a:pt x="124460" y="0"/>
                  </a:cubicBezTo>
                  <a:lnTo>
                    <a:pt x="4068290" y="0"/>
                  </a:lnTo>
                  <a:cubicBezTo>
                    <a:pt x="4136870" y="0"/>
                    <a:pt x="4192751" y="55880"/>
                    <a:pt x="4192751" y="124460"/>
                  </a:cubicBezTo>
                  <a:lnTo>
                    <a:pt x="4192751" y="979859"/>
                  </a:lnTo>
                  <a:cubicBezTo>
                    <a:pt x="4192751" y="1048439"/>
                    <a:pt x="4136870" y="1104320"/>
                    <a:pt x="4068290" y="1104320"/>
                  </a:cubicBezTo>
                  <a:close/>
                </a:path>
              </a:pathLst>
            </a:custGeom>
            <a:solidFill>
              <a:srgbClr val="F8F4EB"/>
            </a:solidFill>
          </p:spPr>
          <p:txBody>
            <a:bodyPr/>
            <a:lstStyle/>
            <a:p>
              <a:endParaRPr lang="en-CA"/>
            </a:p>
          </p:txBody>
        </p:sp>
      </p:grpSp>
      <p:sp>
        <p:nvSpPr>
          <p:cNvPr id="12" name="TextBox 12"/>
          <p:cNvSpPr txBox="1"/>
          <p:nvPr/>
        </p:nvSpPr>
        <p:spPr>
          <a:xfrm>
            <a:off x="1746768" y="4396611"/>
            <a:ext cx="13157803" cy="2399696"/>
          </a:xfrm>
          <a:prstGeom prst="rect">
            <a:avLst/>
          </a:prstGeom>
        </p:spPr>
        <p:txBody>
          <a:bodyPr lIns="0" tIns="0" rIns="0" bIns="0" rtlCol="0" anchor="t">
            <a:spAutoFit/>
          </a:bodyPr>
          <a:lstStyle/>
          <a:p>
            <a:pPr marL="0" lvl="0" indent="0" algn="l">
              <a:lnSpc>
                <a:spcPts val="3764"/>
              </a:lnSpc>
              <a:spcBef>
                <a:spcPct val="0"/>
              </a:spcBef>
            </a:pPr>
            <a:r>
              <a:rPr lang="en-US" sz="2650" b="1" dirty="0">
                <a:solidFill>
                  <a:srgbClr val="454699"/>
                </a:solidFill>
                <a:latin typeface="Roboto"/>
                <a:ea typeface="Roboto"/>
                <a:cs typeface="Roboto"/>
                <a:sym typeface="Roboto"/>
              </a:rPr>
              <a:t>System Architecture, Software or Model change</a:t>
            </a:r>
            <a:r>
              <a:rPr lang="en-US" sz="2650" dirty="0">
                <a:solidFill>
                  <a:srgbClr val="454699"/>
                </a:solidFill>
                <a:latin typeface="Roboto"/>
                <a:ea typeface="Roboto"/>
                <a:cs typeface="Roboto"/>
                <a:sym typeface="Roboto"/>
              </a:rPr>
              <a:t>: Any drastic update in </a:t>
            </a:r>
            <a:r>
              <a:rPr lang="en-US" sz="2650" i="1" dirty="0">
                <a:solidFill>
                  <a:srgbClr val="454699"/>
                </a:solidFill>
                <a:latin typeface="Roboto" panose="020B0604020202020204" charset="0"/>
                <a:ea typeface="Roboto" panose="020B0604020202020204" charset="0"/>
                <a:cs typeface="Roboto Bold"/>
                <a:sym typeface="Roboto Bold"/>
              </a:rPr>
              <a:t>system architecture</a:t>
            </a:r>
            <a:r>
              <a:rPr lang="en-US" sz="2650" dirty="0">
                <a:solidFill>
                  <a:srgbClr val="454699"/>
                </a:solidFill>
                <a:latin typeface="Roboto"/>
                <a:ea typeface="Roboto"/>
                <a:cs typeface="Roboto"/>
                <a:sym typeface="Roboto"/>
              </a:rPr>
              <a:t> e.g. from </a:t>
            </a:r>
            <a:r>
              <a:rPr lang="en-US" sz="2650" i="1" u="sng" dirty="0">
                <a:solidFill>
                  <a:srgbClr val="454699"/>
                </a:solidFill>
                <a:latin typeface="Roboto Italics"/>
                <a:ea typeface="Roboto Italics"/>
                <a:cs typeface="Roboto Italics"/>
                <a:sym typeface="Roboto Italics"/>
              </a:rPr>
              <a:t>monolithic</a:t>
            </a:r>
            <a:r>
              <a:rPr lang="en-US" sz="2650" dirty="0">
                <a:solidFill>
                  <a:srgbClr val="454699"/>
                </a:solidFill>
                <a:latin typeface="Roboto"/>
                <a:ea typeface="Roboto"/>
                <a:cs typeface="Roboto"/>
                <a:sym typeface="Roboto"/>
              </a:rPr>
              <a:t>, </a:t>
            </a:r>
            <a:r>
              <a:rPr lang="en-US" sz="2650" i="1" u="sng" dirty="0">
                <a:solidFill>
                  <a:srgbClr val="454699"/>
                </a:solidFill>
                <a:latin typeface="Roboto Italics"/>
                <a:ea typeface="Roboto Italics"/>
                <a:cs typeface="Roboto Italics"/>
                <a:sym typeface="Roboto Italics"/>
              </a:rPr>
              <a:t>distributed</a:t>
            </a:r>
            <a:r>
              <a:rPr lang="en-US" sz="2650" dirty="0">
                <a:solidFill>
                  <a:srgbClr val="454699"/>
                </a:solidFill>
                <a:latin typeface="Roboto"/>
                <a:ea typeface="Roboto"/>
                <a:cs typeface="Roboto"/>
                <a:sym typeface="Roboto"/>
              </a:rPr>
              <a:t> or </a:t>
            </a:r>
            <a:r>
              <a:rPr lang="en-US" sz="2650" i="1" u="sng" dirty="0">
                <a:solidFill>
                  <a:srgbClr val="454699"/>
                </a:solidFill>
                <a:latin typeface="Roboto Italics"/>
                <a:ea typeface="Roboto Italics"/>
                <a:cs typeface="Roboto Italics"/>
                <a:sym typeface="Roboto Italics"/>
              </a:rPr>
              <a:t>microservices</a:t>
            </a:r>
            <a:r>
              <a:rPr lang="en-US" sz="2650" dirty="0">
                <a:solidFill>
                  <a:srgbClr val="454699"/>
                </a:solidFill>
                <a:latin typeface="Roboto"/>
                <a:ea typeface="Roboto"/>
                <a:cs typeface="Roboto"/>
                <a:sym typeface="Roboto"/>
              </a:rPr>
              <a:t> architecture perspective or a change in the </a:t>
            </a:r>
            <a:r>
              <a:rPr lang="en-US" sz="2650" b="1" dirty="0">
                <a:solidFill>
                  <a:srgbClr val="454699"/>
                </a:solidFill>
                <a:latin typeface="Roboto Bold"/>
                <a:ea typeface="Roboto Bold"/>
                <a:cs typeface="Roboto Bold"/>
                <a:sym typeface="Roboto Bold"/>
              </a:rPr>
              <a:t>software</a:t>
            </a:r>
            <a:r>
              <a:rPr lang="en-US" sz="2650" dirty="0">
                <a:solidFill>
                  <a:srgbClr val="454699"/>
                </a:solidFill>
                <a:latin typeface="Roboto"/>
                <a:ea typeface="Roboto"/>
                <a:cs typeface="Roboto"/>
                <a:sym typeface="Roboto"/>
              </a:rPr>
              <a:t> architecture, framework, language etc. or a change in the AI architecture, algorithm, model etc. can result to drastic reliability, response, performance, or behavioral change etc. </a:t>
            </a:r>
          </a:p>
        </p:txBody>
      </p:sp>
      <p:sp>
        <p:nvSpPr>
          <p:cNvPr id="13" name="TextBox 13"/>
          <p:cNvSpPr txBox="1"/>
          <p:nvPr/>
        </p:nvSpPr>
        <p:spPr>
          <a:xfrm>
            <a:off x="894745" y="737569"/>
            <a:ext cx="16364555" cy="1794890"/>
          </a:xfrm>
          <a:prstGeom prst="rect">
            <a:avLst/>
          </a:prstGeom>
        </p:spPr>
        <p:txBody>
          <a:bodyPr lIns="0" tIns="0" rIns="0" bIns="0" rtlCol="0" anchor="t">
            <a:spAutoFit/>
          </a:bodyPr>
          <a:lstStyle/>
          <a:p>
            <a:pPr marL="0" lvl="0" indent="0" algn="l">
              <a:lnSpc>
                <a:spcPts val="7182"/>
              </a:lnSpc>
              <a:spcBef>
                <a:spcPct val="0"/>
              </a:spcBef>
            </a:pPr>
            <a:r>
              <a:rPr lang="en-US" sz="5700" b="1">
                <a:solidFill>
                  <a:srgbClr val="454699"/>
                </a:solidFill>
                <a:latin typeface="League Spartan"/>
                <a:ea typeface="League Spartan"/>
                <a:cs typeface="League Spartan"/>
                <a:sym typeface="League Spartan"/>
              </a:rPr>
              <a:t>WH</a:t>
            </a:r>
            <a:r>
              <a:rPr lang="en-US" sz="5700" b="1" u="none">
                <a:solidFill>
                  <a:srgbClr val="454699"/>
                </a:solidFill>
                <a:latin typeface="League Spartan"/>
                <a:ea typeface="League Spartan"/>
                <a:cs typeface="League Spartan"/>
                <a:sym typeface="League Spartan"/>
              </a:rPr>
              <a:t>Y IS AUTONOMOUS DRIVING SAFETY A TECHNICAL NIGHTMARE CONTD</a:t>
            </a:r>
          </a:p>
        </p:txBody>
      </p:sp>
      <p:sp>
        <p:nvSpPr>
          <p:cNvPr id="14" name="Freeform 14"/>
          <p:cNvSpPr/>
          <p:nvPr/>
        </p:nvSpPr>
        <p:spPr>
          <a:xfrm rot="5400000">
            <a:off x="16921938" y="1813032"/>
            <a:ext cx="1821416" cy="910708"/>
          </a:xfrm>
          <a:custGeom>
            <a:avLst/>
            <a:gdLst/>
            <a:ahLst/>
            <a:cxnLst/>
            <a:rect l="l" t="t" r="r" b="b"/>
            <a:pathLst>
              <a:path w="1821416" h="910708">
                <a:moveTo>
                  <a:pt x="0" y="0"/>
                </a:moveTo>
                <a:lnTo>
                  <a:pt x="1821416" y="0"/>
                </a:lnTo>
                <a:lnTo>
                  <a:pt x="1821416" y="910708"/>
                </a:lnTo>
                <a:lnTo>
                  <a:pt x="0" y="91070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CA"/>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401951" y="1254297"/>
            <a:ext cx="5218456" cy="8776478"/>
            <a:chOff x="0" y="0"/>
            <a:chExt cx="1213613" cy="2041073"/>
          </a:xfrm>
        </p:grpSpPr>
        <p:sp>
          <p:nvSpPr>
            <p:cNvPr id="3" name="Freeform 3"/>
            <p:cNvSpPr/>
            <p:nvPr/>
          </p:nvSpPr>
          <p:spPr>
            <a:xfrm>
              <a:off x="0" y="0"/>
              <a:ext cx="1213613" cy="2041073"/>
            </a:xfrm>
            <a:custGeom>
              <a:avLst/>
              <a:gdLst/>
              <a:ahLst/>
              <a:cxnLst/>
              <a:rect l="l" t="t" r="r" b="b"/>
              <a:pathLst>
                <a:path w="1213613" h="2041073">
                  <a:moveTo>
                    <a:pt x="1089153" y="2041073"/>
                  </a:moveTo>
                  <a:lnTo>
                    <a:pt x="124460" y="2041073"/>
                  </a:lnTo>
                  <a:cubicBezTo>
                    <a:pt x="55880" y="2041073"/>
                    <a:pt x="0" y="1985193"/>
                    <a:pt x="0" y="1916613"/>
                  </a:cubicBezTo>
                  <a:lnTo>
                    <a:pt x="0" y="124460"/>
                  </a:lnTo>
                  <a:cubicBezTo>
                    <a:pt x="0" y="55880"/>
                    <a:pt x="55880" y="0"/>
                    <a:pt x="124460" y="0"/>
                  </a:cubicBezTo>
                  <a:lnTo>
                    <a:pt x="1089153" y="0"/>
                  </a:lnTo>
                  <a:cubicBezTo>
                    <a:pt x="1157733" y="0"/>
                    <a:pt x="1213613" y="55880"/>
                    <a:pt x="1213613" y="124460"/>
                  </a:cubicBezTo>
                  <a:lnTo>
                    <a:pt x="1213613" y="1916613"/>
                  </a:lnTo>
                  <a:cubicBezTo>
                    <a:pt x="1213613" y="1985193"/>
                    <a:pt x="1157733" y="2041073"/>
                    <a:pt x="1089153" y="2041073"/>
                  </a:cubicBezTo>
                  <a:close/>
                </a:path>
              </a:pathLst>
            </a:custGeom>
            <a:solidFill>
              <a:srgbClr val="F8F4EB"/>
            </a:solidFill>
          </p:spPr>
          <p:txBody>
            <a:bodyPr/>
            <a:lstStyle/>
            <a:p>
              <a:endParaRPr lang="en-CA"/>
            </a:p>
          </p:txBody>
        </p:sp>
      </p:grpSp>
      <p:grpSp>
        <p:nvGrpSpPr>
          <p:cNvPr id="4" name="Group 4"/>
          <p:cNvGrpSpPr/>
          <p:nvPr/>
        </p:nvGrpSpPr>
        <p:grpSpPr>
          <a:xfrm>
            <a:off x="6049033" y="1254297"/>
            <a:ext cx="5853657" cy="8776478"/>
            <a:chOff x="0" y="0"/>
            <a:chExt cx="1361337" cy="2041073"/>
          </a:xfrm>
        </p:grpSpPr>
        <p:sp>
          <p:nvSpPr>
            <p:cNvPr id="5" name="Freeform 5"/>
            <p:cNvSpPr/>
            <p:nvPr/>
          </p:nvSpPr>
          <p:spPr>
            <a:xfrm>
              <a:off x="0" y="0"/>
              <a:ext cx="1361337" cy="2041073"/>
            </a:xfrm>
            <a:custGeom>
              <a:avLst/>
              <a:gdLst/>
              <a:ahLst/>
              <a:cxnLst/>
              <a:rect l="l" t="t" r="r" b="b"/>
              <a:pathLst>
                <a:path w="1361337" h="2041073">
                  <a:moveTo>
                    <a:pt x="1236877" y="2041073"/>
                  </a:moveTo>
                  <a:lnTo>
                    <a:pt x="124460" y="2041073"/>
                  </a:lnTo>
                  <a:cubicBezTo>
                    <a:pt x="55880" y="2041073"/>
                    <a:pt x="0" y="1985193"/>
                    <a:pt x="0" y="1916613"/>
                  </a:cubicBezTo>
                  <a:lnTo>
                    <a:pt x="0" y="124460"/>
                  </a:lnTo>
                  <a:cubicBezTo>
                    <a:pt x="0" y="55880"/>
                    <a:pt x="55880" y="0"/>
                    <a:pt x="124460" y="0"/>
                  </a:cubicBezTo>
                  <a:lnTo>
                    <a:pt x="1236877" y="0"/>
                  </a:lnTo>
                  <a:cubicBezTo>
                    <a:pt x="1305457" y="0"/>
                    <a:pt x="1361337" y="55880"/>
                    <a:pt x="1361337" y="124460"/>
                  </a:cubicBezTo>
                  <a:lnTo>
                    <a:pt x="1361337" y="1916613"/>
                  </a:lnTo>
                  <a:cubicBezTo>
                    <a:pt x="1361337" y="1985193"/>
                    <a:pt x="1305457" y="2041073"/>
                    <a:pt x="1236877" y="2041073"/>
                  </a:cubicBezTo>
                  <a:close/>
                </a:path>
              </a:pathLst>
            </a:custGeom>
            <a:solidFill>
              <a:srgbClr val="F8F4EB"/>
            </a:solidFill>
          </p:spPr>
          <p:txBody>
            <a:bodyPr/>
            <a:lstStyle/>
            <a:p>
              <a:endParaRPr lang="en-CA"/>
            </a:p>
          </p:txBody>
        </p:sp>
      </p:grpSp>
      <p:grpSp>
        <p:nvGrpSpPr>
          <p:cNvPr id="6" name="Group 6"/>
          <p:cNvGrpSpPr/>
          <p:nvPr/>
        </p:nvGrpSpPr>
        <p:grpSpPr>
          <a:xfrm>
            <a:off x="12187295" y="1254297"/>
            <a:ext cx="5903853" cy="8776478"/>
            <a:chOff x="0" y="0"/>
            <a:chExt cx="1373010" cy="2041073"/>
          </a:xfrm>
        </p:grpSpPr>
        <p:sp>
          <p:nvSpPr>
            <p:cNvPr id="7" name="Freeform 7"/>
            <p:cNvSpPr/>
            <p:nvPr/>
          </p:nvSpPr>
          <p:spPr>
            <a:xfrm>
              <a:off x="0" y="0"/>
              <a:ext cx="1373010" cy="2041073"/>
            </a:xfrm>
            <a:custGeom>
              <a:avLst/>
              <a:gdLst/>
              <a:ahLst/>
              <a:cxnLst/>
              <a:rect l="l" t="t" r="r" b="b"/>
              <a:pathLst>
                <a:path w="1373010" h="2041073">
                  <a:moveTo>
                    <a:pt x="1248550" y="2041073"/>
                  </a:moveTo>
                  <a:lnTo>
                    <a:pt x="124460" y="2041073"/>
                  </a:lnTo>
                  <a:cubicBezTo>
                    <a:pt x="55880" y="2041073"/>
                    <a:pt x="0" y="1985193"/>
                    <a:pt x="0" y="1916613"/>
                  </a:cubicBezTo>
                  <a:lnTo>
                    <a:pt x="0" y="124460"/>
                  </a:lnTo>
                  <a:cubicBezTo>
                    <a:pt x="0" y="55880"/>
                    <a:pt x="55880" y="0"/>
                    <a:pt x="124460" y="0"/>
                  </a:cubicBezTo>
                  <a:lnTo>
                    <a:pt x="1248550" y="0"/>
                  </a:lnTo>
                  <a:cubicBezTo>
                    <a:pt x="1317130" y="0"/>
                    <a:pt x="1373010" y="55880"/>
                    <a:pt x="1373010" y="124460"/>
                  </a:cubicBezTo>
                  <a:lnTo>
                    <a:pt x="1373010" y="1916613"/>
                  </a:lnTo>
                  <a:cubicBezTo>
                    <a:pt x="1373010" y="1985193"/>
                    <a:pt x="1317130" y="2041073"/>
                    <a:pt x="1248550" y="2041073"/>
                  </a:cubicBezTo>
                  <a:close/>
                </a:path>
              </a:pathLst>
            </a:custGeom>
            <a:solidFill>
              <a:srgbClr val="F8F4EB"/>
            </a:solidFill>
          </p:spPr>
          <p:txBody>
            <a:bodyPr/>
            <a:lstStyle/>
            <a:p>
              <a:endParaRPr lang="en-CA"/>
            </a:p>
          </p:txBody>
        </p:sp>
      </p:grpSp>
      <p:grpSp>
        <p:nvGrpSpPr>
          <p:cNvPr id="8" name="Group 8"/>
          <p:cNvGrpSpPr/>
          <p:nvPr/>
        </p:nvGrpSpPr>
        <p:grpSpPr>
          <a:xfrm>
            <a:off x="523676" y="1308695"/>
            <a:ext cx="5115124" cy="8676445"/>
            <a:chOff x="0" y="0"/>
            <a:chExt cx="6820165" cy="11568594"/>
          </a:xfrm>
        </p:grpSpPr>
        <p:sp>
          <p:nvSpPr>
            <p:cNvPr id="9" name="TextBox 9"/>
            <p:cNvSpPr txBox="1"/>
            <p:nvPr/>
          </p:nvSpPr>
          <p:spPr>
            <a:xfrm>
              <a:off x="0" y="-9525"/>
              <a:ext cx="6820165" cy="589661"/>
            </a:xfrm>
            <a:prstGeom prst="rect">
              <a:avLst/>
            </a:prstGeom>
          </p:spPr>
          <p:txBody>
            <a:bodyPr lIns="0" tIns="0" rIns="0" bIns="0" rtlCol="0" anchor="t">
              <a:spAutoFit/>
            </a:bodyPr>
            <a:lstStyle/>
            <a:p>
              <a:pPr marL="0" lvl="0" indent="0" algn="l">
                <a:lnSpc>
                  <a:spcPts val="3654"/>
                </a:lnSpc>
                <a:spcBef>
                  <a:spcPct val="0"/>
                </a:spcBef>
              </a:pPr>
              <a:r>
                <a:rPr lang="en-US" sz="2900" b="1">
                  <a:solidFill>
                    <a:srgbClr val="FF3131"/>
                  </a:solidFill>
                  <a:latin typeface="League Spartan"/>
                  <a:ea typeface="League Spartan"/>
                  <a:cs typeface="League Spartan"/>
                  <a:sym typeface="League Spartan"/>
                </a:rPr>
                <a:t>         CENTRALIZED</a:t>
              </a:r>
            </a:p>
          </p:txBody>
        </p:sp>
        <p:sp>
          <p:nvSpPr>
            <p:cNvPr id="10" name="TextBox 10"/>
            <p:cNvSpPr txBox="1"/>
            <p:nvPr/>
          </p:nvSpPr>
          <p:spPr>
            <a:xfrm>
              <a:off x="0" y="778251"/>
              <a:ext cx="6820165" cy="10790343"/>
            </a:xfrm>
            <a:prstGeom prst="rect">
              <a:avLst/>
            </a:prstGeom>
          </p:spPr>
          <p:txBody>
            <a:bodyPr lIns="0" tIns="0" rIns="0" bIns="0" rtlCol="0" anchor="t">
              <a:spAutoFit/>
            </a:bodyPr>
            <a:lstStyle/>
            <a:p>
              <a:pPr marL="0" lvl="0" indent="0" algn="l">
                <a:lnSpc>
                  <a:spcPts val="2840"/>
                </a:lnSpc>
                <a:spcBef>
                  <a:spcPct val="0"/>
                </a:spcBef>
              </a:pPr>
              <a:r>
                <a:rPr lang="en-US" sz="2000" dirty="0">
                  <a:solidFill>
                    <a:srgbClr val="454699"/>
                  </a:solidFill>
                  <a:latin typeface="Roboto"/>
                  <a:ea typeface="Roboto"/>
                  <a:cs typeface="Roboto"/>
                  <a:sym typeface="Roboto"/>
                </a:rPr>
                <a:t>A</a:t>
              </a:r>
              <a:r>
                <a:rPr lang="en-US" sz="2000" u="none" dirty="0">
                  <a:solidFill>
                    <a:srgbClr val="454699"/>
                  </a:solidFill>
                  <a:latin typeface="Roboto"/>
                  <a:ea typeface="Roboto"/>
                  <a:cs typeface="Roboto"/>
                  <a:sym typeface="Roboto"/>
                </a:rPr>
                <a:t> monolithic architecture is an identical, single, large computing network or application with one code base that couples all of the business logic together. It is restrictive and time-consuming because a change means updating the entire stack by accessing the code base, build and deploy the updated version.</a:t>
              </a:r>
            </a:p>
            <a:p>
              <a:pPr marL="0" lvl="0" indent="0" algn="l">
                <a:lnSpc>
                  <a:spcPts val="2840"/>
                </a:lnSpc>
                <a:spcBef>
                  <a:spcPct val="0"/>
                </a:spcBef>
              </a:pPr>
              <a:endParaRPr lang="en-US" sz="2000" u="none" dirty="0">
                <a:solidFill>
                  <a:srgbClr val="454699"/>
                </a:solidFill>
                <a:latin typeface="Roboto"/>
                <a:ea typeface="Roboto"/>
                <a:cs typeface="Roboto"/>
                <a:sym typeface="Roboto"/>
              </a:endParaRPr>
            </a:p>
            <a:p>
              <a:pPr marL="0" lvl="0" indent="0" algn="l">
                <a:lnSpc>
                  <a:spcPts val="2840"/>
                </a:lnSpc>
                <a:spcBef>
                  <a:spcPct val="0"/>
                </a:spcBef>
              </a:pPr>
              <a:r>
                <a:rPr lang="en-US" sz="2000" b="1" u="none" dirty="0">
                  <a:solidFill>
                    <a:srgbClr val="454699"/>
                  </a:solidFill>
                  <a:latin typeface="Roboto Bold"/>
                  <a:ea typeface="Roboto Bold"/>
                  <a:cs typeface="Roboto Bold"/>
                  <a:sym typeface="Roboto Bold"/>
                </a:rPr>
                <a:t>Advantages include:</a:t>
              </a:r>
              <a:r>
                <a:rPr lang="en-US" sz="2000" u="none" dirty="0">
                  <a:solidFill>
                    <a:srgbClr val="454699"/>
                  </a:solidFill>
                  <a:latin typeface="Roboto"/>
                  <a:ea typeface="Roboto"/>
                  <a:cs typeface="Roboto"/>
                  <a:sym typeface="Roboto"/>
                </a:rPr>
                <a:t> Easier development and deployment, easier debugging, simplified testing and performance</a:t>
              </a:r>
            </a:p>
            <a:p>
              <a:pPr marL="0" lvl="0" indent="0" algn="l">
                <a:lnSpc>
                  <a:spcPts val="2840"/>
                </a:lnSpc>
                <a:spcBef>
                  <a:spcPct val="0"/>
                </a:spcBef>
              </a:pPr>
              <a:endParaRPr lang="en-US" sz="2000" u="none" dirty="0">
                <a:solidFill>
                  <a:srgbClr val="454699"/>
                </a:solidFill>
                <a:latin typeface="Roboto"/>
                <a:ea typeface="Roboto"/>
                <a:cs typeface="Roboto"/>
                <a:sym typeface="Roboto"/>
              </a:endParaRPr>
            </a:p>
            <a:p>
              <a:pPr marL="0" lvl="0" indent="0" algn="l">
                <a:lnSpc>
                  <a:spcPts val="2840"/>
                </a:lnSpc>
                <a:spcBef>
                  <a:spcPct val="0"/>
                </a:spcBef>
              </a:pPr>
              <a:r>
                <a:rPr lang="en-US" sz="2000" b="1" u="none" dirty="0">
                  <a:solidFill>
                    <a:srgbClr val="454699"/>
                  </a:solidFill>
                  <a:latin typeface="Roboto Bold"/>
                  <a:ea typeface="Roboto Bold"/>
                  <a:cs typeface="Roboto Bold"/>
                  <a:sym typeface="Roboto Bold"/>
                </a:rPr>
                <a:t>Disadvantages include</a:t>
              </a:r>
              <a:r>
                <a:rPr lang="en-US" sz="2000" u="none" dirty="0">
                  <a:solidFill>
                    <a:srgbClr val="454699"/>
                  </a:solidFill>
                  <a:latin typeface="Roboto"/>
                  <a:ea typeface="Roboto"/>
                  <a:cs typeface="Roboto"/>
                  <a:sym typeface="Roboto"/>
                </a:rPr>
                <a:t> Barrier to modern adoption, bottlenecks and single point of failure, lack of scalability and flexibility, slower development speed.</a:t>
              </a:r>
            </a:p>
            <a:p>
              <a:pPr marL="0" lvl="0" indent="0" algn="l">
                <a:lnSpc>
                  <a:spcPts val="2840"/>
                </a:lnSpc>
                <a:spcBef>
                  <a:spcPct val="0"/>
                </a:spcBef>
              </a:pPr>
              <a:endParaRPr lang="en-US" sz="2000" u="none" dirty="0">
                <a:solidFill>
                  <a:srgbClr val="454699"/>
                </a:solidFill>
                <a:latin typeface="Roboto"/>
                <a:ea typeface="Roboto"/>
                <a:cs typeface="Roboto"/>
                <a:sym typeface="Roboto"/>
              </a:endParaRPr>
            </a:p>
            <a:p>
              <a:pPr marL="0" lvl="0" indent="0" algn="l">
                <a:lnSpc>
                  <a:spcPts val="2840"/>
                </a:lnSpc>
                <a:spcBef>
                  <a:spcPct val="0"/>
                </a:spcBef>
              </a:pPr>
              <a:r>
                <a:rPr lang="en-US" sz="2000" u="none" dirty="0">
                  <a:solidFill>
                    <a:srgbClr val="454699"/>
                  </a:solidFill>
                  <a:latin typeface="Roboto"/>
                  <a:ea typeface="Roboto"/>
                  <a:cs typeface="Roboto"/>
                  <a:sym typeface="Roboto"/>
                </a:rPr>
                <a:t>Popular</a:t>
              </a:r>
              <a:r>
                <a:rPr lang="en-US" sz="2000" b="1" u="none" dirty="0">
                  <a:solidFill>
                    <a:srgbClr val="454699"/>
                  </a:solidFill>
                  <a:latin typeface="Roboto Bold"/>
                  <a:ea typeface="Roboto Bold"/>
                  <a:cs typeface="Roboto Bold"/>
                  <a:sym typeface="Roboto Bold"/>
                </a:rPr>
                <a:t> Centralized </a:t>
              </a:r>
              <a:r>
                <a:rPr lang="en-US" sz="2000" u="none" dirty="0">
                  <a:solidFill>
                    <a:srgbClr val="454699"/>
                  </a:solidFill>
                  <a:latin typeface="Roboto"/>
                  <a:ea typeface="Roboto"/>
                  <a:cs typeface="Roboto"/>
                  <a:sym typeface="Roboto"/>
                </a:rPr>
                <a:t>use cases can include Enterprise Resource and Planning </a:t>
              </a:r>
              <a:r>
                <a:rPr lang="en-US" sz="2000" b="1" u="none" dirty="0">
                  <a:solidFill>
                    <a:srgbClr val="454699"/>
                  </a:solidFill>
                  <a:latin typeface="Roboto Bold"/>
                  <a:ea typeface="Roboto Bold"/>
                  <a:cs typeface="Roboto Bold"/>
                  <a:sym typeface="Roboto Bold"/>
                </a:rPr>
                <a:t>(ERP)</a:t>
              </a:r>
              <a:r>
                <a:rPr lang="en-US" sz="2000" u="none" dirty="0">
                  <a:solidFill>
                    <a:srgbClr val="454699"/>
                  </a:solidFill>
                  <a:latin typeface="Roboto"/>
                  <a:ea typeface="Roboto"/>
                  <a:cs typeface="Roboto"/>
                  <a:sym typeface="Roboto"/>
                </a:rPr>
                <a:t> Systems, Banking Systems, Customer Relationship Management</a:t>
              </a:r>
              <a:r>
                <a:rPr lang="en-US" sz="2000" b="1" u="none" dirty="0">
                  <a:solidFill>
                    <a:srgbClr val="454699"/>
                  </a:solidFill>
                  <a:latin typeface="Roboto Bold"/>
                  <a:ea typeface="Roboto Bold"/>
                  <a:cs typeface="Roboto Bold"/>
                  <a:sym typeface="Roboto Bold"/>
                </a:rPr>
                <a:t>(CRM)</a:t>
              </a:r>
              <a:r>
                <a:rPr lang="en-US" sz="2000" u="none" dirty="0">
                  <a:solidFill>
                    <a:srgbClr val="454699"/>
                  </a:solidFill>
                  <a:latin typeface="Roboto"/>
                  <a:ea typeface="Roboto"/>
                  <a:cs typeface="Roboto"/>
                  <a:sym typeface="Roboto"/>
                </a:rPr>
                <a:t> Systems, Email Servers. etc.</a:t>
              </a:r>
            </a:p>
          </p:txBody>
        </p:sp>
      </p:grpSp>
      <p:grpSp>
        <p:nvGrpSpPr>
          <p:cNvPr id="11" name="Group 11"/>
          <p:cNvGrpSpPr/>
          <p:nvPr/>
        </p:nvGrpSpPr>
        <p:grpSpPr>
          <a:xfrm>
            <a:off x="6337456" y="1446239"/>
            <a:ext cx="5617972" cy="8538901"/>
            <a:chOff x="0" y="183392"/>
            <a:chExt cx="7490629" cy="11385202"/>
          </a:xfrm>
        </p:grpSpPr>
        <p:sp>
          <p:nvSpPr>
            <p:cNvPr id="12" name="TextBox 12"/>
            <p:cNvSpPr txBox="1"/>
            <p:nvPr/>
          </p:nvSpPr>
          <p:spPr>
            <a:xfrm>
              <a:off x="6512" y="183392"/>
              <a:ext cx="7484117" cy="589661"/>
            </a:xfrm>
            <a:prstGeom prst="rect">
              <a:avLst/>
            </a:prstGeom>
          </p:spPr>
          <p:txBody>
            <a:bodyPr lIns="0" tIns="0" rIns="0" bIns="0" rtlCol="0" anchor="t">
              <a:spAutoFit/>
            </a:bodyPr>
            <a:lstStyle/>
            <a:p>
              <a:pPr marL="0" lvl="0" indent="0" algn="l">
                <a:lnSpc>
                  <a:spcPts val="3653"/>
                </a:lnSpc>
                <a:spcBef>
                  <a:spcPct val="0"/>
                </a:spcBef>
              </a:pPr>
              <a:r>
                <a:rPr lang="en-US" sz="2899" b="1" dirty="0">
                  <a:solidFill>
                    <a:srgbClr val="00BF63"/>
                  </a:solidFill>
                  <a:latin typeface="League Spartan"/>
                  <a:ea typeface="League Spartan"/>
                  <a:cs typeface="League Spartan"/>
                  <a:sym typeface="League Spartan"/>
                </a:rPr>
                <a:t>             DISTRIBUTED</a:t>
              </a:r>
            </a:p>
          </p:txBody>
        </p:sp>
        <p:sp>
          <p:nvSpPr>
            <p:cNvPr id="13" name="TextBox 13"/>
            <p:cNvSpPr txBox="1"/>
            <p:nvPr/>
          </p:nvSpPr>
          <p:spPr>
            <a:xfrm>
              <a:off x="0" y="778251"/>
              <a:ext cx="7484117" cy="10790343"/>
            </a:xfrm>
            <a:prstGeom prst="rect">
              <a:avLst/>
            </a:prstGeom>
          </p:spPr>
          <p:txBody>
            <a:bodyPr lIns="0" tIns="0" rIns="0" bIns="0" rtlCol="0" anchor="t">
              <a:spAutoFit/>
            </a:bodyPr>
            <a:lstStyle/>
            <a:p>
              <a:pPr marL="0" lvl="0" indent="0" algn="l">
                <a:lnSpc>
                  <a:spcPts val="2840"/>
                </a:lnSpc>
                <a:spcBef>
                  <a:spcPct val="0"/>
                </a:spcBef>
              </a:pPr>
              <a:r>
                <a:rPr lang="en-US" sz="2000">
                  <a:solidFill>
                    <a:srgbClr val="454699"/>
                  </a:solidFill>
                  <a:latin typeface="Roboto"/>
                  <a:ea typeface="Roboto"/>
                  <a:cs typeface="Roboto"/>
                  <a:sym typeface="Roboto"/>
                </a:rPr>
                <a:t>In distributed computing, indi</a:t>
              </a:r>
              <a:r>
                <a:rPr lang="en-US" sz="2000" u="none">
                  <a:solidFill>
                    <a:srgbClr val="454699"/>
                  </a:solidFill>
                  <a:latin typeface="Roboto"/>
                  <a:ea typeface="Roboto"/>
                  <a:cs typeface="Roboto"/>
                  <a:sym typeface="Roboto"/>
                </a:rPr>
                <a:t>vidual nodes work together to achieve a common goal. It is the natural evolution of Monolithic systems. Distributed computing types include client</a:t>
              </a:r>
              <a:r>
                <a:rPr lang="en-US" sz="2000">
                  <a:solidFill>
                    <a:srgbClr val="454699"/>
                  </a:solidFill>
                  <a:latin typeface="Roboto"/>
                  <a:ea typeface="Roboto"/>
                  <a:cs typeface="Roboto"/>
                  <a:sym typeface="Roboto"/>
                </a:rPr>
                <a:t>-</a:t>
              </a:r>
              <a:r>
                <a:rPr lang="en-US" sz="2000" u="none">
                  <a:solidFill>
                    <a:srgbClr val="454699"/>
                  </a:solidFill>
                  <a:latin typeface="Roboto"/>
                  <a:ea typeface="Roboto"/>
                  <a:cs typeface="Roboto"/>
                  <a:sym typeface="Roboto"/>
                </a:rPr>
                <a:t>se</a:t>
              </a:r>
              <a:r>
                <a:rPr lang="en-US" sz="2000">
                  <a:solidFill>
                    <a:srgbClr val="454699"/>
                  </a:solidFill>
                  <a:latin typeface="Roboto"/>
                  <a:ea typeface="Roboto"/>
                  <a:cs typeface="Roboto"/>
                  <a:sym typeface="Roboto"/>
                </a:rPr>
                <a:t>rver,</a:t>
              </a:r>
              <a:r>
                <a:rPr lang="en-US" sz="2000" u="none">
                  <a:solidFill>
                    <a:srgbClr val="454699"/>
                  </a:solidFill>
                  <a:latin typeface="Roboto"/>
                  <a:ea typeface="Roboto"/>
                  <a:cs typeface="Roboto"/>
                  <a:sym typeface="Roboto"/>
                </a:rPr>
                <a:t> mu</a:t>
              </a:r>
              <a:r>
                <a:rPr lang="en-US" sz="2000">
                  <a:solidFill>
                    <a:srgbClr val="454699"/>
                  </a:solidFill>
                  <a:latin typeface="Roboto"/>
                  <a:ea typeface="Roboto"/>
                  <a:cs typeface="Roboto"/>
                  <a:sym typeface="Roboto"/>
                </a:rPr>
                <a:t>l</a:t>
              </a:r>
              <a:r>
                <a:rPr lang="en-US" sz="2000" u="none">
                  <a:solidFill>
                    <a:srgbClr val="454699"/>
                  </a:solidFill>
                  <a:latin typeface="Roboto"/>
                  <a:ea typeface="Roboto"/>
                  <a:cs typeface="Roboto"/>
                  <a:sym typeface="Roboto"/>
                </a:rPr>
                <a:t>ti</a:t>
              </a:r>
              <a:r>
                <a:rPr lang="en-US" sz="2000">
                  <a:solidFill>
                    <a:srgbClr val="454699"/>
                  </a:solidFill>
                  <a:latin typeface="Roboto"/>
                  <a:ea typeface="Roboto"/>
                  <a:cs typeface="Roboto"/>
                  <a:sym typeface="Roboto"/>
                </a:rPr>
                <a:t>-t</a:t>
              </a:r>
              <a:r>
                <a:rPr lang="en-US" sz="2000" u="none">
                  <a:solidFill>
                    <a:srgbClr val="454699"/>
                  </a:solidFill>
                  <a:latin typeface="Roboto"/>
                  <a:ea typeface="Roboto"/>
                  <a:cs typeface="Roboto"/>
                  <a:sym typeface="Roboto"/>
                </a:rPr>
                <a:t>ier, peer-to-peer, service oriented architecture and microservices. Examples of </a:t>
              </a:r>
              <a:r>
                <a:rPr lang="en-US" sz="2000" b="1" u="none">
                  <a:solidFill>
                    <a:srgbClr val="454699"/>
                  </a:solidFill>
                  <a:latin typeface="Roboto Bold"/>
                  <a:ea typeface="Roboto Bold"/>
                  <a:cs typeface="Roboto Bold"/>
                  <a:sym typeface="Roboto Bold"/>
                </a:rPr>
                <a:t>C</a:t>
              </a:r>
              <a:r>
                <a:rPr lang="en-US" sz="2000" b="1" i="1" u="none">
                  <a:solidFill>
                    <a:srgbClr val="454699"/>
                  </a:solidFill>
                  <a:latin typeface="Roboto Bold Italics"/>
                  <a:ea typeface="Roboto Bold Italics"/>
                  <a:cs typeface="Roboto Bold Italics"/>
                  <a:sym typeface="Roboto Bold Italics"/>
                </a:rPr>
                <a:t>lient-Server</a:t>
              </a:r>
              <a:r>
                <a:rPr lang="en-US" sz="2000" u="none">
                  <a:solidFill>
                    <a:srgbClr val="454699"/>
                  </a:solidFill>
                  <a:latin typeface="Roboto"/>
                  <a:ea typeface="Roboto"/>
                  <a:cs typeface="Roboto"/>
                  <a:sym typeface="Roboto"/>
                </a:rPr>
                <a:t> architecture include </a:t>
              </a:r>
              <a:r>
                <a:rPr lang="en-US" sz="2000" b="1" u="none">
                  <a:solidFill>
                    <a:srgbClr val="454699"/>
                  </a:solidFill>
                  <a:latin typeface="Roboto Bold"/>
                  <a:ea typeface="Roboto Bold"/>
                  <a:cs typeface="Roboto Bold"/>
                  <a:sym typeface="Roboto Bold"/>
                </a:rPr>
                <a:t>Carla</a:t>
              </a:r>
              <a:r>
                <a:rPr lang="en-US" sz="2000" u="none">
                  <a:solidFill>
                    <a:srgbClr val="454699"/>
                  </a:solidFill>
                  <a:latin typeface="Roboto"/>
                  <a:ea typeface="Roboto"/>
                  <a:cs typeface="Roboto"/>
                  <a:sym typeface="Roboto"/>
                </a:rPr>
                <a:t> simulation where the server runs the simulation, the client retrieves information and requests changes in the simulation. Peer-to-peer example include fail-over mechanisms in network and cyber architecture, microservices examples include kubernetes or orchestration tools for network and cybersecurity. Global examples of distributed systems include </a:t>
              </a:r>
              <a:r>
                <a:rPr lang="en-US" sz="2000" b="1" u="none">
                  <a:solidFill>
                    <a:srgbClr val="454699"/>
                  </a:solidFill>
                  <a:latin typeface="Roboto Bold"/>
                  <a:ea typeface="Roboto Bold"/>
                  <a:cs typeface="Roboto Bold"/>
                  <a:sym typeface="Roboto Bold"/>
                </a:rPr>
                <a:t>Distributed Databases</a:t>
              </a:r>
              <a:r>
                <a:rPr lang="en-US" sz="2000" u="none">
                  <a:solidFill>
                    <a:srgbClr val="454699"/>
                  </a:solidFill>
                  <a:latin typeface="Roboto"/>
                  <a:ea typeface="Roboto"/>
                  <a:cs typeface="Roboto"/>
                  <a:sym typeface="Roboto"/>
                </a:rPr>
                <a:t> like </a:t>
              </a:r>
              <a:r>
                <a:rPr lang="en-US" sz="2000" i="1" u="sng">
                  <a:solidFill>
                    <a:srgbClr val="454699"/>
                  </a:solidFill>
                  <a:latin typeface="Roboto Italics"/>
                  <a:ea typeface="Roboto Italics"/>
                  <a:cs typeface="Roboto Italics"/>
                  <a:sym typeface="Roboto Italics"/>
                </a:rPr>
                <a:t>Amazon DynamoDB</a:t>
              </a:r>
              <a:r>
                <a:rPr lang="en-US" sz="2000" u="none">
                  <a:solidFill>
                    <a:srgbClr val="454699"/>
                  </a:solidFill>
                  <a:latin typeface="Roboto"/>
                  <a:ea typeface="Roboto"/>
                  <a:cs typeface="Roboto"/>
                  <a:sym typeface="Roboto"/>
                </a:rPr>
                <a:t>, </a:t>
              </a:r>
              <a:r>
                <a:rPr lang="en-US" sz="2000" b="1" u="none">
                  <a:solidFill>
                    <a:srgbClr val="454699"/>
                  </a:solidFill>
                  <a:latin typeface="Roboto Bold"/>
                  <a:ea typeface="Roboto Bold"/>
                  <a:cs typeface="Roboto Bold"/>
                  <a:sym typeface="Roboto Bold"/>
                </a:rPr>
                <a:t>Cloud Computing Platforms</a:t>
              </a:r>
              <a:r>
                <a:rPr lang="en-US" sz="2000" u="none">
                  <a:solidFill>
                    <a:srgbClr val="454699"/>
                  </a:solidFill>
                  <a:latin typeface="Roboto"/>
                  <a:ea typeface="Roboto"/>
                  <a:cs typeface="Roboto"/>
                  <a:sym typeface="Roboto"/>
                </a:rPr>
                <a:t> like </a:t>
              </a:r>
              <a:r>
                <a:rPr lang="en-US" sz="2000" i="1" u="sng">
                  <a:solidFill>
                    <a:srgbClr val="454699"/>
                  </a:solidFill>
                  <a:latin typeface="Roboto Italics"/>
                  <a:ea typeface="Roboto Italics"/>
                  <a:cs typeface="Roboto Italics"/>
                  <a:sym typeface="Roboto Italics"/>
                </a:rPr>
                <a:t>Microsoft Azure</a:t>
              </a:r>
              <a:r>
                <a:rPr lang="en-US" sz="2000" u="none">
                  <a:solidFill>
                    <a:srgbClr val="454699"/>
                  </a:solidFill>
                  <a:latin typeface="Roboto"/>
                  <a:ea typeface="Roboto"/>
                  <a:cs typeface="Roboto"/>
                  <a:sym typeface="Roboto"/>
                </a:rPr>
                <a:t>, </a:t>
              </a:r>
              <a:r>
                <a:rPr lang="en-US" sz="2000" b="1" u="none">
                  <a:solidFill>
                    <a:srgbClr val="454699"/>
                  </a:solidFill>
                  <a:latin typeface="Roboto Bold"/>
                  <a:ea typeface="Roboto Bold"/>
                  <a:cs typeface="Roboto Bold"/>
                  <a:sym typeface="Roboto Bold"/>
                </a:rPr>
                <a:t>Content Delivery Networks</a:t>
              </a:r>
              <a:r>
                <a:rPr lang="en-US" sz="2000" u="none">
                  <a:solidFill>
                    <a:srgbClr val="454699"/>
                  </a:solidFill>
                  <a:latin typeface="Roboto"/>
                  <a:ea typeface="Roboto"/>
                  <a:cs typeface="Roboto"/>
                  <a:sym typeface="Roboto"/>
                </a:rPr>
                <a:t> like </a:t>
              </a:r>
              <a:r>
                <a:rPr lang="en-US" sz="2000" i="1" u="sng">
                  <a:solidFill>
                    <a:srgbClr val="454699"/>
                  </a:solidFill>
                  <a:latin typeface="Roboto Italics"/>
                  <a:ea typeface="Roboto Italics"/>
                  <a:cs typeface="Roboto Italics"/>
                  <a:sym typeface="Roboto Italics"/>
                </a:rPr>
                <a:t>Cloudflare</a:t>
              </a:r>
            </a:p>
            <a:p>
              <a:pPr marL="0" lvl="0" indent="0" algn="l">
                <a:lnSpc>
                  <a:spcPts val="2840"/>
                </a:lnSpc>
                <a:spcBef>
                  <a:spcPct val="0"/>
                </a:spcBef>
              </a:pPr>
              <a:endParaRPr lang="en-US" sz="2000" i="1" u="sng">
                <a:solidFill>
                  <a:srgbClr val="454699"/>
                </a:solidFill>
                <a:latin typeface="Roboto Italics"/>
                <a:ea typeface="Roboto Italics"/>
                <a:cs typeface="Roboto Italics"/>
                <a:sym typeface="Roboto Italics"/>
              </a:endParaRPr>
            </a:p>
            <a:p>
              <a:pPr marL="0" lvl="0" indent="0" algn="l">
                <a:lnSpc>
                  <a:spcPts val="2840"/>
                </a:lnSpc>
                <a:spcBef>
                  <a:spcPct val="0"/>
                </a:spcBef>
              </a:pPr>
              <a:r>
                <a:rPr lang="en-US" sz="2000" u="none">
                  <a:solidFill>
                    <a:srgbClr val="454699"/>
                  </a:solidFill>
                  <a:latin typeface="Roboto"/>
                  <a:ea typeface="Roboto"/>
                  <a:cs typeface="Roboto"/>
                  <a:sym typeface="Roboto"/>
                </a:rPr>
                <a:t>Its </a:t>
              </a:r>
              <a:r>
                <a:rPr lang="en-US" sz="2000" b="1" u="none">
                  <a:solidFill>
                    <a:srgbClr val="454699"/>
                  </a:solidFill>
                  <a:latin typeface="Roboto Bold"/>
                  <a:ea typeface="Roboto Bold"/>
                  <a:cs typeface="Roboto Bold"/>
                  <a:sym typeface="Roboto Bold"/>
                </a:rPr>
                <a:t>advantages</a:t>
              </a:r>
              <a:r>
                <a:rPr lang="en-US" sz="2000" u="none">
                  <a:solidFill>
                    <a:srgbClr val="454699"/>
                  </a:solidFill>
                  <a:latin typeface="Roboto"/>
                  <a:ea typeface="Roboto"/>
                  <a:cs typeface="Roboto"/>
                  <a:sym typeface="Roboto"/>
                </a:rPr>
                <a:t> include Transparency, Error detection, Great Scalability, Better performance, Load Sharing etc. but can become very complex and difficult to manage.</a:t>
              </a:r>
            </a:p>
          </p:txBody>
        </p:sp>
      </p:grpSp>
      <p:grpSp>
        <p:nvGrpSpPr>
          <p:cNvPr id="14" name="Group 14"/>
          <p:cNvGrpSpPr/>
          <p:nvPr/>
        </p:nvGrpSpPr>
        <p:grpSpPr>
          <a:xfrm>
            <a:off x="12379169" y="1417014"/>
            <a:ext cx="5529796" cy="8516958"/>
            <a:chOff x="0" y="0"/>
            <a:chExt cx="7373062" cy="11355943"/>
          </a:xfrm>
        </p:grpSpPr>
        <p:sp>
          <p:nvSpPr>
            <p:cNvPr id="15" name="TextBox 15"/>
            <p:cNvSpPr txBox="1"/>
            <p:nvPr/>
          </p:nvSpPr>
          <p:spPr>
            <a:xfrm>
              <a:off x="0" y="-19050"/>
              <a:ext cx="7373062" cy="622552"/>
            </a:xfrm>
            <a:prstGeom prst="rect">
              <a:avLst/>
            </a:prstGeom>
          </p:spPr>
          <p:txBody>
            <a:bodyPr lIns="0" tIns="0" rIns="0" bIns="0" rtlCol="0" anchor="t">
              <a:spAutoFit/>
            </a:bodyPr>
            <a:lstStyle/>
            <a:p>
              <a:pPr marL="0" lvl="0" indent="0" algn="l">
                <a:lnSpc>
                  <a:spcPts val="3773"/>
                </a:lnSpc>
                <a:spcBef>
                  <a:spcPct val="0"/>
                </a:spcBef>
              </a:pPr>
              <a:r>
                <a:rPr lang="en-US" sz="2994" b="1">
                  <a:solidFill>
                    <a:srgbClr val="454699"/>
                  </a:solidFill>
                  <a:latin typeface="League Spartan"/>
                  <a:ea typeface="League Spartan"/>
                  <a:cs typeface="League Spartan"/>
                  <a:sym typeface="League Spartan"/>
                </a:rPr>
                <a:t>      DECENTRALIZED</a:t>
              </a:r>
            </a:p>
          </p:txBody>
        </p:sp>
        <p:sp>
          <p:nvSpPr>
            <p:cNvPr id="16" name="TextBox 16"/>
            <p:cNvSpPr txBox="1"/>
            <p:nvPr/>
          </p:nvSpPr>
          <p:spPr>
            <a:xfrm>
              <a:off x="0" y="801187"/>
              <a:ext cx="7373062" cy="10554756"/>
            </a:xfrm>
            <a:prstGeom prst="rect">
              <a:avLst/>
            </a:prstGeom>
          </p:spPr>
          <p:txBody>
            <a:bodyPr lIns="0" tIns="0" rIns="0" bIns="0" rtlCol="0" anchor="t">
              <a:spAutoFit/>
            </a:bodyPr>
            <a:lstStyle/>
            <a:p>
              <a:pPr marL="0" lvl="0" indent="0" algn="l">
                <a:lnSpc>
                  <a:spcPts val="2835"/>
                </a:lnSpc>
                <a:spcBef>
                  <a:spcPct val="0"/>
                </a:spcBef>
              </a:pPr>
              <a:r>
                <a:rPr lang="en-US" sz="1996">
                  <a:solidFill>
                    <a:srgbClr val="454699"/>
                  </a:solidFill>
                  <a:latin typeface="Roboto"/>
                  <a:ea typeface="Roboto"/>
                  <a:cs typeface="Roboto"/>
                  <a:sym typeface="Roboto"/>
                </a:rPr>
                <a:t>In decentralized systems/computing, decision-making, control and operation is distributed that no single entity has complete control of the entire system/network. Each node operates independently but collaborates with others to achieve a common goal. </a:t>
              </a:r>
              <a:r>
                <a:rPr lang="en-US" sz="1996" b="1">
                  <a:solidFill>
                    <a:srgbClr val="454699"/>
                  </a:solidFill>
                  <a:latin typeface="Roboto Bold"/>
                  <a:ea typeface="Roboto Bold"/>
                  <a:cs typeface="Roboto Bold"/>
                  <a:sym typeface="Roboto Bold"/>
                </a:rPr>
                <a:t>Cryptography</a:t>
              </a:r>
              <a:r>
                <a:rPr lang="en-US" sz="1996">
                  <a:solidFill>
                    <a:srgbClr val="454699"/>
                  </a:solidFill>
                  <a:latin typeface="Roboto"/>
                  <a:ea typeface="Roboto"/>
                  <a:cs typeface="Roboto"/>
                  <a:sym typeface="Roboto"/>
                </a:rPr>
                <a:t> plays a key role to ensure security and privacy in decentralized systems.</a:t>
              </a:r>
            </a:p>
            <a:p>
              <a:pPr marL="0" lvl="0" indent="0" algn="l">
                <a:lnSpc>
                  <a:spcPts val="2835"/>
                </a:lnSpc>
                <a:spcBef>
                  <a:spcPct val="0"/>
                </a:spcBef>
              </a:pPr>
              <a:endParaRPr lang="en-US" sz="1996">
                <a:solidFill>
                  <a:srgbClr val="454699"/>
                </a:solidFill>
                <a:latin typeface="Roboto"/>
                <a:ea typeface="Roboto"/>
                <a:cs typeface="Roboto"/>
                <a:sym typeface="Roboto"/>
              </a:endParaRPr>
            </a:p>
            <a:p>
              <a:pPr marL="0" lvl="0" indent="0" algn="l">
                <a:lnSpc>
                  <a:spcPts val="2835"/>
                </a:lnSpc>
                <a:spcBef>
                  <a:spcPct val="0"/>
                </a:spcBef>
              </a:pPr>
              <a:r>
                <a:rPr lang="en-US" sz="1996" b="1" u="none">
                  <a:solidFill>
                    <a:srgbClr val="454699"/>
                  </a:solidFill>
                  <a:latin typeface="Roboto Bold"/>
                  <a:ea typeface="Roboto Bold"/>
                  <a:cs typeface="Roboto Bold"/>
                  <a:sym typeface="Roboto Bold"/>
                </a:rPr>
                <a:t>Benefits </a:t>
              </a:r>
              <a:r>
                <a:rPr lang="en-US" sz="1996" u="none">
                  <a:solidFill>
                    <a:srgbClr val="454699"/>
                  </a:solidFill>
                  <a:latin typeface="Roboto"/>
                  <a:ea typeface="Roboto"/>
                  <a:cs typeface="Roboto"/>
                  <a:sym typeface="Roboto"/>
                </a:rPr>
                <a:t>include privacy and security for the users, node autonomy and redundancy, scalability effectiveness, Efficiency and Fault Tolerance etc.</a:t>
              </a:r>
            </a:p>
            <a:p>
              <a:pPr marL="0" lvl="0" indent="0" algn="l">
                <a:lnSpc>
                  <a:spcPts val="2835"/>
                </a:lnSpc>
                <a:spcBef>
                  <a:spcPct val="0"/>
                </a:spcBef>
              </a:pPr>
              <a:endParaRPr lang="en-US" sz="1996" u="none">
                <a:solidFill>
                  <a:srgbClr val="454699"/>
                </a:solidFill>
                <a:latin typeface="Roboto"/>
                <a:ea typeface="Roboto"/>
                <a:cs typeface="Roboto"/>
                <a:sym typeface="Roboto"/>
              </a:endParaRPr>
            </a:p>
            <a:p>
              <a:pPr marL="0" lvl="0" indent="0" algn="l">
                <a:lnSpc>
                  <a:spcPts val="2835"/>
                </a:lnSpc>
                <a:spcBef>
                  <a:spcPct val="0"/>
                </a:spcBef>
              </a:pPr>
              <a:r>
                <a:rPr lang="en-US" sz="1996" b="1" u="none">
                  <a:solidFill>
                    <a:srgbClr val="454699"/>
                  </a:solidFill>
                  <a:latin typeface="Roboto Bold"/>
                  <a:ea typeface="Roboto Bold"/>
                  <a:cs typeface="Roboto Bold"/>
                  <a:sym typeface="Roboto Bold"/>
                </a:rPr>
                <a:t>Top examples</a:t>
              </a:r>
              <a:r>
                <a:rPr lang="en-US" sz="1996" u="none">
                  <a:solidFill>
                    <a:srgbClr val="454699"/>
                  </a:solidFill>
                  <a:latin typeface="Roboto"/>
                  <a:ea typeface="Roboto"/>
                  <a:cs typeface="Roboto"/>
                  <a:sym typeface="Roboto"/>
                </a:rPr>
                <a:t> of decentralized systems include </a:t>
              </a:r>
              <a:r>
                <a:rPr lang="en-US" sz="1996" b="1" u="none">
                  <a:solidFill>
                    <a:srgbClr val="454699"/>
                  </a:solidFill>
                  <a:latin typeface="Roboto Bold"/>
                  <a:ea typeface="Roboto Bold"/>
                  <a:cs typeface="Roboto Bold"/>
                  <a:sym typeface="Roboto Bold"/>
                </a:rPr>
                <a:t>Blockchain</a:t>
              </a:r>
              <a:r>
                <a:rPr lang="en-US" sz="1996" u="none">
                  <a:solidFill>
                    <a:srgbClr val="454699"/>
                  </a:solidFill>
                  <a:latin typeface="Roboto"/>
                  <a:ea typeface="Roboto"/>
                  <a:cs typeface="Roboto"/>
                  <a:sym typeface="Roboto"/>
                </a:rPr>
                <a:t> (Database), </a:t>
              </a:r>
              <a:r>
                <a:rPr lang="en-US" sz="1996" b="1" u="none">
                  <a:solidFill>
                    <a:srgbClr val="454699"/>
                  </a:solidFill>
                  <a:latin typeface="Roboto Bold"/>
                  <a:ea typeface="Roboto Bold"/>
                  <a:cs typeface="Roboto Bold"/>
                  <a:sym typeface="Roboto Bold"/>
                </a:rPr>
                <a:t>Tor</a:t>
              </a:r>
              <a:r>
                <a:rPr lang="en-US" sz="1996" u="none">
                  <a:solidFill>
                    <a:srgbClr val="454699"/>
                  </a:solidFill>
                  <a:latin typeface="Roboto"/>
                  <a:ea typeface="Roboto"/>
                  <a:cs typeface="Roboto"/>
                  <a:sym typeface="Roboto"/>
                </a:rPr>
                <a:t> (Network)</a:t>
              </a:r>
            </a:p>
            <a:p>
              <a:pPr marL="0" lvl="0" indent="0" algn="l">
                <a:lnSpc>
                  <a:spcPts val="2835"/>
                </a:lnSpc>
                <a:spcBef>
                  <a:spcPct val="0"/>
                </a:spcBef>
              </a:pPr>
              <a:endParaRPr lang="en-US" sz="1996" u="none">
                <a:solidFill>
                  <a:srgbClr val="454699"/>
                </a:solidFill>
                <a:latin typeface="Roboto"/>
                <a:ea typeface="Roboto"/>
                <a:cs typeface="Roboto"/>
                <a:sym typeface="Roboto"/>
              </a:endParaRPr>
            </a:p>
            <a:p>
              <a:pPr marL="0" lvl="0" indent="0" algn="l">
                <a:lnSpc>
                  <a:spcPts val="2835"/>
                </a:lnSpc>
                <a:spcBef>
                  <a:spcPct val="0"/>
                </a:spcBef>
              </a:pPr>
              <a:r>
                <a:rPr lang="en-US" sz="1996" b="1" u="none">
                  <a:solidFill>
                    <a:srgbClr val="454699"/>
                  </a:solidFill>
                  <a:latin typeface="Roboto Bold"/>
                  <a:ea typeface="Roboto Bold"/>
                  <a:cs typeface="Roboto Bold"/>
                  <a:sym typeface="Roboto Bold"/>
                </a:rPr>
                <a:t>Feel free to check out my Cryptography and Tor opensource project</a:t>
              </a:r>
              <a:r>
                <a:rPr lang="en-US" sz="1996" u="none">
                  <a:solidFill>
                    <a:srgbClr val="454699"/>
                  </a:solidFill>
                  <a:latin typeface="Roboto"/>
                  <a:ea typeface="Roboto"/>
                  <a:cs typeface="Roboto"/>
                  <a:sym typeface="Roboto"/>
                </a:rPr>
                <a:t>:</a:t>
              </a:r>
            </a:p>
            <a:p>
              <a:pPr marL="0" lvl="0" indent="0" algn="l">
                <a:lnSpc>
                  <a:spcPts val="2267"/>
                </a:lnSpc>
                <a:spcBef>
                  <a:spcPct val="0"/>
                </a:spcBef>
              </a:pPr>
              <a:r>
                <a:rPr lang="en-US" sz="1596" b="1" i="1">
                  <a:solidFill>
                    <a:srgbClr val="454699"/>
                  </a:solidFill>
                  <a:latin typeface="Roboto Bold Italics"/>
                  <a:ea typeface="Roboto Bold Italics"/>
                  <a:cs typeface="Roboto Bold Italics"/>
                  <a:sym typeface="Roboto Bold Italics"/>
                </a:rPr>
                <a:t>https</a:t>
              </a:r>
              <a:r>
                <a:rPr lang="en-US" sz="1596" b="1" i="1" u="none">
                  <a:solidFill>
                    <a:srgbClr val="454699"/>
                  </a:solidFill>
                  <a:latin typeface="Roboto Bold Italics"/>
                  <a:ea typeface="Roboto Bold Italics"/>
                  <a:cs typeface="Roboto Bold Italics"/>
                  <a:sym typeface="Roboto Bold Italics"/>
                </a:rPr>
                <a:t>://github.com/privateboss0/Artificial_Intelligence_MIT/tree/goddevil/MIT_AI.ME/Cryptography</a:t>
              </a:r>
            </a:p>
            <a:p>
              <a:pPr marL="0" lvl="0" indent="0" algn="l">
                <a:lnSpc>
                  <a:spcPts val="2835"/>
                </a:lnSpc>
                <a:spcBef>
                  <a:spcPct val="0"/>
                </a:spcBef>
              </a:pPr>
              <a:endParaRPr lang="en-US" sz="1596" b="1" i="1" u="none">
                <a:solidFill>
                  <a:srgbClr val="454699"/>
                </a:solidFill>
                <a:latin typeface="Roboto Bold Italics"/>
                <a:ea typeface="Roboto Bold Italics"/>
                <a:cs typeface="Roboto Bold Italics"/>
                <a:sym typeface="Roboto Bold Italics"/>
              </a:endParaRPr>
            </a:p>
            <a:p>
              <a:pPr marL="0" lvl="0" indent="0" algn="l">
                <a:lnSpc>
                  <a:spcPts val="2409"/>
                </a:lnSpc>
                <a:spcBef>
                  <a:spcPct val="0"/>
                </a:spcBef>
              </a:pPr>
              <a:r>
                <a:rPr lang="en-US" sz="1696" b="1" i="1" u="none">
                  <a:solidFill>
                    <a:srgbClr val="454699"/>
                  </a:solidFill>
                  <a:latin typeface="Roboto Bold Italics"/>
                  <a:ea typeface="Roboto Bold Italics"/>
                  <a:cs typeface="Roboto Bold Italics"/>
                  <a:sym typeface="Roboto Bold Italics"/>
                </a:rPr>
                <a:t>https://github.com/privateboss0/Secure_Tor_Ip_Changer</a:t>
              </a:r>
              <a:r>
                <a:rPr lang="en-US" sz="1696" b="1" u="none">
                  <a:solidFill>
                    <a:srgbClr val="454699"/>
                  </a:solidFill>
                  <a:latin typeface="Roboto Bold"/>
                  <a:ea typeface="Roboto Bold"/>
                  <a:cs typeface="Roboto Bold"/>
                  <a:sym typeface="Roboto Bold"/>
                </a:rPr>
                <a:t> </a:t>
              </a:r>
            </a:p>
          </p:txBody>
        </p:sp>
      </p:grpSp>
      <p:sp>
        <p:nvSpPr>
          <p:cNvPr id="17" name="TextBox 17"/>
          <p:cNvSpPr txBox="1"/>
          <p:nvPr/>
        </p:nvSpPr>
        <p:spPr>
          <a:xfrm>
            <a:off x="1371600" y="7842"/>
            <a:ext cx="16068824" cy="690372"/>
          </a:xfrm>
          <a:prstGeom prst="rect">
            <a:avLst/>
          </a:prstGeom>
        </p:spPr>
        <p:txBody>
          <a:bodyPr lIns="0" tIns="0" rIns="0" bIns="0" rtlCol="0" anchor="t">
            <a:spAutoFit/>
          </a:bodyPr>
          <a:lstStyle/>
          <a:p>
            <a:pPr algn="ctr">
              <a:lnSpc>
                <a:spcPts val="5543"/>
              </a:lnSpc>
              <a:spcBef>
                <a:spcPct val="0"/>
              </a:spcBef>
            </a:pPr>
            <a:r>
              <a:rPr lang="en-US" sz="4399" dirty="0">
                <a:solidFill>
                  <a:srgbClr val="FAFCFC"/>
                </a:solidFill>
                <a:latin typeface="League Spartan"/>
                <a:ea typeface="League Spartan"/>
                <a:cs typeface="League Spartan"/>
                <a:sym typeface="League Spartan"/>
              </a:rPr>
              <a:t>Centralized vs Distributed vs Decentralized Architecture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5673546" y="8959411"/>
            <a:ext cx="1897484" cy="1061551"/>
            <a:chOff x="0" y="0"/>
            <a:chExt cx="726425" cy="406400"/>
          </a:xfrm>
        </p:grpSpPr>
        <p:sp>
          <p:nvSpPr>
            <p:cNvPr id="4" name="Freeform 4"/>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5" name="Group 5"/>
          <p:cNvGrpSpPr/>
          <p:nvPr/>
        </p:nvGrpSpPr>
        <p:grpSpPr>
          <a:xfrm>
            <a:off x="16622288" y="9102286"/>
            <a:ext cx="775800" cy="775800"/>
            <a:chOff x="0" y="0"/>
            <a:chExt cx="1034400" cy="1034400"/>
          </a:xfrm>
        </p:grpSpPr>
        <p:sp>
          <p:nvSpPr>
            <p:cNvPr id="6" name="Freeform 6"/>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7" name="Freeform 7"/>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grpSp>
        <p:nvGrpSpPr>
          <p:cNvPr id="8" name="Group 8"/>
          <p:cNvGrpSpPr/>
          <p:nvPr/>
        </p:nvGrpSpPr>
        <p:grpSpPr>
          <a:xfrm>
            <a:off x="655393" y="3535058"/>
            <a:ext cx="16014520" cy="3716902"/>
            <a:chOff x="0" y="0"/>
            <a:chExt cx="4175414" cy="969096"/>
          </a:xfrm>
        </p:grpSpPr>
        <p:sp>
          <p:nvSpPr>
            <p:cNvPr id="9" name="Freeform 9"/>
            <p:cNvSpPr/>
            <p:nvPr/>
          </p:nvSpPr>
          <p:spPr>
            <a:xfrm>
              <a:off x="0" y="0"/>
              <a:ext cx="4175415" cy="969096"/>
            </a:xfrm>
            <a:custGeom>
              <a:avLst/>
              <a:gdLst/>
              <a:ahLst/>
              <a:cxnLst/>
              <a:rect l="l" t="t" r="r" b="b"/>
              <a:pathLst>
                <a:path w="4175415" h="969096">
                  <a:moveTo>
                    <a:pt x="4050954" y="969096"/>
                  </a:moveTo>
                  <a:lnTo>
                    <a:pt x="124460" y="969096"/>
                  </a:lnTo>
                  <a:cubicBezTo>
                    <a:pt x="55880" y="969096"/>
                    <a:pt x="0" y="913216"/>
                    <a:pt x="0" y="844636"/>
                  </a:cubicBezTo>
                  <a:lnTo>
                    <a:pt x="0" y="124460"/>
                  </a:lnTo>
                  <a:cubicBezTo>
                    <a:pt x="0" y="55880"/>
                    <a:pt x="55880" y="0"/>
                    <a:pt x="124460" y="0"/>
                  </a:cubicBezTo>
                  <a:lnTo>
                    <a:pt x="4050954" y="0"/>
                  </a:lnTo>
                  <a:cubicBezTo>
                    <a:pt x="4119534" y="0"/>
                    <a:pt x="4175415" y="55880"/>
                    <a:pt x="4175415" y="124460"/>
                  </a:cubicBezTo>
                  <a:lnTo>
                    <a:pt x="4175415" y="844636"/>
                  </a:lnTo>
                  <a:cubicBezTo>
                    <a:pt x="4175415" y="913216"/>
                    <a:pt x="4119534" y="969096"/>
                    <a:pt x="4050954" y="969096"/>
                  </a:cubicBezTo>
                  <a:close/>
                </a:path>
              </a:pathLst>
            </a:custGeom>
            <a:solidFill>
              <a:srgbClr val="E8B0E4"/>
            </a:solidFill>
          </p:spPr>
          <p:txBody>
            <a:bodyPr/>
            <a:lstStyle/>
            <a:p>
              <a:endParaRPr lang="en-CA"/>
            </a:p>
          </p:txBody>
        </p:sp>
      </p:grpSp>
      <p:sp>
        <p:nvSpPr>
          <p:cNvPr id="10" name="TextBox 10"/>
          <p:cNvSpPr txBox="1"/>
          <p:nvPr/>
        </p:nvSpPr>
        <p:spPr>
          <a:xfrm>
            <a:off x="1271853" y="3722497"/>
            <a:ext cx="15339055" cy="2784856"/>
          </a:xfrm>
          <a:prstGeom prst="rect">
            <a:avLst/>
          </a:prstGeom>
        </p:spPr>
        <p:txBody>
          <a:bodyPr lIns="0" tIns="0" rIns="0" bIns="0" rtlCol="0" anchor="t">
            <a:spAutoFit/>
          </a:bodyPr>
          <a:lstStyle/>
          <a:p>
            <a:pPr algn="l">
              <a:lnSpc>
                <a:spcPts val="3692"/>
              </a:lnSpc>
            </a:pPr>
            <a:r>
              <a:rPr lang="en-US" sz="2600">
                <a:solidFill>
                  <a:srgbClr val="454699"/>
                </a:solidFill>
                <a:latin typeface="Roboto"/>
                <a:ea typeface="Roboto"/>
                <a:cs typeface="Roboto"/>
                <a:sym typeface="Roboto"/>
              </a:rPr>
              <a:t>To attain a fully safe autonomous vehicle, engineers have to develop and integrate four major hard technologies to make it a reality which are </a:t>
            </a:r>
            <a:r>
              <a:rPr lang="en-US" sz="2600" b="1">
                <a:solidFill>
                  <a:srgbClr val="FF3131"/>
                </a:solidFill>
                <a:latin typeface="Roboto Bold"/>
                <a:ea typeface="Roboto Bold"/>
                <a:cs typeface="Roboto Bold"/>
                <a:sym typeface="Roboto Bold"/>
              </a:rPr>
              <a:t>Software</a:t>
            </a:r>
            <a:r>
              <a:rPr lang="en-US" sz="2600">
                <a:solidFill>
                  <a:srgbClr val="454699"/>
                </a:solidFill>
                <a:latin typeface="Roboto"/>
                <a:ea typeface="Roboto"/>
                <a:cs typeface="Roboto"/>
                <a:sym typeface="Roboto"/>
              </a:rPr>
              <a:t>, </a:t>
            </a:r>
            <a:r>
              <a:rPr lang="en-US" sz="2600" b="1">
                <a:solidFill>
                  <a:srgbClr val="00BF63"/>
                </a:solidFill>
                <a:latin typeface="Roboto Bold"/>
                <a:ea typeface="Roboto Bold"/>
                <a:cs typeface="Roboto Bold"/>
                <a:sym typeface="Roboto Bold"/>
              </a:rPr>
              <a:t>Network engineering</a:t>
            </a:r>
            <a:r>
              <a:rPr lang="en-US" sz="2600">
                <a:solidFill>
                  <a:srgbClr val="454699"/>
                </a:solidFill>
                <a:latin typeface="Roboto"/>
                <a:ea typeface="Roboto"/>
                <a:cs typeface="Roboto"/>
                <a:sym typeface="Roboto"/>
              </a:rPr>
              <a:t>, </a:t>
            </a:r>
            <a:r>
              <a:rPr lang="en-US" sz="2600" b="1">
                <a:solidFill>
                  <a:srgbClr val="000000"/>
                </a:solidFill>
                <a:latin typeface="Roboto Bold"/>
                <a:ea typeface="Roboto Bold"/>
                <a:cs typeface="Roboto Bold"/>
                <a:sym typeface="Roboto Bold"/>
              </a:rPr>
              <a:t>Cybersecurity </a:t>
            </a:r>
            <a:r>
              <a:rPr lang="en-US" sz="2600">
                <a:solidFill>
                  <a:srgbClr val="454699"/>
                </a:solidFill>
                <a:latin typeface="Roboto"/>
                <a:ea typeface="Roboto"/>
                <a:cs typeface="Roboto"/>
                <a:sym typeface="Roboto"/>
              </a:rPr>
              <a:t>and </a:t>
            </a:r>
            <a:r>
              <a:rPr lang="en-US" sz="2600" b="1">
                <a:solidFill>
                  <a:srgbClr val="004AAD"/>
                </a:solidFill>
                <a:latin typeface="Roboto Bold"/>
                <a:ea typeface="Roboto Bold"/>
                <a:cs typeface="Roboto Bold"/>
                <a:sym typeface="Roboto Bold"/>
              </a:rPr>
              <a:t>Artificial intelligence</a:t>
            </a:r>
            <a:r>
              <a:rPr lang="en-US" sz="2600">
                <a:solidFill>
                  <a:srgbClr val="454699"/>
                </a:solidFill>
                <a:latin typeface="Roboto"/>
                <a:ea typeface="Roboto"/>
                <a:cs typeface="Roboto"/>
                <a:sym typeface="Roboto"/>
              </a:rPr>
              <a:t>. Let have a high level overview of each of them and their impact. </a:t>
            </a:r>
          </a:p>
          <a:p>
            <a:pPr algn="l">
              <a:lnSpc>
                <a:spcPts val="3692"/>
              </a:lnSpc>
            </a:pPr>
            <a:endParaRPr lang="en-US" sz="2600">
              <a:solidFill>
                <a:srgbClr val="454699"/>
              </a:solidFill>
              <a:latin typeface="Roboto"/>
              <a:ea typeface="Roboto"/>
              <a:cs typeface="Roboto"/>
              <a:sym typeface="Roboto"/>
            </a:endParaRPr>
          </a:p>
          <a:p>
            <a:pPr marL="0" lvl="0" indent="0" algn="l">
              <a:lnSpc>
                <a:spcPts val="3692"/>
              </a:lnSpc>
              <a:spcBef>
                <a:spcPct val="0"/>
              </a:spcBef>
            </a:pPr>
            <a:r>
              <a:rPr lang="en-US" sz="2600" b="1" i="1">
                <a:solidFill>
                  <a:srgbClr val="FAFCFC"/>
                </a:solidFill>
                <a:latin typeface="Roboto Bold Italics"/>
                <a:ea typeface="Roboto Bold Italics"/>
                <a:cs typeface="Roboto Bold Italics"/>
                <a:sym typeface="Roboto Bold Italics"/>
              </a:rPr>
              <a:t>SIDE NOTE</a:t>
            </a:r>
            <a:r>
              <a:rPr lang="en-US" sz="2600">
                <a:solidFill>
                  <a:srgbClr val="454699"/>
                </a:solidFill>
                <a:latin typeface="Roboto"/>
                <a:ea typeface="Roboto"/>
                <a:cs typeface="Roboto"/>
                <a:sym typeface="Roboto"/>
              </a:rPr>
              <a:t>: The top </a:t>
            </a:r>
            <a:r>
              <a:rPr lang="en-US" sz="2600" b="1">
                <a:solidFill>
                  <a:srgbClr val="454699"/>
                </a:solidFill>
                <a:latin typeface="Roboto Bold"/>
                <a:ea typeface="Roboto Bold"/>
                <a:cs typeface="Roboto Bold"/>
                <a:sym typeface="Roboto Bold"/>
              </a:rPr>
              <a:t>generalized Computer Science</a:t>
            </a:r>
            <a:r>
              <a:rPr lang="en-US" sz="2600">
                <a:solidFill>
                  <a:srgbClr val="454699"/>
                </a:solidFill>
                <a:latin typeface="Roboto"/>
                <a:ea typeface="Roboto"/>
                <a:cs typeface="Roboto"/>
                <a:sym typeface="Roboto"/>
              </a:rPr>
              <a:t> branches include Database, Graphics and Visualization, Data structure and algorithms, Scientific Computing.</a:t>
            </a:r>
          </a:p>
        </p:txBody>
      </p:sp>
      <p:sp>
        <p:nvSpPr>
          <p:cNvPr id="11" name="TextBox 11"/>
          <p:cNvSpPr txBox="1"/>
          <p:nvPr/>
        </p:nvSpPr>
        <p:spPr>
          <a:xfrm>
            <a:off x="311730" y="525591"/>
            <a:ext cx="17259300" cy="2513509"/>
          </a:xfrm>
          <a:prstGeom prst="rect">
            <a:avLst/>
          </a:prstGeom>
        </p:spPr>
        <p:txBody>
          <a:bodyPr lIns="0" tIns="0" rIns="0" bIns="0" rtlCol="0" anchor="t">
            <a:spAutoFit/>
          </a:bodyPr>
          <a:lstStyle/>
          <a:p>
            <a:pPr marL="0" lvl="0" indent="0" algn="l">
              <a:lnSpc>
                <a:spcPts val="9828"/>
              </a:lnSpc>
              <a:spcBef>
                <a:spcPct val="0"/>
              </a:spcBef>
            </a:pPr>
            <a:r>
              <a:rPr lang="en-US" sz="7800" b="1" dirty="0">
                <a:solidFill>
                  <a:srgbClr val="454699"/>
                </a:solidFill>
                <a:latin typeface="League Spartan"/>
                <a:ea typeface="League Spartan"/>
                <a:cs typeface="League Spartan"/>
                <a:sym typeface="League Spartan"/>
              </a:rPr>
              <a:t>FOUR HARD PROBLEMS FOR SAFE AUTONOMOUS VEHICLES.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538591" y="1028700"/>
            <a:ext cx="5335152" cy="8229600"/>
            <a:chOff x="0" y="0"/>
            <a:chExt cx="1240752" cy="1913890"/>
          </a:xfrm>
        </p:grpSpPr>
        <p:sp>
          <p:nvSpPr>
            <p:cNvPr id="3" name="Freeform 3"/>
            <p:cNvSpPr/>
            <p:nvPr/>
          </p:nvSpPr>
          <p:spPr>
            <a:xfrm>
              <a:off x="0" y="0"/>
              <a:ext cx="1240752" cy="1913890"/>
            </a:xfrm>
            <a:custGeom>
              <a:avLst/>
              <a:gdLst/>
              <a:ahLst/>
              <a:cxnLst/>
              <a:rect l="l" t="t" r="r" b="b"/>
              <a:pathLst>
                <a:path w="1240752" h="1913890">
                  <a:moveTo>
                    <a:pt x="1116292" y="1913890"/>
                  </a:moveTo>
                  <a:lnTo>
                    <a:pt x="124460" y="1913890"/>
                  </a:lnTo>
                  <a:cubicBezTo>
                    <a:pt x="55880" y="1913890"/>
                    <a:pt x="0" y="1858010"/>
                    <a:pt x="0" y="1789430"/>
                  </a:cubicBezTo>
                  <a:lnTo>
                    <a:pt x="0" y="124460"/>
                  </a:lnTo>
                  <a:cubicBezTo>
                    <a:pt x="0" y="55880"/>
                    <a:pt x="55880" y="0"/>
                    <a:pt x="124460" y="0"/>
                  </a:cubicBezTo>
                  <a:lnTo>
                    <a:pt x="1116292" y="0"/>
                  </a:lnTo>
                  <a:cubicBezTo>
                    <a:pt x="1184872" y="0"/>
                    <a:pt x="1240752" y="55880"/>
                    <a:pt x="1240752" y="124460"/>
                  </a:cubicBezTo>
                  <a:lnTo>
                    <a:pt x="1240752" y="1789430"/>
                  </a:lnTo>
                  <a:cubicBezTo>
                    <a:pt x="1240752" y="1858010"/>
                    <a:pt x="1184872" y="1913890"/>
                    <a:pt x="1116292" y="1913890"/>
                  </a:cubicBezTo>
                  <a:close/>
                </a:path>
              </a:pathLst>
            </a:custGeom>
            <a:solidFill>
              <a:srgbClr val="F8F4EB"/>
            </a:solidFill>
          </p:spPr>
          <p:txBody>
            <a:bodyPr/>
            <a:lstStyle/>
            <a:p>
              <a:endParaRPr lang="en-CA"/>
            </a:p>
          </p:txBody>
        </p:sp>
      </p:grpSp>
      <p:grpSp>
        <p:nvGrpSpPr>
          <p:cNvPr id="4" name="Group 4"/>
          <p:cNvGrpSpPr/>
          <p:nvPr/>
        </p:nvGrpSpPr>
        <p:grpSpPr>
          <a:xfrm>
            <a:off x="6419530" y="1028700"/>
            <a:ext cx="5210711" cy="8229600"/>
            <a:chOff x="0" y="0"/>
            <a:chExt cx="1211812" cy="1913890"/>
          </a:xfrm>
        </p:grpSpPr>
        <p:sp>
          <p:nvSpPr>
            <p:cNvPr id="5" name="Freeform 5"/>
            <p:cNvSpPr/>
            <p:nvPr/>
          </p:nvSpPr>
          <p:spPr>
            <a:xfrm>
              <a:off x="0" y="0"/>
              <a:ext cx="1211812" cy="1913890"/>
            </a:xfrm>
            <a:custGeom>
              <a:avLst/>
              <a:gdLst/>
              <a:ahLst/>
              <a:cxnLst/>
              <a:rect l="l" t="t" r="r" b="b"/>
              <a:pathLst>
                <a:path w="1211812" h="1913890">
                  <a:moveTo>
                    <a:pt x="1087352" y="1913890"/>
                  </a:moveTo>
                  <a:lnTo>
                    <a:pt x="124460" y="1913890"/>
                  </a:lnTo>
                  <a:cubicBezTo>
                    <a:pt x="55880" y="1913890"/>
                    <a:pt x="0" y="1858010"/>
                    <a:pt x="0" y="1789430"/>
                  </a:cubicBezTo>
                  <a:lnTo>
                    <a:pt x="0" y="124460"/>
                  </a:lnTo>
                  <a:cubicBezTo>
                    <a:pt x="0" y="55880"/>
                    <a:pt x="55880" y="0"/>
                    <a:pt x="124460" y="0"/>
                  </a:cubicBezTo>
                  <a:lnTo>
                    <a:pt x="1087352" y="0"/>
                  </a:lnTo>
                  <a:cubicBezTo>
                    <a:pt x="1155932" y="0"/>
                    <a:pt x="1211812" y="55880"/>
                    <a:pt x="1211812" y="124460"/>
                  </a:cubicBezTo>
                  <a:lnTo>
                    <a:pt x="1211812" y="1789430"/>
                  </a:lnTo>
                  <a:cubicBezTo>
                    <a:pt x="1211812" y="1858010"/>
                    <a:pt x="1155932" y="1913890"/>
                    <a:pt x="1087352" y="1913890"/>
                  </a:cubicBezTo>
                  <a:close/>
                </a:path>
              </a:pathLst>
            </a:custGeom>
            <a:solidFill>
              <a:srgbClr val="F8F4EB"/>
            </a:solidFill>
          </p:spPr>
          <p:txBody>
            <a:bodyPr/>
            <a:lstStyle/>
            <a:p>
              <a:endParaRPr lang="en-CA"/>
            </a:p>
          </p:txBody>
        </p:sp>
      </p:grpSp>
      <p:grpSp>
        <p:nvGrpSpPr>
          <p:cNvPr id="6" name="Group 6"/>
          <p:cNvGrpSpPr/>
          <p:nvPr/>
        </p:nvGrpSpPr>
        <p:grpSpPr>
          <a:xfrm>
            <a:off x="12176028" y="1028700"/>
            <a:ext cx="5687736" cy="8229600"/>
            <a:chOff x="0" y="0"/>
            <a:chExt cx="1322750" cy="1913890"/>
          </a:xfrm>
        </p:grpSpPr>
        <p:sp>
          <p:nvSpPr>
            <p:cNvPr id="7" name="Freeform 7"/>
            <p:cNvSpPr/>
            <p:nvPr/>
          </p:nvSpPr>
          <p:spPr>
            <a:xfrm>
              <a:off x="0" y="0"/>
              <a:ext cx="1322750" cy="1913890"/>
            </a:xfrm>
            <a:custGeom>
              <a:avLst/>
              <a:gdLst/>
              <a:ahLst/>
              <a:cxnLst/>
              <a:rect l="l" t="t" r="r" b="b"/>
              <a:pathLst>
                <a:path w="1322750" h="1913890">
                  <a:moveTo>
                    <a:pt x="1198290" y="1913890"/>
                  </a:moveTo>
                  <a:lnTo>
                    <a:pt x="124460" y="1913890"/>
                  </a:lnTo>
                  <a:cubicBezTo>
                    <a:pt x="55880" y="1913890"/>
                    <a:pt x="0" y="1858010"/>
                    <a:pt x="0" y="1789430"/>
                  </a:cubicBezTo>
                  <a:lnTo>
                    <a:pt x="0" y="124460"/>
                  </a:lnTo>
                  <a:cubicBezTo>
                    <a:pt x="0" y="55880"/>
                    <a:pt x="55880" y="0"/>
                    <a:pt x="124460" y="0"/>
                  </a:cubicBezTo>
                  <a:lnTo>
                    <a:pt x="1198290" y="0"/>
                  </a:lnTo>
                  <a:cubicBezTo>
                    <a:pt x="1266870" y="0"/>
                    <a:pt x="1322750" y="55880"/>
                    <a:pt x="1322750" y="124460"/>
                  </a:cubicBezTo>
                  <a:lnTo>
                    <a:pt x="1322750" y="1789430"/>
                  </a:lnTo>
                  <a:cubicBezTo>
                    <a:pt x="1322750" y="1858010"/>
                    <a:pt x="1266870" y="1913890"/>
                    <a:pt x="1198290" y="1913890"/>
                  </a:cubicBezTo>
                  <a:close/>
                </a:path>
              </a:pathLst>
            </a:custGeom>
            <a:solidFill>
              <a:srgbClr val="F8F4EB"/>
            </a:solidFill>
          </p:spPr>
          <p:txBody>
            <a:bodyPr/>
            <a:lstStyle/>
            <a:p>
              <a:endParaRPr lang="en-CA"/>
            </a:p>
          </p:txBody>
        </p:sp>
      </p:grpSp>
      <p:grpSp>
        <p:nvGrpSpPr>
          <p:cNvPr id="8" name="Group 8"/>
          <p:cNvGrpSpPr/>
          <p:nvPr/>
        </p:nvGrpSpPr>
        <p:grpSpPr>
          <a:xfrm>
            <a:off x="913972" y="1462248"/>
            <a:ext cx="4665052" cy="7362504"/>
            <a:chOff x="0" y="0"/>
            <a:chExt cx="6220069" cy="9816671"/>
          </a:xfrm>
        </p:grpSpPr>
        <p:sp>
          <p:nvSpPr>
            <p:cNvPr id="9" name="TextBox 9"/>
            <p:cNvSpPr txBox="1"/>
            <p:nvPr/>
          </p:nvSpPr>
          <p:spPr>
            <a:xfrm>
              <a:off x="0" y="-19050"/>
              <a:ext cx="6220069" cy="720090"/>
            </a:xfrm>
            <a:prstGeom prst="rect">
              <a:avLst/>
            </a:prstGeom>
          </p:spPr>
          <p:txBody>
            <a:bodyPr lIns="0" tIns="0" rIns="0" bIns="0" rtlCol="0" anchor="t">
              <a:spAutoFit/>
            </a:bodyPr>
            <a:lstStyle/>
            <a:p>
              <a:pPr marL="0" lvl="0" indent="0" algn="l">
                <a:lnSpc>
                  <a:spcPts val="4410"/>
                </a:lnSpc>
                <a:spcBef>
                  <a:spcPct val="0"/>
                </a:spcBef>
              </a:pPr>
              <a:r>
                <a:rPr lang="en-US" sz="3500" b="1">
                  <a:solidFill>
                    <a:srgbClr val="FF3131"/>
                  </a:solidFill>
                  <a:latin typeface="League Spartan"/>
                  <a:ea typeface="League Spartan"/>
                  <a:cs typeface="League Spartan"/>
                  <a:sym typeface="League Spartan"/>
                </a:rPr>
                <a:t>SOFTWARE</a:t>
              </a:r>
            </a:p>
          </p:txBody>
        </p:sp>
        <p:sp>
          <p:nvSpPr>
            <p:cNvPr id="10" name="TextBox 10"/>
            <p:cNvSpPr txBox="1"/>
            <p:nvPr/>
          </p:nvSpPr>
          <p:spPr>
            <a:xfrm>
              <a:off x="0" y="899155"/>
              <a:ext cx="6220069" cy="8917517"/>
            </a:xfrm>
            <a:prstGeom prst="rect">
              <a:avLst/>
            </a:prstGeom>
          </p:spPr>
          <p:txBody>
            <a:bodyPr lIns="0" tIns="0" rIns="0" bIns="0" rtlCol="0" anchor="t">
              <a:spAutoFit/>
            </a:bodyPr>
            <a:lstStyle/>
            <a:p>
              <a:pPr marL="0" lvl="0" indent="0" algn="l">
                <a:lnSpc>
                  <a:spcPts val="3549"/>
                </a:lnSpc>
                <a:spcBef>
                  <a:spcPct val="0"/>
                </a:spcBef>
              </a:pPr>
              <a:r>
                <a:rPr lang="en-US" sz="2499" b="1">
                  <a:solidFill>
                    <a:srgbClr val="454699"/>
                  </a:solidFill>
                  <a:latin typeface="Roboto Bold"/>
                  <a:ea typeface="Roboto Bold"/>
                  <a:cs typeface="Roboto Bold"/>
                  <a:sym typeface="Roboto Bold"/>
                </a:rPr>
                <a:t>S</a:t>
              </a:r>
              <a:r>
                <a:rPr lang="en-US" sz="2499" b="1" u="none">
                  <a:solidFill>
                    <a:srgbClr val="454699"/>
                  </a:solidFill>
                  <a:latin typeface="Roboto Bold"/>
                  <a:ea typeface="Roboto Bold"/>
                  <a:cs typeface="Roboto Bold"/>
                  <a:sym typeface="Roboto Bold"/>
                </a:rPr>
                <a:t>oftware Engineering</a:t>
              </a:r>
              <a:r>
                <a:rPr lang="en-US" sz="2499" u="none">
                  <a:solidFill>
                    <a:srgbClr val="454699"/>
                  </a:solidFill>
                  <a:latin typeface="Roboto"/>
                  <a:ea typeface="Roboto"/>
                  <a:cs typeface="Roboto"/>
                  <a:sym typeface="Roboto"/>
                </a:rPr>
                <a:t> is a generalized branch of Computer Science that deals with the design, development, testing, and maintenance of software applications. Software engineers apply engineering principles and knowledge of programming languages to build software solutions.</a:t>
              </a:r>
            </a:p>
            <a:p>
              <a:pPr marL="0" lvl="0" indent="0" algn="l">
                <a:lnSpc>
                  <a:spcPts val="3550"/>
                </a:lnSpc>
                <a:spcBef>
                  <a:spcPct val="0"/>
                </a:spcBef>
              </a:pPr>
              <a:endParaRPr lang="en-US" sz="2499" u="none">
                <a:solidFill>
                  <a:srgbClr val="454699"/>
                </a:solidFill>
                <a:latin typeface="Roboto"/>
                <a:ea typeface="Roboto"/>
                <a:cs typeface="Roboto"/>
                <a:sym typeface="Roboto"/>
              </a:endParaRPr>
            </a:p>
            <a:p>
              <a:pPr marL="0" lvl="0" indent="0" algn="l">
                <a:lnSpc>
                  <a:spcPts val="3550"/>
                </a:lnSpc>
                <a:spcBef>
                  <a:spcPct val="0"/>
                </a:spcBef>
              </a:pPr>
              <a:r>
                <a:rPr lang="en-US" sz="2500" b="1" u="none">
                  <a:solidFill>
                    <a:srgbClr val="454699"/>
                  </a:solidFill>
                  <a:latin typeface="Roboto Bold"/>
                  <a:ea typeface="Roboto Bold"/>
                  <a:cs typeface="Roboto Bold"/>
                  <a:sym typeface="Roboto Bold"/>
                </a:rPr>
                <a:t>Software </a:t>
              </a:r>
              <a:r>
                <a:rPr lang="en-US" sz="2500" u="none">
                  <a:solidFill>
                    <a:srgbClr val="454699"/>
                  </a:solidFill>
                  <a:latin typeface="Roboto"/>
                  <a:ea typeface="Roboto"/>
                  <a:cs typeface="Roboto"/>
                  <a:sym typeface="Roboto"/>
                </a:rPr>
                <a:t>is a set of instructions, data or programs used to operate computer systems and execute specific tasks.</a:t>
              </a:r>
            </a:p>
          </p:txBody>
        </p:sp>
      </p:grpSp>
      <p:grpSp>
        <p:nvGrpSpPr>
          <p:cNvPr id="11" name="Group 11"/>
          <p:cNvGrpSpPr/>
          <p:nvPr/>
        </p:nvGrpSpPr>
        <p:grpSpPr>
          <a:xfrm>
            <a:off x="6753430" y="1462248"/>
            <a:ext cx="4542911" cy="7362504"/>
            <a:chOff x="0" y="0"/>
            <a:chExt cx="6057214" cy="9816671"/>
          </a:xfrm>
        </p:grpSpPr>
        <p:sp>
          <p:nvSpPr>
            <p:cNvPr id="12" name="TextBox 12"/>
            <p:cNvSpPr txBox="1"/>
            <p:nvPr/>
          </p:nvSpPr>
          <p:spPr>
            <a:xfrm>
              <a:off x="0" y="-19050"/>
              <a:ext cx="6057214" cy="720090"/>
            </a:xfrm>
            <a:prstGeom prst="rect">
              <a:avLst/>
            </a:prstGeom>
          </p:spPr>
          <p:txBody>
            <a:bodyPr lIns="0" tIns="0" rIns="0" bIns="0" rtlCol="0" anchor="t">
              <a:spAutoFit/>
            </a:bodyPr>
            <a:lstStyle/>
            <a:p>
              <a:pPr marL="0" lvl="0" indent="0" algn="l">
                <a:lnSpc>
                  <a:spcPts val="4410"/>
                </a:lnSpc>
                <a:spcBef>
                  <a:spcPct val="0"/>
                </a:spcBef>
              </a:pPr>
              <a:r>
                <a:rPr lang="en-US" sz="3500" b="1">
                  <a:solidFill>
                    <a:srgbClr val="00BF63"/>
                  </a:solidFill>
                  <a:latin typeface="League Spartan"/>
                  <a:ea typeface="League Spartan"/>
                  <a:cs typeface="League Spartan"/>
                  <a:sym typeface="League Spartan"/>
                </a:rPr>
                <a:t>NETWORKS</a:t>
              </a:r>
            </a:p>
          </p:txBody>
        </p:sp>
        <p:sp>
          <p:nvSpPr>
            <p:cNvPr id="13" name="TextBox 13"/>
            <p:cNvSpPr txBox="1"/>
            <p:nvPr/>
          </p:nvSpPr>
          <p:spPr>
            <a:xfrm>
              <a:off x="0" y="899155"/>
              <a:ext cx="6057214" cy="8917517"/>
            </a:xfrm>
            <a:prstGeom prst="rect">
              <a:avLst/>
            </a:prstGeom>
          </p:spPr>
          <p:txBody>
            <a:bodyPr lIns="0" tIns="0" rIns="0" bIns="0" rtlCol="0" anchor="t">
              <a:spAutoFit/>
            </a:bodyPr>
            <a:lstStyle/>
            <a:p>
              <a:pPr marL="0" lvl="0" indent="0" algn="l">
                <a:lnSpc>
                  <a:spcPts val="3549"/>
                </a:lnSpc>
                <a:spcBef>
                  <a:spcPct val="0"/>
                </a:spcBef>
              </a:pPr>
              <a:r>
                <a:rPr lang="en-US" sz="2499" b="1">
                  <a:solidFill>
                    <a:srgbClr val="454699"/>
                  </a:solidFill>
                  <a:latin typeface="Roboto Bold"/>
                  <a:ea typeface="Roboto Bold"/>
                  <a:cs typeface="Roboto Bold"/>
                  <a:sym typeface="Roboto Bold"/>
                </a:rPr>
                <a:t>N</a:t>
              </a:r>
              <a:r>
                <a:rPr lang="en-US" sz="2499" b="1" u="none">
                  <a:solidFill>
                    <a:srgbClr val="454699"/>
                  </a:solidFill>
                  <a:latin typeface="Roboto Bold"/>
                  <a:ea typeface="Roboto Bold"/>
                  <a:cs typeface="Roboto Bold"/>
                  <a:sym typeface="Roboto Bold"/>
                </a:rPr>
                <a:t>etwork Engineering</a:t>
              </a:r>
              <a:r>
                <a:rPr lang="en-US" sz="2499" u="none">
                  <a:solidFill>
                    <a:srgbClr val="454699"/>
                  </a:solidFill>
                  <a:latin typeface="Roboto"/>
                  <a:ea typeface="Roboto"/>
                  <a:cs typeface="Roboto"/>
                  <a:sym typeface="Roboto"/>
                </a:rPr>
                <a:t> is a specialized branch of Computer Science that deals with the design, implementation and management of computer networks for the transportation of instructions and data through a supported medium such as wireless, fiber optics cables etc. using algorithms/protocols, techniques and technologies.</a:t>
              </a:r>
            </a:p>
            <a:p>
              <a:pPr marL="0" lvl="0" indent="0" algn="l">
                <a:lnSpc>
                  <a:spcPts val="3550"/>
                </a:lnSpc>
                <a:spcBef>
                  <a:spcPct val="0"/>
                </a:spcBef>
              </a:pPr>
              <a:endParaRPr lang="en-US" sz="2499" u="none">
                <a:solidFill>
                  <a:srgbClr val="454699"/>
                </a:solidFill>
                <a:latin typeface="Roboto"/>
                <a:ea typeface="Roboto"/>
                <a:cs typeface="Roboto"/>
                <a:sym typeface="Roboto"/>
              </a:endParaRPr>
            </a:p>
            <a:p>
              <a:pPr marL="0" lvl="0" indent="0" algn="l">
                <a:lnSpc>
                  <a:spcPts val="3550"/>
                </a:lnSpc>
                <a:spcBef>
                  <a:spcPct val="0"/>
                </a:spcBef>
              </a:pPr>
              <a:r>
                <a:rPr lang="en-US" sz="2500" b="1" u="none">
                  <a:solidFill>
                    <a:srgbClr val="454699"/>
                  </a:solidFill>
                  <a:latin typeface="Roboto Bold"/>
                  <a:ea typeface="Roboto Bold"/>
                  <a:cs typeface="Roboto Bold"/>
                  <a:sym typeface="Roboto Bold"/>
                </a:rPr>
                <a:t>Computer network</a:t>
              </a:r>
              <a:r>
                <a:rPr lang="en-US" sz="2500" u="none">
                  <a:solidFill>
                    <a:srgbClr val="454699"/>
                  </a:solidFill>
                  <a:latin typeface="Roboto"/>
                  <a:ea typeface="Roboto"/>
                  <a:cs typeface="Roboto"/>
                  <a:sym typeface="Roboto"/>
                </a:rPr>
                <a:t> is a system of interconnected devices that share data and resources.</a:t>
              </a:r>
            </a:p>
          </p:txBody>
        </p:sp>
      </p:grpSp>
      <p:grpSp>
        <p:nvGrpSpPr>
          <p:cNvPr id="14" name="Group 14"/>
          <p:cNvGrpSpPr/>
          <p:nvPr/>
        </p:nvGrpSpPr>
        <p:grpSpPr>
          <a:xfrm>
            <a:off x="12416597" y="1448121"/>
            <a:ext cx="5447166" cy="7810179"/>
            <a:chOff x="0" y="0"/>
            <a:chExt cx="7262889" cy="10413572"/>
          </a:xfrm>
        </p:grpSpPr>
        <p:sp>
          <p:nvSpPr>
            <p:cNvPr id="15" name="TextBox 15"/>
            <p:cNvSpPr txBox="1"/>
            <p:nvPr/>
          </p:nvSpPr>
          <p:spPr>
            <a:xfrm>
              <a:off x="0" y="-19050"/>
              <a:ext cx="7262889" cy="720090"/>
            </a:xfrm>
            <a:prstGeom prst="rect">
              <a:avLst/>
            </a:prstGeom>
          </p:spPr>
          <p:txBody>
            <a:bodyPr lIns="0" tIns="0" rIns="0" bIns="0" rtlCol="0" anchor="t">
              <a:spAutoFit/>
            </a:bodyPr>
            <a:lstStyle/>
            <a:p>
              <a:pPr marL="0" lvl="0" indent="0" algn="l">
                <a:lnSpc>
                  <a:spcPts val="4410"/>
                </a:lnSpc>
                <a:spcBef>
                  <a:spcPct val="0"/>
                </a:spcBef>
              </a:pPr>
              <a:r>
                <a:rPr lang="en-US" sz="3500" b="1">
                  <a:solidFill>
                    <a:srgbClr val="000000"/>
                  </a:solidFill>
                  <a:latin typeface="League Spartan"/>
                  <a:ea typeface="League Spartan"/>
                  <a:cs typeface="League Spartan"/>
                  <a:sym typeface="League Spartan"/>
                </a:rPr>
                <a:t>CYBERSECURITY</a:t>
              </a:r>
            </a:p>
          </p:txBody>
        </p:sp>
        <p:sp>
          <p:nvSpPr>
            <p:cNvPr id="16" name="TextBox 16"/>
            <p:cNvSpPr txBox="1"/>
            <p:nvPr/>
          </p:nvSpPr>
          <p:spPr>
            <a:xfrm>
              <a:off x="0" y="899155"/>
              <a:ext cx="7262889" cy="9514417"/>
            </a:xfrm>
            <a:prstGeom prst="rect">
              <a:avLst/>
            </a:prstGeom>
          </p:spPr>
          <p:txBody>
            <a:bodyPr lIns="0" tIns="0" rIns="0" bIns="0" rtlCol="0" anchor="t">
              <a:spAutoFit/>
            </a:bodyPr>
            <a:lstStyle/>
            <a:p>
              <a:pPr algn="l">
                <a:lnSpc>
                  <a:spcPts val="3549"/>
                </a:lnSpc>
              </a:pPr>
              <a:r>
                <a:rPr lang="en-US" sz="2499" b="1">
                  <a:solidFill>
                    <a:srgbClr val="454699"/>
                  </a:solidFill>
                  <a:latin typeface="Roboto Bold"/>
                  <a:ea typeface="Roboto Bold"/>
                  <a:cs typeface="Roboto Bold"/>
                  <a:sym typeface="Roboto Bold"/>
                </a:rPr>
                <a:t>Cybersecurity Engineering</a:t>
              </a:r>
              <a:r>
                <a:rPr lang="en-US" sz="2499">
                  <a:solidFill>
                    <a:srgbClr val="454699"/>
                  </a:solidFill>
                  <a:latin typeface="Roboto"/>
                  <a:ea typeface="Roboto"/>
                  <a:cs typeface="Roboto"/>
                  <a:sym typeface="Roboto"/>
                </a:rPr>
                <a:t> is a specialized branch of Computer Science that focuses on designing, implementing and managing the cyber protection, detection and response of computer systems, digital assets, and data at rest or in motion from physical and cyber threats using algorithms, techniques and technologies.</a:t>
              </a:r>
            </a:p>
            <a:p>
              <a:pPr algn="l">
                <a:lnSpc>
                  <a:spcPts val="3549"/>
                </a:lnSpc>
              </a:pPr>
              <a:endParaRPr lang="en-US" sz="2499">
                <a:solidFill>
                  <a:srgbClr val="454699"/>
                </a:solidFill>
                <a:latin typeface="Roboto"/>
                <a:ea typeface="Roboto"/>
                <a:cs typeface="Roboto"/>
                <a:sym typeface="Roboto"/>
              </a:endParaRPr>
            </a:p>
            <a:p>
              <a:pPr marL="0" lvl="0" indent="0" algn="l">
                <a:lnSpc>
                  <a:spcPts val="3549"/>
                </a:lnSpc>
                <a:spcBef>
                  <a:spcPct val="0"/>
                </a:spcBef>
              </a:pPr>
              <a:r>
                <a:rPr lang="en-US" sz="2499" b="1">
                  <a:solidFill>
                    <a:srgbClr val="454699"/>
                  </a:solidFill>
                  <a:latin typeface="Roboto Bold"/>
                  <a:ea typeface="Roboto Bold"/>
                  <a:cs typeface="Roboto Bold"/>
                  <a:sym typeface="Roboto Bold"/>
                </a:rPr>
                <a:t>Cybersecurity </a:t>
              </a:r>
              <a:r>
                <a:rPr lang="en-US" sz="2499">
                  <a:solidFill>
                    <a:srgbClr val="454699"/>
                  </a:solidFill>
                  <a:latin typeface="Roboto"/>
                  <a:ea typeface="Roboto"/>
                  <a:cs typeface="Roboto"/>
                  <a:sym typeface="Roboto"/>
                </a:rPr>
                <a:t>refers to safeguarding computer software, systems and networks from threats that can lead to unauthorized information disclosure, misuse, theft or damage, disruption in services etc.</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grpSp>
        <p:nvGrpSpPr>
          <p:cNvPr id="2" name="Group 2"/>
          <p:cNvGrpSpPr/>
          <p:nvPr/>
        </p:nvGrpSpPr>
        <p:grpSpPr>
          <a:xfrm>
            <a:off x="5424000" y="1028700"/>
            <a:ext cx="8342482" cy="8229600"/>
            <a:chOff x="0" y="0"/>
            <a:chExt cx="1940142" cy="1913890"/>
          </a:xfrm>
        </p:grpSpPr>
        <p:sp>
          <p:nvSpPr>
            <p:cNvPr id="3" name="Freeform 3"/>
            <p:cNvSpPr/>
            <p:nvPr/>
          </p:nvSpPr>
          <p:spPr>
            <a:xfrm>
              <a:off x="0" y="0"/>
              <a:ext cx="1940142" cy="1913890"/>
            </a:xfrm>
            <a:custGeom>
              <a:avLst/>
              <a:gdLst/>
              <a:ahLst/>
              <a:cxnLst/>
              <a:rect l="l" t="t" r="r" b="b"/>
              <a:pathLst>
                <a:path w="1940142" h="1913890">
                  <a:moveTo>
                    <a:pt x="1815682" y="1913890"/>
                  </a:moveTo>
                  <a:lnTo>
                    <a:pt x="124460" y="1913890"/>
                  </a:lnTo>
                  <a:cubicBezTo>
                    <a:pt x="55880" y="1913890"/>
                    <a:pt x="0" y="1858010"/>
                    <a:pt x="0" y="1789430"/>
                  </a:cubicBezTo>
                  <a:lnTo>
                    <a:pt x="0" y="124460"/>
                  </a:lnTo>
                  <a:cubicBezTo>
                    <a:pt x="0" y="55880"/>
                    <a:pt x="55880" y="0"/>
                    <a:pt x="124460" y="0"/>
                  </a:cubicBezTo>
                  <a:lnTo>
                    <a:pt x="1815682" y="0"/>
                  </a:lnTo>
                  <a:cubicBezTo>
                    <a:pt x="1884262" y="0"/>
                    <a:pt x="1940142" y="55880"/>
                    <a:pt x="1940142" y="124460"/>
                  </a:cubicBezTo>
                  <a:lnTo>
                    <a:pt x="1940142" y="1789430"/>
                  </a:lnTo>
                  <a:cubicBezTo>
                    <a:pt x="1940142" y="1858010"/>
                    <a:pt x="1884262" y="1913890"/>
                    <a:pt x="1815682" y="1913890"/>
                  </a:cubicBezTo>
                  <a:close/>
                </a:path>
              </a:pathLst>
            </a:custGeom>
            <a:solidFill>
              <a:srgbClr val="F8F4EB"/>
            </a:solidFill>
          </p:spPr>
          <p:txBody>
            <a:bodyPr/>
            <a:lstStyle/>
            <a:p>
              <a:endParaRPr lang="en-CA"/>
            </a:p>
          </p:txBody>
        </p:sp>
      </p:grpSp>
      <p:grpSp>
        <p:nvGrpSpPr>
          <p:cNvPr id="4" name="Group 4"/>
          <p:cNvGrpSpPr/>
          <p:nvPr/>
        </p:nvGrpSpPr>
        <p:grpSpPr>
          <a:xfrm>
            <a:off x="6006783" y="1648910"/>
            <a:ext cx="6990255" cy="6019479"/>
            <a:chOff x="0" y="0"/>
            <a:chExt cx="9320340" cy="8025971"/>
          </a:xfrm>
        </p:grpSpPr>
        <p:sp>
          <p:nvSpPr>
            <p:cNvPr id="5" name="TextBox 5"/>
            <p:cNvSpPr txBox="1"/>
            <p:nvPr/>
          </p:nvSpPr>
          <p:spPr>
            <a:xfrm>
              <a:off x="0" y="-19050"/>
              <a:ext cx="9320340" cy="720090"/>
            </a:xfrm>
            <a:prstGeom prst="rect">
              <a:avLst/>
            </a:prstGeom>
          </p:spPr>
          <p:txBody>
            <a:bodyPr lIns="0" tIns="0" rIns="0" bIns="0" rtlCol="0" anchor="t">
              <a:spAutoFit/>
            </a:bodyPr>
            <a:lstStyle/>
            <a:p>
              <a:pPr marL="0" lvl="0" indent="0" algn="l">
                <a:lnSpc>
                  <a:spcPts val="4410"/>
                </a:lnSpc>
                <a:spcBef>
                  <a:spcPct val="0"/>
                </a:spcBef>
              </a:pPr>
              <a:r>
                <a:rPr lang="en-US" sz="3500" b="1">
                  <a:solidFill>
                    <a:srgbClr val="004AAD"/>
                  </a:solidFill>
                  <a:latin typeface="League Spartan"/>
                  <a:ea typeface="League Spartan"/>
                  <a:cs typeface="League Spartan"/>
                  <a:sym typeface="League Spartan"/>
                </a:rPr>
                <a:t>ARTIFICIAL INTELLIGENCE</a:t>
              </a:r>
            </a:p>
          </p:txBody>
        </p:sp>
        <p:sp>
          <p:nvSpPr>
            <p:cNvPr id="6" name="TextBox 6"/>
            <p:cNvSpPr txBox="1"/>
            <p:nvPr/>
          </p:nvSpPr>
          <p:spPr>
            <a:xfrm>
              <a:off x="0" y="899155"/>
              <a:ext cx="9320340" cy="7126817"/>
            </a:xfrm>
            <a:prstGeom prst="rect">
              <a:avLst/>
            </a:prstGeom>
          </p:spPr>
          <p:txBody>
            <a:bodyPr lIns="0" tIns="0" rIns="0" bIns="0" rtlCol="0" anchor="t">
              <a:spAutoFit/>
            </a:bodyPr>
            <a:lstStyle/>
            <a:p>
              <a:pPr marL="0" lvl="0" indent="0" algn="l">
                <a:lnSpc>
                  <a:spcPts val="3549"/>
                </a:lnSpc>
                <a:spcBef>
                  <a:spcPct val="0"/>
                </a:spcBef>
              </a:pPr>
              <a:r>
                <a:rPr lang="en-US" sz="2499" b="1">
                  <a:solidFill>
                    <a:srgbClr val="454699"/>
                  </a:solidFill>
                  <a:latin typeface="Roboto Bold"/>
                  <a:ea typeface="Roboto Bold"/>
                  <a:cs typeface="Roboto Bold"/>
                  <a:sym typeface="Roboto Bold"/>
                </a:rPr>
                <a:t>Artificial</a:t>
              </a:r>
              <a:r>
                <a:rPr lang="en-US" sz="2499" u="none">
                  <a:solidFill>
                    <a:srgbClr val="454699"/>
                  </a:solidFill>
                  <a:latin typeface="Roboto"/>
                  <a:ea typeface="Roboto"/>
                  <a:cs typeface="Roboto"/>
                  <a:sym typeface="Roboto"/>
                </a:rPr>
                <a:t> </a:t>
              </a:r>
              <a:r>
                <a:rPr lang="en-US" sz="2499" b="1" u="none">
                  <a:solidFill>
                    <a:srgbClr val="454699"/>
                  </a:solidFill>
                  <a:latin typeface="Roboto Bold"/>
                  <a:ea typeface="Roboto Bold"/>
                  <a:cs typeface="Roboto Bold"/>
                  <a:sym typeface="Roboto Bold"/>
                </a:rPr>
                <a:t>Intelligence</a:t>
              </a:r>
              <a:r>
                <a:rPr lang="en-US" sz="2499" u="none">
                  <a:solidFill>
                    <a:srgbClr val="454699"/>
                  </a:solidFill>
                  <a:latin typeface="Roboto"/>
                  <a:ea typeface="Roboto"/>
                  <a:cs typeface="Roboto"/>
                  <a:sym typeface="Roboto"/>
                </a:rPr>
                <a:t> is a specialized branch of Computer Science that focuses on creating machines that can perform tasks that typically require human intelligence such as reasoning, decision making, learning and problem solving using computational power, algorithms and data to simulate human creativity, thinking, autonomy and behaviors.</a:t>
              </a:r>
            </a:p>
            <a:p>
              <a:pPr marL="0" lvl="0" indent="0" algn="l">
                <a:lnSpc>
                  <a:spcPts val="3550"/>
                </a:lnSpc>
                <a:spcBef>
                  <a:spcPct val="0"/>
                </a:spcBef>
              </a:pPr>
              <a:endParaRPr lang="en-US" sz="2499" u="none">
                <a:solidFill>
                  <a:srgbClr val="454699"/>
                </a:solidFill>
                <a:latin typeface="Roboto"/>
                <a:ea typeface="Roboto"/>
                <a:cs typeface="Roboto"/>
                <a:sym typeface="Roboto"/>
              </a:endParaRPr>
            </a:p>
            <a:p>
              <a:pPr marL="0" lvl="0" indent="0" algn="l">
                <a:lnSpc>
                  <a:spcPts val="3550"/>
                </a:lnSpc>
                <a:spcBef>
                  <a:spcPct val="0"/>
                </a:spcBef>
              </a:pPr>
              <a:r>
                <a:rPr lang="en-US" sz="2500" b="1" u="none">
                  <a:solidFill>
                    <a:srgbClr val="454699"/>
                  </a:solidFill>
                  <a:latin typeface="Roboto Bold"/>
                  <a:ea typeface="Roboto Bold"/>
                  <a:cs typeface="Roboto Bold"/>
                  <a:sym typeface="Roboto Bold"/>
                </a:rPr>
                <a:t>AI </a:t>
              </a:r>
              <a:r>
                <a:rPr lang="en-US" sz="2500" u="none">
                  <a:solidFill>
                    <a:srgbClr val="454699"/>
                  </a:solidFill>
                  <a:latin typeface="Roboto"/>
                  <a:ea typeface="Roboto"/>
                  <a:cs typeface="Roboto"/>
                  <a:sym typeface="Roboto"/>
                </a:rPr>
                <a:t>is a technology that enables computational systems to perform tasks typically associated with human creativity and intelligence.</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8B0E4"/>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517520" y="3874879"/>
            <a:ext cx="15104768" cy="3588948"/>
            <a:chOff x="0" y="0"/>
            <a:chExt cx="4371586" cy="1038705"/>
          </a:xfrm>
        </p:grpSpPr>
        <p:sp>
          <p:nvSpPr>
            <p:cNvPr id="4" name="Freeform 4"/>
            <p:cNvSpPr/>
            <p:nvPr/>
          </p:nvSpPr>
          <p:spPr>
            <a:xfrm>
              <a:off x="0" y="0"/>
              <a:ext cx="4371586" cy="1038705"/>
            </a:xfrm>
            <a:custGeom>
              <a:avLst/>
              <a:gdLst/>
              <a:ahLst/>
              <a:cxnLst/>
              <a:rect l="l" t="t" r="r" b="b"/>
              <a:pathLst>
                <a:path w="4371586" h="1038705">
                  <a:moveTo>
                    <a:pt x="4247126" y="1038705"/>
                  </a:moveTo>
                  <a:lnTo>
                    <a:pt x="124460" y="1038705"/>
                  </a:lnTo>
                  <a:cubicBezTo>
                    <a:pt x="55880" y="1038705"/>
                    <a:pt x="0" y="982825"/>
                    <a:pt x="0" y="914245"/>
                  </a:cubicBezTo>
                  <a:lnTo>
                    <a:pt x="0" y="124460"/>
                  </a:lnTo>
                  <a:cubicBezTo>
                    <a:pt x="0" y="55880"/>
                    <a:pt x="55880" y="0"/>
                    <a:pt x="124460" y="0"/>
                  </a:cubicBezTo>
                  <a:lnTo>
                    <a:pt x="4247126" y="0"/>
                  </a:lnTo>
                  <a:cubicBezTo>
                    <a:pt x="4315706" y="0"/>
                    <a:pt x="4371586" y="55880"/>
                    <a:pt x="4371586" y="124460"/>
                  </a:cubicBezTo>
                  <a:lnTo>
                    <a:pt x="4371586" y="914245"/>
                  </a:lnTo>
                  <a:cubicBezTo>
                    <a:pt x="4371586" y="982825"/>
                    <a:pt x="4315706" y="1038705"/>
                    <a:pt x="4247126" y="1038705"/>
                  </a:cubicBezTo>
                  <a:close/>
                </a:path>
              </a:pathLst>
            </a:custGeom>
            <a:solidFill>
              <a:srgbClr val="F8F4EB"/>
            </a:solidFill>
          </p:spPr>
          <p:txBody>
            <a:bodyPr/>
            <a:lstStyle/>
            <a:p>
              <a:endParaRPr lang="en-CA"/>
            </a:p>
          </p:txBody>
        </p:sp>
      </p:grpSp>
      <p:sp>
        <p:nvSpPr>
          <p:cNvPr id="5" name="TextBox 5"/>
          <p:cNvSpPr txBox="1"/>
          <p:nvPr/>
        </p:nvSpPr>
        <p:spPr>
          <a:xfrm>
            <a:off x="2218680" y="4248349"/>
            <a:ext cx="13893401" cy="2784856"/>
          </a:xfrm>
          <a:prstGeom prst="rect">
            <a:avLst/>
          </a:prstGeom>
        </p:spPr>
        <p:txBody>
          <a:bodyPr lIns="0" tIns="0" rIns="0" bIns="0" rtlCol="0" anchor="t">
            <a:spAutoFit/>
          </a:bodyPr>
          <a:lstStyle/>
          <a:p>
            <a:pPr algn="l">
              <a:lnSpc>
                <a:spcPts val="3692"/>
              </a:lnSpc>
            </a:pPr>
            <a:r>
              <a:rPr lang="en-US" sz="2600">
                <a:solidFill>
                  <a:srgbClr val="454699"/>
                </a:solidFill>
                <a:latin typeface="Roboto"/>
                <a:ea typeface="Roboto"/>
                <a:cs typeface="Roboto"/>
                <a:sym typeface="Roboto"/>
              </a:rPr>
              <a:t>Fundamentally,</a:t>
            </a:r>
            <a:r>
              <a:rPr lang="en-US" sz="2600" b="1">
                <a:solidFill>
                  <a:srgbClr val="454699"/>
                </a:solidFill>
                <a:latin typeface="Roboto Bold"/>
                <a:ea typeface="Roboto Bold"/>
                <a:cs typeface="Roboto Bold"/>
                <a:sym typeface="Roboto Bold"/>
              </a:rPr>
              <a:t> Robotaxis </a:t>
            </a:r>
            <a:r>
              <a:rPr lang="en-US" sz="2600">
                <a:solidFill>
                  <a:srgbClr val="454699"/>
                </a:solidFill>
                <a:latin typeface="Roboto"/>
                <a:ea typeface="Roboto"/>
                <a:cs typeface="Roboto"/>
                <a:sym typeface="Roboto"/>
              </a:rPr>
              <a:t>utilize multiple sensors such as </a:t>
            </a:r>
            <a:r>
              <a:rPr lang="en-US" sz="2600" b="1">
                <a:solidFill>
                  <a:srgbClr val="FF3131"/>
                </a:solidFill>
                <a:latin typeface="Roboto Bold"/>
                <a:ea typeface="Roboto Bold"/>
                <a:cs typeface="Roboto Bold"/>
                <a:sym typeface="Roboto Bold"/>
              </a:rPr>
              <a:t>Camera</a:t>
            </a:r>
            <a:r>
              <a:rPr lang="en-US" sz="2600">
                <a:solidFill>
                  <a:srgbClr val="454699"/>
                </a:solidFill>
                <a:latin typeface="Roboto"/>
                <a:ea typeface="Roboto"/>
                <a:cs typeface="Roboto"/>
                <a:sym typeface="Roboto"/>
              </a:rPr>
              <a:t>, </a:t>
            </a:r>
            <a:r>
              <a:rPr lang="en-US" sz="2600" b="1">
                <a:solidFill>
                  <a:srgbClr val="00BF63"/>
                </a:solidFill>
                <a:latin typeface="Roboto Bold"/>
                <a:ea typeface="Roboto Bold"/>
                <a:cs typeface="Roboto Bold"/>
                <a:sym typeface="Roboto Bold"/>
              </a:rPr>
              <a:t>Lidar</a:t>
            </a:r>
            <a:r>
              <a:rPr lang="en-US" sz="2600" b="1">
                <a:solidFill>
                  <a:srgbClr val="454699"/>
                </a:solidFill>
                <a:latin typeface="Roboto Bold"/>
                <a:ea typeface="Roboto Bold"/>
                <a:cs typeface="Roboto Bold"/>
                <a:sym typeface="Roboto Bold"/>
              </a:rPr>
              <a:t> </a:t>
            </a:r>
            <a:r>
              <a:rPr lang="en-US" sz="2600">
                <a:solidFill>
                  <a:srgbClr val="454699"/>
                </a:solidFill>
                <a:latin typeface="Roboto"/>
                <a:ea typeface="Roboto"/>
                <a:cs typeface="Roboto"/>
                <a:sym typeface="Roboto"/>
              </a:rPr>
              <a:t>and </a:t>
            </a:r>
            <a:r>
              <a:rPr lang="en-US" sz="2600" b="1">
                <a:solidFill>
                  <a:srgbClr val="004AAD"/>
                </a:solidFill>
                <a:latin typeface="Roboto Bold"/>
                <a:ea typeface="Roboto Bold"/>
                <a:cs typeface="Roboto Bold"/>
                <a:sym typeface="Roboto Bold"/>
              </a:rPr>
              <a:t>Ultrasonic</a:t>
            </a:r>
            <a:r>
              <a:rPr lang="en-US" sz="2600">
                <a:solidFill>
                  <a:srgbClr val="454699"/>
                </a:solidFill>
                <a:latin typeface="Roboto"/>
                <a:ea typeface="Roboto"/>
                <a:cs typeface="Roboto"/>
                <a:sym typeface="Roboto"/>
              </a:rPr>
              <a:t> </a:t>
            </a:r>
            <a:r>
              <a:rPr lang="en-US" sz="2600" b="1">
                <a:solidFill>
                  <a:srgbClr val="004AAD"/>
                </a:solidFill>
                <a:latin typeface="Roboto Bold"/>
                <a:ea typeface="Roboto Bold"/>
                <a:cs typeface="Roboto Bold"/>
                <a:sym typeface="Roboto Bold"/>
              </a:rPr>
              <a:t>Radar</a:t>
            </a:r>
            <a:r>
              <a:rPr lang="en-US" sz="2600" b="1">
                <a:solidFill>
                  <a:srgbClr val="454699"/>
                </a:solidFill>
                <a:latin typeface="Roboto Bold"/>
                <a:ea typeface="Roboto Bold"/>
                <a:cs typeface="Roboto Bold"/>
                <a:sym typeface="Roboto Bold"/>
              </a:rPr>
              <a:t> </a:t>
            </a:r>
            <a:r>
              <a:rPr lang="en-US" sz="2600">
                <a:solidFill>
                  <a:srgbClr val="454699"/>
                </a:solidFill>
                <a:latin typeface="Roboto"/>
                <a:ea typeface="Roboto"/>
                <a:cs typeface="Roboto"/>
                <a:sym typeface="Roboto"/>
              </a:rPr>
              <a:t>and fuse the independent data together from the sensing devices to have an accurate model of the real world.</a:t>
            </a:r>
          </a:p>
          <a:p>
            <a:pPr algn="l">
              <a:lnSpc>
                <a:spcPts val="3692"/>
              </a:lnSpc>
            </a:pPr>
            <a:endParaRPr lang="en-US" sz="2600">
              <a:solidFill>
                <a:srgbClr val="454699"/>
              </a:solidFill>
              <a:latin typeface="Roboto"/>
              <a:ea typeface="Roboto"/>
              <a:cs typeface="Roboto"/>
              <a:sym typeface="Roboto"/>
            </a:endParaRPr>
          </a:p>
          <a:p>
            <a:pPr marL="0" lvl="0" indent="0" algn="l">
              <a:lnSpc>
                <a:spcPts val="3692"/>
              </a:lnSpc>
              <a:spcBef>
                <a:spcPct val="0"/>
              </a:spcBef>
            </a:pPr>
            <a:r>
              <a:rPr lang="en-US" sz="2600">
                <a:solidFill>
                  <a:srgbClr val="454699"/>
                </a:solidFill>
                <a:latin typeface="Roboto"/>
                <a:ea typeface="Roboto"/>
                <a:cs typeface="Roboto"/>
                <a:sym typeface="Roboto"/>
              </a:rPr>
              <a:t>This real world view and information is then parsed to the Artificial Intelligence Agent to make driving decisions.</a:t>
            </a:r>
          </a:p>
        </p:txBody>
      </p:sp>
      <p:sp>
        <p:nvSpPr>
          <p:cNvPr id="6" name="TextBox 6"/>
          <p:cNvSpPr txBox="1"/>
          <p:nvPr/>
        </p:nvSpPr>
        <p:spPr>
          <a:xfrm>
            <a:off x="1000794" y="990600"/>
            <a:ext cx="17287206" cy="1008506"/>
          </a:xfrm>
          <a:prstGeom prst="rect">
            <a:avLst/>
          </a:prstGeom>
        </p:spPr>
        <p:txBody>
          <a:bodyPr lIns="0" tIns="0" rIns="0" bIns="0" rtlCol="0" anchor="t">
            <a:spAutoFit/>
          </a:bodyPr>
          <a:lstStyle/>
          <a:p>
            <a:pPr marL="0" lvl="0" indent="0" algn="l">
              <a:lnSpc>
                <a:spcPts val="8064"/>
              </a:lnSpc>
              <a:spcBef>
                <a:spcPct val="0"/>
              </a:spcBef>
            </a:pPr>
            <a:r>
              <a:rPr lang="en-US" sz="6400" b="1">
                <a:solidFill>
                  <a:srgbClr val="454699"/>
                </a:solidFill>
                <a:latin typeface="League Spartan"/>
                <a:ea typeface="League Spartan"/>
                <a:cs typeface="League Spartan"/>
                <a:sym typeface="League Spartan"/>
              </a:rPr>
              <a:t>ROBOTAXIS AS SAFETY BENCHMARK</a:t>
            </a:r>
          </a:p>
        </p:txBody>
      </p:sp>
      <p:grpSp>
        <p:nvGrpSpPr>
          <p:cNvPr id="7" name="Group 7"/>
          <p:cNvGrpSpPr/>
          <p:nvPr/>
        </p:nvGrpSpPr>
        <p:grpSpPr>
          <a:xfrm>
            <a:off x="15673546" y="8212763"/>
            <a:ext cx="1897484" cy="1061551"/>
            <a:chOff x="0" y="0"/>
            <a:chExt cx="726425" cy="406400"/>
          </a:xfrm>
        </p:grpSpPr>
        <p:sp>
          <p:nvSpPr>
            <p:cNvPr id="8" name="Freeform 8"/>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9" name="Group 9"/>
          <p:cNvGrpSpPr/>
          <p:nvPr/>
        </p:nvGrpSpPr>
        <p:grpSpPr>
          <a:xfrm>
            <a:off x="16669913" y="8355639"/>
            <a:ext cx="775800" cy="775800"/>
            <a:chOff x="0" y="0"/>
            <a:chExt cx="1034400" cy="1034400"/>
          </a:xfrm>
        </p:grpSpPr>
        <p:sp>
          <p:nvSpPr>
            <p:cNvPr id="10" name="Freeform 10"/>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1" name="Freeform 11"/>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
        <p:nvSpPr>
          <p:cNvPr id="12" name="Freeform 12"/>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sp>
        <p:nvSpPr>
          <p:cNvPr id="2" name="Freeform 2"/>
          <p:cNvSpPr/>
          <p:nvPr/>
        </p:nvSpPr>
        <p:spPr>
          <a:xfrm flipH="1">
            <a:off x="0" y="6570042"/>
            <a:ext cx="3716958" cy="3716958"/>
          </a:xfrm>
          <a:custGeom>
            <a:avLst/>
            <a:gdLst/>
            <a:ahLst/>
            <a:cxnLst/>
            <a:rect l="l" t="t" r="r" b="b"/>
            <a:pathLst>
              <a:path w="3716958" h="3716958">
                <a:moveTo>
                  <a:pt x="3716958" y="0"/>
                </a:moveTo>
                <a:lnTo>
                  <a:pt x="0" y="0"/>
                </a:lnTo>
                <a:lnTo>
                  <a:pt x="0" y="3716958"/>
                </a:lnTo>
                <a:lnTo>
                  <a:pt x="3716958" y="3716958"/>
                </a:lnTo>
                <a:lnTo>
                  <a:pt x="3716958"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189706" y="2899189"/>
            <a:ext cx="14901656" cy="5120333"/>
            <a:chOff x="0" y="0"/>
            <a:chExt cx="4312802" cy="1481915"/>
          </a:xfrm>
        </p:grpSpPr>
        <p:sp>
          <p:nvSpPr>
            <p:cNvPr id="4" name="Freeform 4"/>
            <p:cNvSpPr/>
            <p:nvPr/>
          </p:nvSpPr>
          <p:spPr>
            <a:xfrm>
              <a:off x="0" y="0"/>
              <a:ext cx="4312802" cy="1481915"/>
            </a:xfrm>
            <a:custGeom>
              <a:avLst/>
              <a:gdLst/>
              <a:ahLst/>
              <a:cxnLst/>
              <a:rect l="l" t="t" r="r" b="b"/>
              <a:pathLst>
                <a:path w="4312802" h="1481915">
                  <a:moveTo>
                    <a:pt x="4188342" y="1481915"/>
                  </a:moveTo>
                  <a:lnTo>
                    <a:pt x="124460" y="1481915"/>
                  </a:lnTo>
                  <a:cubicBezTo>
                    <a:pt x="55880" y="1481915"/>
                    <a:pt x="0" y="1426035"/>
                    <a:pt x="0" y="1357455"/>
                  </a:cubicBezTo>
                  <a:lnTo>
                    <a:pt x="0" y="124460"/>
                  </a:lnTo>
                  <a:cubicBezTo>
                    <a:pt x="0" y="55880"/>
                    <a:pt x="55880" y="0"/>
                    <a:pt x="124460" y="0"/>
                  </a:cubicBezTo>
                  <a:lnTo>
                    <a:pt x="4188342" y="0"/>
                  </a:lnTo>
                  <a:cubicBezTo>
                    <a:pt x="4256922" y="0"/>
                    <a:pt x="4312802" y="55880"/>
                    <a:pt x="4312802" y="124460"/>
                  </a:cubicBezTo>
                  <a:lnTo>
                    <a:pt x="4312802" y="1357455"/>
                  </a:lnTo>
                  <a:cubicBezTo>
                    <a:pt x="4312802" y="1426035"/>
                    <a:pt x="4256922" y="1481915"/>
                    <a:pt x="4188342" y="1481915"/>
                  </a:cubicBezTo>
                  <a:close/>
                </a:path>
              </a:pathLst>
            </a:custGeom>
            <a:solidFill>
              <a:srgbClr val="F8F4EB"/>
            </a:solidFill>
          </p:spPr>
          <p:txBody>
            <a:bodyPr/>
            <a:lstStyle/>
            <a:p>
              <a:endParaRPr lang="en-CA"/>
            </a:p>
          </p:txBody>
        </p:sp>
      </p:grpSp>
      <p:sp>
        <p:nvSpPr>
          <p:cNvPr id="5" name="Freeform 5"/>
          <p:cNvSpPr/>
          <p:nvPr/>
        </p:nvSpPr>
        <p:spPr>
          <a:xfrm>
            <a:off x="16787941" y="5251493"/>
            <a:ext cx="835719" cy="835719"/>
          </a:xfrm>
          <a:custGeom>
            <a:avLst/>
            <a:gdLst/>
            <a:ahLst/>
            <a:cxnLst/>
            <a:rect l="l" t="t" r="r" b="b"/>
            <a:pathLst>
              <a:path w="835719" h="835719">
                <a:moveTo>
                  <a:pt x="0" y="0"/>
                </a:moveTo>
                <a:lnTo>
                  <a:pt x="835719" y="0"/>
                </a:lnTo>
                <a:lnTo>
                  <a:pt x="835719" y="835719"/>
                </a:lnTo>
                <a:lnTo>
                  <a:pt x="0" y="835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6" name="Freeform 6"/>
          <p:cNvSpPr/>
          <p:nvPr/>
        </p:nvSpPr>
        <p:spPr>
          <a:xfrm rot="-5400000">
            <a:off x="16619254" y="0"/>
            <a:ext cx="1668746" cy="1668746"/>
          </a:xfrm>
          <a:custGeom>
            <a:avLst/>
            <a:gdLst/>
            <a:ahLst/>
            <a:cxnLst/>
            <a:rect l="l" t="t" r="r" b="b"/>
            <a:pathLst>
              <a:path w="1668746" h="1668746">
                <a:moveTo>
                  <a:pt x="0" y="0"/>
                </a:moveTo>
                <a:lnTo>
                  <a:pt x="1668746" y="0"/>
                </a:lnTo>
                <a:lnTo>
                  <a:pt x="1668746" y="1668746"/>
                </a:lnTo>
                <a:lnTo>
                  <a:pt x="0" y="166874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nvGrpSpPr>
          <p:cNvPr id="7" name="Group 7"/>
          <p:cNvGrpSpPr/>
          <p:nvPr/>
        </p:nvGrpSpPr>
        <p:grpSpPr>
          <a:xfrm>
            <a:off x="15726176" y="8196749"/>
            <a:ext cx="1897484" cy="1061551"/>
            <a:chOff x="0" y="0"/>
            <a:chExt cx="726425" cy="406400"/>
          </a:xfrm>
        </p:grpSpPr>
        <p:sp>
          <p:nvSpPr>
            <p:cNvPr id="8" name="Freeform 8"/>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F8F4EB">
                <a:alpha val="7843"/>
              </a:srgbClr>
            </a:solidFill>
          </p:spPr>
          <p:txBody>
            <a:bodyPr/>
            <a:lstStyle/>
            <a:p>
              <a:endParaRPr lang="en-CA"/>
            </a:p>
          </p:txBody>
        </p:sp>
      </p:grpSp>
      <p:sp>
        <p:nvSpPr>
          <p:cNvPr id="9" name="Freeform 9"/>
          <p:cNvSpPr/>
          <p:nvPr/>
        </p:nvSpPr>
        <p:spPr>
          <a:xfrm>
            <a:off x="16722543" y="8339625"/>
            <a:ext cx="775800" cy="775800"/>
          </a:xfrm>
          <a:custGeom>
            <a:avLst/>
            <a:gdLst/>
            <a:ahLst/>
            <a:cxnLst/>
            <a:rect l="l" t="t" r="r" b="b"/>
            <a:pathLst>
              <a:path w="775800" h="775800">
                <a:moveTo>
                  <a:pt x="0" y="0"/>
                </a:moveTo>
                <a:lnTo>
                  <a:pt x="775800" y="0"/>
                </a:lnTo>
                <a:lnTo>
                  <a:pt x="775800" y="775800"/>
                </a:lnTo>
                <a:lnTo>
                  <a:pt x="0" y="775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
        <p:nvSpPr>
          <p:cNvPr id="10" name="Freeform 10"/>
          <p:cNvSpPr/>
          <p:nvPr/>
        </p:nvSpPr>
        <p:spPr>
          <a:xfrm>
            <a:off x="16837985" y="8455067"/>
            <a:ext cx="544916" cy="544916"/>
          </a:xfrm>
          <a:custGeom>
            <a:avLst/>
            <a:gdLst/>
            <a:ahLst/>
            <a:cxnLst/>
            <a:rect l="l" t="t" r="r" b="b"/>
            <a:pathLst>
              <a:path w="544916" h="544916">
                <a:moveTo>
                  <a:pt x="0" y="0"/>
                </a:moveTo>
                <a:lnTo>
                  <a:pt x="544916" y="0"/>
                </a:lnTo>
                <a:lnTo>
                  <a:pt x="544916" y="544916"/>
                </a:lnTo>
                <a:lnTo>
                  <a:pt x="0" y="5449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CA"/>
          </a:p>
        </p:txBody>
      </p:sp>
      <p:sp>
        <p:nvSpPr>
          <p:cNvPr id="11" name="Freeform 11"/>
          <p:cNvSpPr/>
          <p:nvPr/>
        </p:nvSpPr>
        <p:spPr>
          <a:xfrm>
            <a:off x="1568864" y="3471946"/>
            <a:ext cx="4296189" cy="2197407"/>
          </a:xfrm>
          <a:custGeom>
            <a:avLst/>
            <a:gdLst/>
            <a:ahLst/>
            <a:cxnLst/>
            <a:rect l="l" t="t" r="r" b="b"/>
            <a:pathLst>
              <a:path w="4296189" h="2197407">
                <a:moveTo>
                  <a:pt x="0" y="0"/>
                </a:moveTo>
                <a:lnTo>
                  <a:pt x="4296189" y="0"/>
                </a:lnTo>
                <a:lnTo>
                  <a:pt x="4296189" y="2197406"/>
                </a:lnTo>
                <a:lnTo>
                  <a:pt x="0" y="2197406"/>
                </a:lnTo>
                <a:lnTo>
                  <a:pt x="0" y="0"/>
                </a:lnTo>
                <a:close/>
              </a:path>
            </a:pathLst>
          </a:custGeom>
          <a:blipFill>
            <a:blip r:embed="rId12"/>
            <a:stretch>
              <a:fillRect l="-555" r="-555"/>
            </a:stretch>
          </a:blipFill>
        </p:spPr>
        <p:txBody>
          <a:bodyPr/>
          <a:lstStyle/>
          <a:p>
            <a:endParaRPr lang="en-CA"/>
          </a:p>
        </p:txBody>
      </p:sp>
      <p:sp>
        <p:nvSpPr>
          <p:cNvPr id="12" name="Freeform 12"/>
          <p:cNvSpPr/>
          <p:nvPr/>
        </p:nvSpPr>
        <p:spPr>
          <a:xfrm>
            <a:off x="6748289" y="3471946"/>
            <a:ext cx="3695092" cy="2810964"/>
          </a:xfrm>
          <a:custGeom>
            <a:avLst/>
            <a:gdLst/>
            <a:ahLst/>
            <a:cxnLst/>
            <a:rect l="l" t="t" r="r" b="b"/>
            <a:pathLst>
              <a:path w="3695092" h="2810964">
                <a:moveTo>
                  <a:pt x="0" y="0"/>
                </a:moveTo>
                <a:lnTo>
                  <a:pt x="3695092" y="0"/>
                </a:lnTo>
                <a:lnTo>
                  <a:pt x="3695092" y="2810964"/>
                </a:lnTo>
                <a:lnTo>
                  <a:pt x="0" y="2810964"/>
                </a:lnTo>
                <a:lnTo>
                  <a:pt x="0" y="0"/>
                </a:lnTo>
                <a:close/>
              </a:path>
            </a:pathLst>
          </a:custGeom>
          <a:blipFill>
            <a:blip r:embed="rId13"/>
            <a:stretch>
              <a:fillRect b="-737"/>
            </a:stretch>
          </a:blipFill>
        </p:spPr>
        <p:txBody>
          <a:bodyPr/>
          <a:lstStyle/>
          <a:p>
            <a:endParaRPr lang="en-CA"/>
          </a:p>
        </p:txBody>
      </p:sp>
      <p:sp>
        <p:nvSpPr>
          <p:cNvPr id="13" name="Freeform 13"/>
          <p:cNvSpPr/>
          <p:nvPr/>
        </p:nvSpPr>
        <p:spPr>
          <a:xfrm>
            <a:off x="11304212" y="3471946"/>
            <a:ext cx="4421964" cy="2331673"/>
          </a:xfrm>
          <a:custGeom>
            <a:avLst/>
            <a:gdLst/>
            <a:ahLst/>
            <a:cxnLst/>
            <a:rect l="l" t="t" r="r" b="b"/>
            <a:pathLst>
              <a:path w="4421964" h="2331673">
                <a:moveTo>
                  <a:pt x="0" y="0"/>
                </a:moveTo>
                <a:lnTo>
                  <a:pt x="4421964" y="0"/>
                </a:lnTo>
                <a:lnTo>
                  <a:pt x="4421964" y="2331673"/>
                </a:lnTo>
                <a:lnTo>
                  <a:pt x="0" y="2331673"/>
                </a:lnTo>
                <a:lnTo>
                  <a:pt x="0" y="0"/>
                </a:lnTo>
                <a:close/>
              </a:path>
            </a:pathLst>
          </a:custGeom>
          <a:blipFill>
            <a:blip r:embed="rId14"/>
            <a:stretch>
              <a:fillRect t="-5117" b="-1348"/>
            </a:stretch>
          </a:blipFill>
        </p:spPr>
        <p:txBody>
          <a:bodyPr/>
          <a:lstStyle/>
          <a:p>
            <a:endParaRPr lang="en-CA"/>
          </a:p>
        </p:txBody>
      </p:sp>
      <p:sp>
        <p:nvSpPr>
          <p:cNvPr id="14" name="Freeform 14"/>
          <p:cNvSpPr/>
          <p:nvPr/>
        </p:nvSpPr>
        <p:spPr>
          <a:xfrm>
            <a:off x="2880620" y="5811939"/>
            <a:ext cx="983355" cy="983355"/>
          </a:xfrm>
          <a:custGeom>
            <a:avLst/>
            <a:gdLst/>
            <a:ahLst/>
            <a:cxnLst/>
            <a:rect l="l" t="t" r="r" b="b"/>
            <a:pathLst>
              <a:path w="983355" h="983355">
                <a:moveTo>
                  <a:pt x="0" y="0"/>
                </a:moveTo>
                <a:lnTo>
                  <a:pt x="983355" y="0"/>
                </a:lnTo>
                <a:lnTo>
                  <a:pt x="983355" y="983355"/>
                </a:lnTo>
                <a:lnTo>
                  <a:pt x="0" y="983355"/>
                </a:lnTo>
                <a:lnTo>
                  <a:pt x="0" y="0"/>
                </a:lnTo>
                <a:close/>
              </a:path>
            </a:pathLst>
          </a:custGeom>
          <a:blipFill>
            <a:blip r:embed="rId15"/>
            <a:stretch>
              <a:fillRect/>
            </a:stretch>
          </a:blipFill>
        </p:spPr>
        <p:txBody>
          <a:bodyPr/>
          <a:lstStyle/>
          <a:p>
            <a:endParaRPr lang="en-CA"/>
          </a:p>
        </p:txBody>
      </p:sp>
      <p:sp>
        <p:nvSpPr>
          <p:cNvPr id="15" name="Freeform 15"/>
          <p:cNvSpPr/>
          <p:nvPr/>
        </p:nvSpPr>
        <p:spPr>
          <a:xfrm>
            <a:off x="6735064" y="6428058"/>
            <a:ext cx="3665759" cy="1008437"/>
          </a:xfrm>
          <a:custGeom>
            <a:avLst/>
            <a:gdLst/>
            <a:ahLst/>
            <a:cxnLst/>
            <a:rect l="l" t="t" r="r" b="b"/>
            <a:pathLst>
              <a:path w="3665759" h="1008437">
                <a:moveTo>
                  <a:pt x="0" y="0"/>
                </a:moveTo>
                <a:lnTo>
                  <a:pt x="3665758" y="0"/>
                </a:lnTo>
                <a:lnTo>
                  <a:pt x="3665758" y="1008437"/>
                </a:lnTo>
                <a:lnTo>
                  <a:pt x="0" y="1008437"/>
                </a:lnTo>
                <a:lnTo>
                  <a:pt x="0" y="0"/>
                </a:lnTo>
                <a:close/>
              </a:path>
            </a:pathLst>
          </a:custGeom>
          <a:blipFill>
            <a:blip r:embed="rId16"/>
            <a:stretch>
              <a:fillRect l="-18105" t="-63756" r="-26630" b="-88436"/>
            </a:stretch>
          </a:blipFill>
        </p:spPr>
        <p:txBody>
          <a:bodyPr/>
          <a:lstStyle/>
          <a:p>
            <a:endParaRPr lang="en-CA"/>
          </a:p>
        </p:txBody>
      </p:sp>
      <p:sp>
        <p:nvSpPr>
          <p:cNvPr id="16" name="Freeform 16"/>
          <p:cNvSpPr/>
          <p:nvPr/>
        </p:nvSpPr>
        <p:spPr>
          <a:xfrm>
            <a:off x="12896689" y="5936503"/>
            <a:ext cx="1437945" cy="995773"/>
          </a:xfrm>
          <a:custGeom>
            <a:avLst/>
            <a:gdLst/>
            <a:ahLst/>
            <a:cxnLst/>
            <a:rect l="l" t="t" r="r" b="b"/>
            <a:pathLst>
              <a:path w="1437945" h="995773">
                <a:moveTo>
                  <a:pt x="0" y="0"/>
                </a:moveTo>
                <a:lnTo>
                  <a:pt x="1437944" y="0"/>
                </a:lnTo>
                <a:lnTo>
                  <a:pt x="1437944" y="995774"/>
                </a:lnTo>
                <a:lnTo>
                  <a:pt x="0" y="995774"/>
                </a:lnTo>
                <a:lnTo>
                  <a:pt x="0" y="0"/>
                </a:lnTo>
                <a:close/>
              </a:path>
            </a:pathLst>
          </a:custGeom>
          <a:blipFill>
            <a:blip r:embed="rId17"/>
            <a:stretch>
              <a:fillRect l="-5769" t="-9272" r="-8654" b="-6248"/>
            </a:stretch>
          </a:blipFill>
        </p:spPr>
        <p:txBody>
          <a:bodyPr/>
          <a:lstStyle/>
          <a:p>
            <a:endParaRPr lang="en-CA"/>
          </a:p>
        </p:txBody>
      </p:sp>
      <p:sp>
        <p:nvSpPr>
          <p:cNvPr id="17" name="TextBox 17"/>
          <p:cNvSpPr txBox="1"/>
          <p:nvPr/>
        </p:nvSpPr>
        <p:spPr>
          <a:xfrm>
            <a:off x="800558" y="389134"/>
            <a:ext cx="15590554" cy="2157983"/>
          </a:xfrm>
          <a:prstGeom prst="rect">
            <a:avLst/>
          </a:prstGeom>
        </p:spPr>
        <p:txBody>
          <a:bodyPr lIns="0" tIns="0" rIns="0" bIns="0" rtlCol="0" anchor="t">
            <a:spAutoFit/>
          </a:bodyPr>
          <a:lstStyle/>
          <a:p>
            <a:pPr marL="0" lvl="0" indent="0" algn="l">
              <a:lnSpc>
                <a:spcPts val="8568"/>
              </a:lnSpc>
              <a:spcBef>
                <a:spcPct val="0"/>
              </a:spcBef>
            </a:pPr>
            <a:r>
              <a:rPr lang="en-US" sz="6800" b="1">
                <a:solidFill>
                  <a:srgbClr val="F8F4EB"/>
                </a:solidFill>
                <a:latin typeface="League Spartan"/>
                <a:ea typeface="League Spartan"/>
                <a:cs typeface="League Spartan"/>
                <a:sym typeface="League Spartan"/>
              </a:rPr>
              <a:t>LOOKING AT TOP ROBOTAXI’S IN CHINA AND USA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8B0E4"/>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58507" y="2904456"/>
            <a:ext cx="7645365" cy="5451183"/>
            <a:chOff x="0" y="0"/>
            <a:chExt cx="2212703" cy="1577668"/>
          </a:xfrm>
        </p:grpSpPr>
        <p:sp>
          <p:nvSpPr>
            <p:cNvPr id="4" name="Freeform 4"/>
            <p:cNvSpPr/>
            <p:nvPr/>
          </p:nvSpPr>
          <p:spPr>
            <a:xfrm>
              <a:off x="0" y="0"/>
              <a:ext cx="2212704" cy="1577669"/>
            </a:xfrm>
            <a:custGeom>
              <a:avLst/>
              <a:gdLst/>
              <a:ahLst/>
              <a:cxnLst/>
              <a:rect l="l" t="t" r="r" b="b"/>
              <a:pathLst>
                <a:path w="2212704" h="1577669">
                  <a:moveTo>
                    <a:pt x="2088243" y="1577668"/>
                  </a:moveTo>
                  <a:lnTo>
                    <a:pt x="124460" y="1577668"/>
                  </a:lnTo>
                  <a:cubicBezTo>
                    <a:pt x="55880" y="1577668"/>
                    <a:pt x="0" y="1521788"/>
                    <a:pt x="0" y="1453208"/>
                  </a:cubicBezTo>
                  <a:lnTo>
                    <a:pt x="0" y="124460"/>
                  </a:lnTo>
                  <a:cubicBezTo>
                    <a:pt x="0" y="55880"/>
                    <a:pt x="55880" y="0"/>
                    <a:pt x="124460" y="0"/>
                  </a:cubicBezTo>
                  <a:lnTo>
                    <a:pt x="2088243" y="0"/>
                  </a:lnTo>
                  <a:cubicBezTo>
                    <a:pt x="2156823" y="0"/>
                    <a:pt x="2212704" y="55880"/>
                    <a:pt x="2212704" y="124460"/>
                  </a:cubicBezTo>
                  <a:lnTo>
                    <a:pt x="2212704" y="1453208"/>
                  </a:lnTo>
                  <a:cubicBezTo>
                    <a:pt x="2212704" y="1521788"/>
                    <a:pt x="2156823" y="1577669"/>
                    <a:pt x="2088243" y="1577669"/>
                  </a:cubicBezTo>
                  <a:close/>
                </a:path>
              </a:pathLst>
            </a:custGeom>
            <a:solidFill>
              <a:srgbClr val="F8F4EB"/>
            </a:solidFill>
          </p:spPr>
          <p:txBody>
            <a:bodyPr/>
            <a:lstStyle/>
            <a:p>
              <a:endParaRPr lang="en-CA"/>
            </a:p>
          </p:txBody>
        </p:sp>
      </p:grpSp>
      <p:sp>
        <p:nvSpPr>
          <p:cNvPr id="5" name="TextBox 5"/>
          <p:cNvSpPr txBox="1"/>
          <p:nvPr/>
        </p:nvSpPr>
        <p:spPr>
          <a:xfrm>
            <a:off x="158507" y="596456"/>
            <a:ext cx="17287206" cy="835913"/>
          </a:xfrm>
          <a:prstGeom prst="rect">
            <a:avLst/>
          </a:prstGeom>
        </p:spPr>
        <p:txBody>
          <a:bodyPr lIns="0" tIns="0" rIns="0" bIns="0" rtlCol="0" anchor="t">
            <a:spAutoFit/>
          </a:bodyPr>
          <a:lstStyle/>
          <a:p>
            <a:pPr marL="0" lvl="0" indent="0" algn="l">
              <a:lnSpc>
                <a:spcPts val="6678"/>
              </a:lnSpc>
              <a:spcBef>
                <a:spcPct val="0"/>
              </a:spcBef>
            </a:pPr>
            <a:r>
              <a:rPr lang="en-US" sz="5300" b="1">
                <a:solidFill>
                  <a:srgbClr val="454699"/>
                </a:solidFill>
                <a:latin typeface="League Spartan"/>
                <a:ea typeface="League Spartan"/>
                <a:cs typeface="League Spartan"/>
                <a:sym typeface="League Spartan"/>
              </a:rPr>
              <a:t>SAFETY STANDARD IN AUTONOMOUS VEHICLES</a:t>
            </a:r>
          </a:p>
        </p:txBody>
      </p:sp>
      <p:grpSp>
        <p:nvGrpSpPr>
          <p:cNvPr id="6" name="Group 6"/>
          <p:cNvGrpSpPr/>
          <p:nvPr/>
        </p:nvGrpSpPr>
        <p:grpSpPr>
          <a:xfrm>
            <a:off x="7803872" y="5709294"/>
            <a:ext cx="1897484" cy="1061551"/>
            <a:chOff x="0" y="0"/>
            <a:chExt cx="726425" cy="406400"/>
          </a:xfrm>
        </p:grpSpPr>
        <p:sp>
          <p:nvSpPr>
            <p:cNvPr id="7" name="Freeform 7"/>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8" name="Group 8"/>
          <p:cNvGrpSpPr/>
          <p:nvPr/>
        </p:nvGrpSpPr>
        <p:grpSpPr>
          <a:xfrm>
            <a:off x="8591505" y="5852169"/>
            <a:ext cx="775800" cy="775800"/>
            <a:chOff x="0" y="0"/>
            <a:chExt cx="1034400" cy="1034400"/>
          </a:xfrm>
        </p:grpSpPr>
        <p:sp>
          <p:nvSpPr>
            <p:cNvPr id="9" name="Freeform 9"/>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0" name="Freeform 10"/>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
        <p:nvSpPr>
          <p:cNvPr id="11" name="Freeform 11"/>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
        <p:nvSpPr>
          <p:cNvPr id="12" name="Freeform 12"/>
          <p:cNvSpPr/>
          <p:nvPr/>
        </p:nvSpPr>
        <p:spPr>
          <a:xfrm>
            <a:off x="9709794" y="2904456"/>
            <a:ext cx="8010491" cy="5451183"/>
          </a:xfrm>
          <a:custGeom>
            <a:avLst/>
            <a:gdLst/>
            <a:ahLst/>
            <a:cxnLst/>
            <a:rect l="l" t="t" r="r" b="b"/>
            <a:pathLst>
              <a:path w="8010491" h="5451183">
                <a:moveTo>
                  <a:pt x="0" y="0"/>
                </a:moveTo>
                <a:lnTo>
                  <a:pt x="8010491" y="0"/>
                </a:lnTo>
                <a:lnTo>
                  <a:pt x="8010491" y="5451183"/>
                </a:lnTo>
                <a:lnTo>
                  <a:pt x="0" y="5451183"/>
                </a:lnTo>
                <a:lnTo>
                  <a:pt x="0" y="0"/>
                </a:lnTo>
                <a:close/>
              </a:path>
            </a:pathLst>
          </a:custGeom>
          <a:blipFill>
            <a:blip r:embed="rId10"/>
            <a:stretch>
              <a:fillRect/>
            </a:stretch>
          </a:blipFill>
        </p:spPr>
        <p:txBody>
          <a:bodyPr/>
          <a:lstStyle/>
          <a:p>
            <a:endParaRPr lang="en-CA"/>
          </a:p>
        </p:txBody>
      </p:sp>
      <p:sp>
        <p:nvSpPr>
          <p:cNvPr id="13" name="TextBox 13"/>
          <p:cNvSpPr txBox="1"/>
          <p:nvPr/>
        </p:nvSpPr>
        <p:spPr>
          <a:xfrm>
            <a:off x="604134" y="3599444"/>
            <a:ext cx="6754111" cy="4235134"/>
          </a:xfrm>
          <a:prstGeom prst="rect">
            <a:avLst/>
          </a:prstGeom>
        </p:spPr>
        <p:txBody>
          <a:bodyPr lIns="0" tIns="0" rIns="0" bIns="0" rtlCol="0" anchor="t">
            <a:spAutoFit/>
          </a:bodyPr>
          <a:lstStyle/>
          <a:p>
            <a:pPr algn="l">
              <a:lnSpc>
                <a:spcPts val="3692"/>
              </a:lnSpc>
            </a:pPr>
            <a:r>
              <a:rPr lang="en-US" sz="2600" dirty="0">
                <a:solidFill>
                  <a:srgbClr val="454699"/>
                </a:solidFill>
                <a:latin typeface="Roboto"/>
                <a:ea typeface="Roboto"/>
                <a:cs typeface="Roboto"/>
                <a:sym typeface="Roboto"/>
              </a:rPr>
              <a:t>Since Autonomous vehicles are still in the nascent phase, safety regulations are relaxed so as not to strangle and stifle innovation.</a:t>
            </a:r>
          </a:p>
          <a:p>
            <a:pPr algn="l">
              <a:lnSpc>
                <a:spcPts val="3692"/>
              </a:lnSpc>
            </a:pPr>
            <a:endParaRPr lang="en-US" sz="2600" dirty="0">
              <a:solidFill>
                <a:srgbClr val="454699"/>
              </a:solidFill>
              <a:latin typeface="Roboto"/>
              <a:ea typeface="Roboto"/>
              <a:cs typeface="Roboto"/>
              <a:sym typeface="Roboto"/>
            </a:endParaRPr>
          </a:p>
          <a:p>
            <a:pPr marL="0" lvl="0" indent="0" algn="l">
              <a:lnSpc>
                <a:spcPts val="3692"/>
              </a:lnSpc>
              <a:spcBef>
                <a:spcPct val="0"/>
              </a:spcBef>
            </a:pPr>
            <a:r>
              <a:rPr lang="en-US" sz="2600" dirty="0">
                <a:solidFill>
                  <a:srgbClr val="454699"/>
                </a:solidFill>
                <a:latin typeface="Roboto"/>
                <a:ea typeface="Roboto"/>
                <a:cs typeface="Roboto"/>
                <a:sym typeface="Roboto"/>
              </a:rPr>
              <a:t>Out of the 5 safety standards shown in USA, only 1 is actually required, but every crash is covered in the media, so vendors approach with a bit of common sense especially in robotaxis</a:t>
            </a:r>
          </a:p>
        </p:txBody>
      </p:sp>
      <p:grpSp>
        <p:nvGrpSpPr>
          <p:cNvPr id="14" name="Group 14"/>
          <p:cNvGrpSpPr/>
          <p:nvPr/>
        </p:nvGrpSpPr>
        <p:grpSpPr>
          <a:xfrm>
            <a:off x="7803872" y="4568497"/>
            <a:ext cx="1897484" cy="1061551"/>
            <a:chOff x="0" y="0"/>
            <a:chExt cx="726425" cy="406400"/>
          </a:xfrm>
        </p:grpSpPr>
        <p:sp>
          <p:nvSpPr>
            <p:cNvPr id="15" name="Freeform 15"/>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16" name="Group 16"/>
          <p:cNvGrpSpPr/>
          <p:nvPr/>
        </p:nvGrpSpPr>
        <p:grpSpPr>
          <a:xfrm>
            <a:off x="8591505" y="4711372"/>
            <a:ext cx="775800" cy="775800"/>
            <a:chOff x="0" y="0"/>
            <a:chExt cx="1034400" cy="1034400"/>
          </a:xfrm>
        </p:grpSpPr>
        <p:sp>
          <p:nvSpPr>
            <p:cNvPr id="17" name="Freeform 17"/>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8" name="Freeform 18"/>
            <p:cNvSpPr/>
            <p:nvPr/>
          </p:nvSpPr>
          <p:spPr>
            <a:xfrm flipH="1" flipV="1">
              <a:off x="153923" y="153923"/>
              <a:ext cx="726554" cy="726554"/>
            </a:xfrm>
            <a:custGeom>
              <a:avLst/>
              <a:gdLst/>
              <a:ahLst/>
              <a:cxnLst/>
              <a:rect l="l" t="t" r="r" b="b"/>
              <a:pathLst>
                <a:path w="726554" h="726554">
                  <a:moveTo>
                    <a:pt x="726554" y="726554"/>
                  </a:moveTo>
                  <a:lnTo>
                    <a:pt x="0" y="726554"/>
                  </a:lnTo>
                  <a:lnTo>
                    <a:pt x="0" y="0"/>
                  </a:lnTo>
                  <a:lnTo>
                    <a:pt x="726554" y="0"/>
                  </a:lnTo>
                  <a:lnTo>
                    <a:pt x="726554" y="726554"/>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5663589" y="7681988"/>
            <a:ext cx="1897484" cy="1061551"/>
            <a:chOff x="0" y="0"/>
            <a:chExt cx="726425" cy="406400"/>
          </a:xfrm>
        </p:grpSpPr>
        <p:sp>
          <p:nvSpPr>
            <p:cNvPr id="4" name="Freeform 4"/>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5" name="Group 5"/>
          <p:cNvGrpSpPr/>
          <p:nvPr/>
        </p:nvGrpSpPr>
        <p:grpSpPr>
          <a:xfrm>
            <a:off x="16612331" y="7824863"/>
            <a:ext cx="775800" cy="775800"/>
            <a:chOff x="0" y="0"/>
            <a:chExt cx="1034400" cy="1034400"/>
          </a:xfrm>
        </p:grpSpPr>
        <p:sp>
          <p:nvSpPr>
            <p:cNvPr id="6" name="Freeform 6"/>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7" name="Freeform 7"/>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grpSp>
        <p:nvGrpSpPr>
          <p:cNvPr id="8" name="Group 8"/>
          <p:cNvGrpSpPr/>
          <p:nvPr/>
        </p:nvGrpSpPr>
        <p:grpSpPr>
          <a:xfrm>
            <a:off x="1028700" y="2991036"/>
            <a:ext cx="14673185" cy="4539147"/>
            <a:chOff x="0" y="0"/>
            <a:chExt cx="4246678" cy="1313709"/>
          </a:xfrm>
        </p:grpSpPr>
        <p:sp>
          <p:nvSpPr>
            <p:cNvPr id="9" name="Freeform 9"/>
            <p:cNvSpPr/>
            <p:nvPr/>
          </p:nvSpPr>
          <p:spPr>
            <a:xfrm>
              <a:off x="0" y="0"/>
              <a:ext cx="4246679" cy="1313709"/>
            </a:xfrm>
            <a:custGeom>
              <a:avLst/>
              <a:gdLst/>
              <a:ahLst/>
              <a:cxnLst/>
              <a:rect l="l" t="t" r="r" b="b"/>
              <a:pathLst>
                <a:path w="4246679" h="1313709">
                  <a:moveTo>
                    <a:pt x="4122219" y="1313709"/>
                  </a:moveTo>
                  <a:lnTo>
                    <a:pt x="124460" y="1313709"/>
                  </a:lnTo>
                  <a:cubicBezTo>
                    <a:pt x="55880" y="1313709"/>
                    <a:pt x="0" y="1257829"/>
                    <a:pt x="0" y="1189249"/>
                  </a:cubicBezTo>
                  <a:lnTo>
                    <a:pt x="0" y="124460"/>
                  </a:lnTo>
                  <a:cubicBezTo>
                    <a:pt x="0" y="55880"/>
                    <a:pt x="55880" y="0"/>
                    <a:pt x="124460" y="0"/>
                  </a:cubicBezTo>
                  <a:lnTo>
                    <a:pt x="4122219" y="0"/>
                  </a:lnTo>
                  <a:cubicBezTo>
                    <a:pt x="4190798" y="0"/>
                    <a:pt x="4246679" y="55880"/>
                    <a:pt x="4246679" y="124460"/>
                  </a:cubicBezTo>
                  <a:lnTo>
                    <a:pt x="4246679" y="1189249"/>
                  </a:lnTo>
                  <a:cubicBezTo>
                    <a:pt x="4246679" y="1257829"/>
                    <a:pt x="4190798" y="1313709"/>
                    <a:pt x="4122219" y="1313709"/>
                  </a:cubicBezTo>
                  <a:close/>
                </a:path>
              </a:pathLst>
            </a:custGeom>
            <a:solidFill>
              <a:srgbClr val="FFBB56"/>
            </a:solidFill>
          </p:spPr>
          <p:txBody>
            <a:bodyPr/>
            <a:lstStyle/>
            <a:p>
              <a:endParaRPr lang="en-CA"/>
            </a:p>
          </p:txBody>
        </p:sp>
      </p:grpSp>
      <p:sp>
        <p:nvSpPr>
          <p:cNvPr id="10" name="TextBox 10"/>
          <p:cNvSpPr txBox="1"/>
          <p:nvPr/>
        </p:nvSpPr>
        <p:spPr>
          <a:xfrm>
            <a:off x="1082108" y="457665"/>
            <a:ext cx="14619777" cy="2166746"/>
          </a:xfrm>
          <a:prstGeom prst="rect">
            <a:avLst/>
          </a:prstGeom>
        </p:spPr>
        <p:txBody>
          <a:bodyPr lIns="0" tIns="0" rIns="0" bIns="0" rtlCol="0" anchor="t">
            <a:spAutoFit/>
          </a:bodyPr>
          <a:lstStyle/>
          <a:p>
            <a:pPr marL="0" lvl="0" indent="0" algn="l">
              <a:lnSpc>
                <a:spcPts val="8694"/>
              </a:lnSpc>
              <a:spcBef>
                <a:spcPct val="0"/>
              </a:spcBef>
            </a:pPr>
            <a:r>
              <a:rPr lang="en-US" sz="6900" b="1">
                <a:solidFill>
                  <a:srgbClr val="454699"/>
                </a:solidFill>
                <a:latin typeface="League Spartan"/>
                <a:ea typeface="League Spartan"/>
                <a:cs typeface="League Spartan"/>
                <a:sym typeface="League Spartan"/>
              </a:rPr>
              <a:t>DOES ADEQUATE SENSORS MEAN SAFETY?</a:t>
            </a:r>
          </a:p>
        </p:txBody>
      </p:sp>
      <p:sp>
        <p:nvSpPr>
          <p:cNvPr id="11" name="TextBox 11"/>
          <p:cNvSpPr txBox="1"/>
          <p:nvPr/>
        </p:nvSpPr>
        <p:spPr>
          <a:xfrm>
            <a:off x="1604615" y="3139519"/>
            <a:ext cx="13574762" cy="4185031"/>
          </a:xfrm>
          <a:prstGeom prst="rect">
            <a:avLst/>
          </a:prstGeom>
        </p:spPr>
        <p:txBody>
          <a:bodyPr lIns="0" tIns="0" rIns="0" bIns="0" rtlCol="0" anchor="t">
            <a:spAutoFit/>
          </a:bodyPr>
          <a:lstStyle/>
          <a:p>
            <a:pPr algn="l">
              <a:lnSpc>
                <a:spcPts val="3692"/>
              </a:lnSpc>
            </a:pPr>
            <a:r>
              <a:rPr lang="en-US" sz="2600" b="1">
                <a:solidFill>
                  <a:srgbClr val="454699"/>
                </a:solidFill>
                <a:latin typeface="Roboto Bold"/>
                <a:ea typeface="Roboto Bold"/>
                <a:cs typeface="Roboto Bold"/>
                <a:sym typeface="Roboto Bold"/>
              </a:rPr>
              <a:t>Too little</a:t>
            </a:r>
            <a:r>
              <a:rPr lang="en-US" sz="2600">
                <a:solidFill>
                  <a:srgbClr val="454699"/>
                </a:solidFill>
                <a:latin typeface="Roboto"/>
                <a:ea typeface="Roboto"/>
                <a:cs typeface="Roboto"/>
                <a:sym typeface="Roboto"/>
              </a:rPr>
              <a:t> </a:t>
            </a:r>
            <a:r>
              <a:rPr lang="en-US" sz="2600" b="1">
                <a:solidFill>
                  <a:srgbClr val="454699"/>
                </a:solidFill>
                <a:latin typeface="Roboto Bold"/>
                <a:ea typeface="Roboto Bold"/>
                <a:cs typeface="Roboto Bold"/>
                <a:sym typeface="Roboto Bold"/>
              </a:rPr>
              <a:t>sensor information</a:t>
            </a:r>
            <a:r>
              <a:rPr lang="en-US" sz="2600">
                <a:solidFill>
                  <a:srgbClr val="454699"/>
                </a:solidFill>
                <a:latin typeface="Roboto"/>
                <a:ea typeface="Roboto"/>
                <a:cs typeface="Roboto"/>
                <a:sym typeface="Roboto"/>
              </a:rPr>
              <a:t> means there would be blind spots missed, </a:t>
            </a:r>
            <a:r>
              <a:rPr lang="en-US" sz="2600" b="1">
                <a:solidFill>
                  <a:srgbClr val="454699"/>
                </a:solidFill>
                <a:latin typeface="Roboto Bold"/>
                <a:ea typeface="Roboto Bold"/>
                <a:cs typeface="Roboto Bold"/>
                <a:sym typeface="Roboto Bold"/>
              </a:rPr>
              <a:t>too much sensor information</a:t>
            </a:r>
            <a:r>
              <a:rPr lang="en-US" sz="2600">
                <a:solidFill>
                  <a:srgbClr val="454699"/>
                </a:solidFill>
                <a:latin typeface="Roboto"/>
                <a:ea typeface="Roboto"/>
                <a:cs typeface="Roboto"/>
                <a:sym typeface="Roboto"/>
              </a:rPr>
              <a:t> can result to information overload, sensor interference and artificial noise.</a:t>
            </a:r>
          </a:p>
          <a:p>
            <a:pPr algn="l">
              <a:lnSpc>
                <a:spcPts val="3692"/>
              </a:lnSpc>
            </a:pPr>
            <a:endParaRPr lang="en-US" sz="2600">
              <a:solidFill>
                <a:srgbClr val="454699"/>
              </a:solidFill>
              <a:latin typeface="Roboto"/>
              <a:ea typeface="Roboto"/>
              <a:cs typeface="Roboto"/>
              <a:sym typeface="Roboto"/>
            </a:endParaRPr>
          </a:p>
          <a:p>
            <a:pPr algn="l">
              <a:lnSpc>
                <a:spcPts val="3692"/>
              </a:lnSpc>
            </a:pPr>
            <a:r>
              <a:rPr lang="en-US" sz="2600">
                <a:solidFill>
                  <a:srgbClr val="454699"/>
                </a:solidFill>
                <a:latin typeface="Roboto"/>
                <a:ea typeface="Roboto"/>
                <a:cs typeface="Roboto"/>
                <a:sym typeface="Roboto"/>
              </a:rPr>
              <a:t>But generally, sensors do not equate to safety, but an adequate balance is a very good step in the right direction, because the </a:t>
            </a:r>
            <a:r>
              <a:rPr lang="en-US" sz="2600" b="1">
                <a:solidFill>
                  <a:srgbClr val="454699"/>
                </a:solidFill>
                <a:latin typeface="Roboto Bold"/>
                <a:ea typeface="Roboto Bold"/>
                <a:cs typeface="Roboto Bold"/>
                <a:sym typeface="Roboto Bold"/>
              </a:rPr>
              <a:t>Rule Based Agents, Hybrid Agents </a:t>
            </a:r>
            <a:r>
              <a:rPr lang="en-US" sz="2600">
                <a:solidFill>
                  <a:srgbClr val="454699"/>
                </a:solidFill>
                <a:latin typeface="Roboto"/>
                <a:ea typeface="Roboto"/>
                <a:cs typeface="Roboto"/>
                <a:sym typeface="Roboto"/>
              </a:rPr>
              <a:t>or </a:t>
            </a:r>
            <a:r>
              <a:rPr lang="en-US" sz="2600" b="1">
                <a:solidFill>
                  <a:srgbClr val="454699"/>
                </a:solidFill>
                <a:latin typeface="Roboto Bold"/>
                <a:ea typeface="Roboto Bold"/>
                <a:cs typeface="Roboto Bold"/>
                <a:sym typeface="Roboto Bold"/>
              </a:rPr>
              <a:t>Reinforcement Learning Agents</a:t>
            </a:r>
            <a:r>
              <a:rPr lang="en-US" sz="2600">
                <a:solidFill>
                  <a:srgbClr val="454699"/>
                </a:solidFill>
                <a:latin typeface="Roboto"/>
                <a:ea typeface="Roboto"/>
                <a:cs typeface="Roboto"/>
                <a:sym typeface="Roboto"/>
              </a:rPr>
              <a:t> can make bad or good decisions and generalize only on what it can see.</a:t>
            </a:r>
          </a:p>
          <a:p>
            <a:pPr algn="l">
              <a:lnSpc>
                <a:spcPts val="3692"/>
              </a:lnSpc>
            </a:pPr>
            <a:endParaRPr lang="en-US" sz="2600">
              <a:solidFill>
                <a:srgbClr val="454699"/>
              </a:solidFill>
              <a:latin typeface="Roboto"/>
              <a:ea typeface="Roboto"/>
              <a:cs typeface="Roboto"/>
              <a:sym typeface="Roboto"/>
            </a:endParaRPr>
          </a:p>
          <a:p>
            <a:pPr marL="0" lvl="0" indent="0" algn="l">
              <a:lnSpc>
                <a:spcPts val="3692"/>
              </a:lnSpc>
            </a:pPr>
            <a:r>
              <a:rPr lang="en-US" sz="2600">
                <a:solidFill>
                  <a:srgbClr val="454699"/>
                </a:solidFill>
                <a:latin typeface="Roboto"/>
                <a:ea typeface="Roboto"/>
                <a:cs typeface="Roboto"/>
                <a:sym typeface="Roboto"/>
              </a:rPr>
              <a:t>Self Driving Car vendors use multiple techniques and technologies to ensure and verify the safety of the vehicles. I will discuss two prominent ones in the </a:t>
            </a:r>
            <a:r>
              <a:rPr lang="en-US" sz="2600" b="1">
                <a:solidFill>
                  <a:srgbClr val="454699"/>
                </a:solidFill>
                <a:latin typeface="Roboto Bold"/>
                <a:ea typeface="Roboto Bold"/>
                <a:cs typeface="Roboto Bold"/>
                <a:sym typeface="Roboto Bold"/>
              </a:rPr>
              <a:t>next slides</a:t>
            </a:r>
          </a:p>
        </p:txBody>
      </p:sp>
      <p:sp>
        <p:nvSpPr>
          <p:cNvPr id="12" name="Freeform 12"/>
          <p:cNvSpPr/>
          <p:nvPr/>
        </p:nvSpPr>
        <p:spPr>
          <a:xfrm rot="-10800000" flipH="1">
            <a:off x="15663589" y="0"/>
            <a:ext cx="2624411" cy="2624411"/>
          </a:xfrm>
          <a:custGeom>
            <a:avLst/>
            <a:gdLst/>
            <a:ahLst/>
            <a:cxnLst/>
            <a:rect l="l" t="t" r="r" b="b"/>
            <a:pathLst>
              <a:path w="2624411" h="2624411">
                <a:moveTo>
                  <a:pt x="2624411" y="0"/>
                </a:moveTo>
                <a:lnTo>
                  <a:pt x="0" y="0"/>
                </a:lnTo>
                <a:lnTo>
                  <a:pt x="0" y="2624411"/>
                </a:lnTo>
                <a:lnTo>
                  <a:pt x="2624411" y="2624411"/>
                </a:lnTo>
                <a:lnTo>
                  <a:pt x="2624411"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sp>
        <p:nvSpPr>
          <p:cNvPr id="2" name="Freeform 2"/>
          <p:cNvSpPr/>
          <p:nvPr/>
        </p:nvSpPr>
        <p:spPr>
          <a:xfrm rot="-5400000">
            <a:off x="-983142" y="3633839"/>
            <a:ext cx="3932566" cy="1966283"/>
          </a:xfrm>
          <a:custGeom>
            <a:avLst/>
            <a:gdLst/>
            <a:ahLst/>
            <a:cxnLst/>
            <a:rect l="l" t="t" r="r" b="b"/>
            <a:pathLst>
              <a:path w="3932566" h="1966283">
                <a:moveTo>
                  <a:pt x="0" y="0"/>
                </a:moveTo>
                <a:lnTo>
                  <a:pt x="3932567" y="0"/>
                </a:lnTo>
                <a:lnTo>
                  <a:pt x="3932567" y="1966283"/>
                </a:lnTo>
                <a:lnTo>
                  <a:pt x="0" y="19662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454960" y="3207542"/>
            <a:ext cx="5129807" cy="4455047"/>
            <a:chOff x="0" y="0"/>
            <a:chExt cx="1192997" cy="1036073"/>
          </a:xfrm>
        </p:grpSpPr>
        <p:sp>
          <p:nvSpPr>
            <p:cNvPr id="4" name="Freeform 4"/>
            <p:cNvSpPr/>
            <p:nvPr/>
          </p:nvSpPr>
          <p:spPr>
            <a:xfrm>
              <a:off x="0" y="0"/>
              <a:ext cx="1192997" cy="1036074"/>
            </a:xfrm>
            <a:custGeom>
              <a:avLst/>
              <a:gdLst/>
              <a:ahLst/>
              <a:cxnLst/>
              <a:rect l="l" t="t" r="r" b="b"/>
              <a:pathLst>
                <a:path w="1192997" h="1036074">
                  <a:moveTo>
                    <a:pt x="1068537" y="1036073"/>
                  </a:moveTo>
                  <a:lnTo>
                    <a:pt x="124460" y="1036073"/>
                  </a:lnTo>
                  <a:cubicBezTo>
                    <a:pt x="55880" y="1036073"/>
                    <a:pt x="0" y="980193"/>
                    <a:pt x="0" y="911613"/>
                  </a:cubicBezTo>
                  <a:lnTo>
                    <a:pt x="0" y="124460"/>
                  </a:lnTo>
                  <a:cubicBezTo>
                    <a:pt x="0" y="55880"/>
                    <a:pt x="55880" y="0"/>
                    <a:pt x="124460" y="0"/>
                  </a:cubicBezTo>
                  <a:lnTo>
                    <a:pt x="1068537" y="0"/>
                  </a:lnTo>
                  <a:cubicBezTo>
                    <a:pt x="1137117" y="0"/>
                    <a:pt x="1192997" y="55880"/>
                    <a:pt x="1192997" y="124460"/>
                  </a:cubicBezTo>
                  <a:lnTo>
                    <a:pt x="1192997" y="911614"/>
                  </a:lnTo>
                  <a:cubicBezTo>
                    <a:pt x="1192997" y="980193"/>
                    <a:pt x="1137117" y="1036074"/>
                    <a:pt x="1068537" y="1036074"/>
                  </a:cubicBezTo>
                  <a:close/>
                </a:path>
              </a:pathLst>
            </a:custGeom>
            <a:solidFill>
              <a:srgbClr val="F8F4EB"/>
            </a:solidFill>
          </p:spPr>
          <p:txBody>
            <a:bodyPr/>
            <a:lstStyle/>
            <a:p>
              <a:endParaRPr lang="en-CA"/>
            </a:p>
          </p:txBody>
        </p:sp>
      </p:grpSp>
      <p:grpSp>
        <p:nvGrpSpPr>
          <p:cNvPr id="5" name="Group 5"/>
          <p:cNvGrpSpPr/>
          <p:nvPr/>
        </p:nvGrpSpPr>
        <p:grpSpPr>
          <a:xfrm>
            <a:off x="6294380" y="3218208"/>
            <a:ext cx="5129807" cy="4444381"/>
            <a:chOff x="0" y="0"/>
            <a:chExt cx="1192997" cy="1033593"/>
          </a:xfrm>
        </p:grpSpPr>
        <p:sp>
          <p:nvSpPr>
            <p:cNvPr id="6" name="Freeform 6"/>
            <p:cNvSpPr/>
            <p:nvPr/>
          </p:nvSpPr>
          <p:spPr>
            <a:xfrm>
              <a:off x="0" y="0"/>
              <a:ext cx="1192997" cy="1033593"/>
            </a:xfrm>
            <a:custGeom>
              <a:avLst/>
              <a:gdLst/>
              <a:ahLst/>
              <a:cxnLst/>
              <a:rect l="l" t="t" r="r" b="b"/>
              <a:pathLst>
                <a:path w="1192997" h="1033593">
                  <a:moveTo>
                    <a:pt x="1068537" y="1033593"/>
                  </a:moveTo>
                  <a:lnTo>
                    <a:pt x="124460" y="1033593"/>
                  </a:lnTo>
                  <a:cubicBezTo>
                    <a:pt x="55880" y="1033593"/>
                    <a:pt x="0" y="977713"/>
                    <a:pt x="0" y="909133"/>
                  </a:cubicBezTo>
                  <a:lnTo>
                    <a:pt x="0" y="124460"/>
                  </a:lnTo>
                  <a:cubicBezTo>
                    <a:pt x="0" y="55880"/>
                    <a:pt x="55880" y="0"/>
                    <a:pt x="124460" y="0"/>
                  </a:cubicBezTo>
                  <a:lnTo>
                    <a:pt x="1068537" y="0"/>
                  </a:lnTo>
                  <a:cubicBezTo>
                    <a:pt x="1137117" y="0"/>
                    <a:pt x="1192997" y="55880"/>
                    <a:pt x="1192997" y="124460"/>
                  </a:cubicBezTo>
                  <a:lnTo>
                    <a:pt x="1192997" y="909133"/>
                  </a:lnTo>
                  <a:cubicBezTo>
                    <a:pt x="1192997" y="977713"/>
                    <a:pt x="1137117" y="1033593"/>
                    <a:pt x="1068537" y="1033593"/>
                  </a:cubicBezTo>
                  <a:close/>
                </a:path>
              </a:pathLst>
            </a:custGeom>
            <a:solidFill>
              <a:srgbClr val="F8F4EB"/>
            </a:solidFill>
          </p:spPr>
          <p:txBody>
            <a:bodyPr/>
            <a:lstStyle/>
            <a:p>
              <a:endParaRPr lang="en-CA"/>
            </a:p>
          </p:txBody>
        </p:sp>
      </p:grpSp>
      <p:sp>
        <p:nvSpPr>
          <p:cNvPr id="7" name="Freeform 7"/>
          <p:cNvSpPr/>
          <p:nvPr/>
        </p:nvSpPr>
        <p:spPr>
          <a:xfrm rot="-5400000" flipH="1">
            <a:off x="15663589" y="7662589"/>
            <a:ext cx="2624411" cy="2624411"/>
          </a:xfrm>
          <a:custGeom>
            <a:avLst/>
            <a:gdLst/>
            <a:ahLst/>
            <a:cxnLst/>
            <a:rect l="l" t="t" r="r" b="b"/>
            <a:pathLst>
              <a:path w="2624411" h="2624411">
                <a:moveTo>
                  <a:pt x="2624411" y="0"/>
                </a:moveTo>
                <a:lnTo>
                  <a:pt x="0" y="0"/>
                </a:lnTo>
                <a:lnTo>
                  <a:pt x="0" y="2624411"/>
                </a:lnTo>
                <a:lnTo>
                  <a:pt x="2624411" y="2624411"/>
                </a:lnTo>
                <a:lnTo>
                  <a:pt x="262441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grpSp>
        <p:nvGrpSpPr>
          <p:cNvPr id="8" name="Group 8"/>
          <p:cNvGrpSpPr/>
          <p:nvPr/>
        </p:nvGrpSpPr>
        <p:grpSpPr>
          <a:xfrm>
            <a:off x="12133799" y="3218208"/>
            <a:ext cx="5129807" cy="4444381"/>
            <a:chOff x="0" y="0"/>
            <a:chExt cx="1192997" cy="1033593"/>
          </a:xfrm>
        </p:grpSpPr>
        <p:sp>
          <p:nvSpPr>
            <p:cNvPr id="9" name="Freeform 9"/>
            <p:cNvSpPr/>
            <p:nvPr/>
          </p:nvSpPr>
          <p:spPr>
            <a:xfrm>
              <a:off x="0" y="0"/>
              <a:ext cx="1192997" cy="1033593"/>
            </a:xfrm>
            <a:custGeom>
              <a:avLst/>
              <a:gdLst/>
              <a:ahLst/>
              <a:cxnLst/>
              <a:rect l="l" t="t" r="r" b="b"/>
              <a:pathLst>
                <a:path w="1192997" h="1033593">
                  <a:moveTo>
                    <a:pt x="1068537" y="1033593"/>
                  </a:moveTo>
                  <a:lnTo>
                    <a:pt x="124460" y="1033593"/>
                  </a:lnTo>
                  <a:cubicBezTo>
                    <a:pt x="55880" y="1033593"/>
                    <a:pt x="0" y="977713"/>
                    <a:pt x="0" y="909133"/>
                  </a:cubicBezTo>
                  <a:lnTo>
                    <a:pt x="0" y="124460"/>
                  </a:lnTo>
                  <a:cubicBezTo>
                    <a:pt x="0" y="55880"/>
                    <a:pt x="55880" y="0"/>
                    <a:pt x="124460" y="0"/>
                  </a:cubicBezTo>
                  <a:lnTo>
                    <a:pt x="1068537" y="0"/>
                  </a:lnTo>
                  <a:cubicBezTo>
                    <a:pt x="1137117" y="0"/>
                    <a:pt x="1192997" y="55880"/>
                    <a:pt x="1192997" y="124460"/>
                  </a:cubicBezTo>
                  <a:lnTo>
                    <a:pt x="1192997" y="909133"/>
                  </a:lnTo>
                  <a:cubicBezTo>
                    <a:pt x="1192997" y="977713"/>
                    <a:pt x="1137117" y="1033593"/>
                    <a:pt x="1068537" y="1033593"/>
                  </a:cubicBezTo>
                  <a:close/>
                </a:path>
              </a:pathLst>
            </a:custGeom>
            <a:solidFill>
              <a:srgbClr val="F8F4EB"/>
            </a:solidFill>
          </p:spPr>
          <p:txBody>
            <a:bodyPr/>
            <a:lstStyle/>
            <a:p>
              <a:endParaRPr lang="en-CA"/>
            </a:p>
          </p:txBody>
        </p:sp>
      </p:grpSp>
      <p:grpSp>
        <p:nvGrpSpPr>
          <p:cNvPr id="10" name="Group 10"/>
          <p:cNvGrpSpPr/>
          <p:nvPr/>
        </p:nvGrpSpPr>
        <p:grpSpPr>
          <a:xfrm>
            <a:off x="636240" y="3742306"/>
            <a:ext cx="4767248" cy="1750598"/>
            <a:chOff x="0" y="0"/>
            <a:chExt cx="6356331" cy="2334131"/>
          </a:xfrm>
        </p:grpSpPr>
        <p:sp>
          <p:nvSpPr>
            <p:cNvPr id="11" name="TextBox 11"/>
            <p:cNvSpPr txBox="1"/>
            <p:nvPr/>
          </p:nvSpPr>
          <p:spPr>
            <a:xfrm>
              <a:off x="0" y="-19050"/>
              <a:ext cx="6356331" cy="744474"/>
            </a:xfrm>
            <a:prstGeom prst="rect">
              <a:avLst/>
            </a:prstGeom>
          </p:spPr>
          <p:txBody>
            <a:bodyPr lIns="0" tIns="0" rIns="0" bIns="0" rtlCol="0" anchor="t">
              <a:spAutoFit/>
            </a:bodyPr>
            <a:lstStyle/>
            <a:p>
              <a:pPr marL="0" lvl="0" indent="0" algn="l">
                <a:lnSpc>
                  <a:spcPts val="4536"/>
                </a:lnSpc>
                <a:spcBef>
                  <a:spcPct val="0"/>
                </a:spcBef>
              </a:pPr>
              <a:r>
                <a:rPr lang="en-US" sz="3600" b="1">
                  <a:solidFill>
                    <a:srgbClr val="454699"/>
                  </a:solidFill>
                  <a:latin typeface="League Spartan"/>
                  <a:ea typeface="League Spartan"/>
                  <a:cs typeface="League Spartan"/>
                  <a:sym typeface="League Spartan"/>
                </a:rPr>
                <a:t>Full Remote Driving</a:t>
              </a:r>
            </a:p>
          </p:txBody>
        </p:sp>
        <p:sp>
          <p:nvSpPr>
            <p:cNvPr id="12" name="TextBox 12"/>
            <p:cNvSpPr txBox="1"/>
            <p:nvPr/>
          </p:nvSpPr>
          <p:spPr>
            <a:xfrm>
              <a:off x="0" y="878838"/>
              <a:ext cx="6356331" cy="1455293"/>
            </a:xfrm>
            <a:prstGeom prst="rect">
              <a:avLst/>
            </a:prstGeom>
          </p:spPr>
          <p:txBody>
            <a:bodyPr lIns="0" tIns="0" rIns="0" bIns="0" rtlCol="0" anchor="t">
              <a:spAutoFit/>
            </a:bodyPr>
            <a:lstStyle/>
            <a:p>
              <a:pPr marL="0" lvl="0" indent="0" algn="l">
                <a:lnSpc>
                  <a:spcPts val="2982"/>
                </a:lnSpc>
              </a:pPr>
              <a:r>
                <a:rPr lang="en-US" sz="2100">
                  <a:solidFill>
                    <a:srgbClr val="454699"/>
                  </a:solidFill>
                  <a:latin typeface="Roboto"/>
                  <a:ea typeface="Roboto"/>
                  <a:cs typeface="Roboto"/>
                  <a:sym typeface="Roboto"/>
                </a:rPr>
                <a:t>This is utilizing various technologies to allow an individual drive and control the vehicle remotely.</a:t>
              </a:r>
            </a:p>
          </p:txBody>
        </p:sp>
      </p:grpSp>
      <p:grpSp>
        <p:nvGrpSpPr>
          <p:cNvPr id="13" name="Group 13"/>
          <p:cNvGrpSpPr/>
          <p:nvPr/>
        </p:nvGrpSpPr>
        <p:grpSpPr>
          <a:xfrm>
            <a:off x="6481492" y="3742306"/>
            <a:ext cx="4755583" cy="2693573"/>
            <a:chOff x="0" y="0"/>
            <a:chExt cx="6340777" cy="3591431"/>
          </a:xfrm>
        </p:grpSpPr>
        <p:sp>
          <p:nvSpPr>
            <p:cNvPr id="14" name="TextBox 14"/>
            <p:cNvSpPr txBox="1"/>
            <p:nvPr/>
          </p:nvSpPr>
          <p:spPr>
            <a:xfrm>
              <a:off x="0" y="-19050"/>
              <a:ext cx="6340777" cy="1506474"/>
            </a:xfrm>
            <a:prstGeom prst="rect">
              <a:avLst/>
            </a:prstGeom>
          </p:spPr>
          <p:txBody>
            <a:bodyPr lIns="0" tIns="0" rIns="0" bIns="0" rtlCol="0" anchor="t">
              <a:spAutoFit/>
            </a:bodyPr>
            <a:lstStyle/>
            <a:p>
              <a:pPr marL="0" lvl="0" indent="0" algn="l">
                <a:lnSpc>
                  <a:spcPts val="4536"/>
                </a:lnSpc>
                <a:spcBef>
                  <a:spcPct val="0"/>
                </a:spcBef>
              </a:pPr>
              <a:r>
                <a:rPr lang="en-US" sz="3600" b="1">
                  <a:solidFill>
                    <a:srgbClr val="454699"/>
                  </a:solidFill>
                  <a:latin typeface="League Spartan"/>
                  <a:ea typeface="League Spartan"/>
                  <a:cs typeface="League Spartan"/>
                  <a:sym typeface="League Spartan"/>
                </a:rPr>
                <a:t>Remote Safety Operators</a:t>
              </a:r>
            </a:p>
          </p:txBody>
        </p:sp>
        <p:sp>
          <p:nvSpPr>
            <p:cNvPr id="15" name="TextBox 15"/>
            <p:cNvSpPr txBox="1"/>
            <p:nvPr/>
          </p:nvSpPr>
          <p:spPr>
            <a:xfrm>
              <a:off x="0" y="1640838"/>
              <a:ext cx="6340777" cy="1950593"/>
            </a:xfrm>
            <a:prstGeom prst="rect">
              <a:avLst/>
            </a:prstGeom>
          </p:spPr>
          <p:txBody>
            <a:bodyPr lIns="0" tIns="0" rIns="0" bIns="0" rtlCol="0" anchor="t">
              <a:spAutoFit/>
            </a:bodyPr>
            <a:lstStyle/>
            <a:p>
              <a:pPr marL="0" lvl="0" indent="0" algn="l">
                <a:lnSpc>
                  <a:spcPts val="2982"/>
                </a:lnSpc>
              </a:pPr>
              <a:r>
                <a:rPr lang="en-US" sz="2100">
                  <a:solidFill>
                    <a:srgbClr val="454699"/>
                  </a:solidFill>
                  <a:latin typeface="Roboto"/>
                  <a:ea typeface="Roboto"/>
                  <a:cs typeface="Roboto"/>
                  <a:sym typeface="Roboto"/>
                </a:rPr>
                <a:t>Remote Safety Operators take control of the vehicle frequently or infrequently. Typically when a customer calls in, or in a unique case for the vehicle.</a:t>
              </a:r>
            </a:p>
          </p:txBody>
        </p:sp>
      </p:grpSp>
      <p:grpSp>
        <p:nvGrpSpPr>
          <p:cNvPr id="16" name="Group 16"/>
          <p:cNvGrpSpPr/>
          <p:nvPr/>
        </p:nvGrpSpPr>
        <p:grpSpPr>
          <a:xfrm>
            <a:off x="12540215" y="3742306"/>
            <a:ext cx="4316976" cy="2693573"/>
            <a:chOff x="0" y="0"/>
            <a:chExt cx="5755968" cy="3591431"/>
          </a:xfrm>
        </p:grpSpPr>
        <p:sp>
          <p:nvSpPr>
            <p:cNvPr id="17" name="TextBox 17"/>
            <p:cNvSpPr txBox="1"/>
            <p:nvPr/>
          </p:nvSpPr>
          <p:spPr>
            <a:xfrm>
              <a:off x="0" y="-19050"/>
              <a:ext cx="5755968" cy="1506474"/>
            </a:xfrm>
            <a:prstGeom prst="rect">
              <a:avLst/>
            </a:prstGeom>
          </p:spPr>
          <p:txBody>
            <a:bodyPr lIns="0" tIns="0" rIns="0" bIns="0" rtlCol="0" anchor="t">
              <a:spAutoFit/>
            </a:bodyPr>
            <a:lstStyle/>
            <a:p>
              <a:pPr marL="0" lvl="0" indent="0" algn="l">
                <a:lnSpc>
                  <a:spcPts val="4536"/>
                </a:lnSpc>
                <a:spcBef>
                  <a:spcPct val="0"/>
                </a:spcBef>
              </a:pPr>
              <a:r>
                <a:rPr lang="en-US" sz="3600" b="1">
                  <a:solidFill>
                    <a:srgbClr val="454699"/>
                  </a:solidFill>
                  <a:latin typeface="League Spartan"/>
                  <a:ea typeface="League Spartan"/>
                  <a:cs typeface="League Spartan"/>
                  <a:sym typeface="League Spartan"/>
                </a:rPr>
                <a:t>Remote Safety Intervention </a:t>
              </a:r>
            </a:p>
          </p:txBody>
        </p:sp>
        <p:sp>
          <p:nvSpPr>
            <p:cNvPr id="18" name="TextBox 18"/>
            <p:cNvSpPr txBox="1"/>
            <p:nvPr/>
          </p:nvSpPr>
          <p:spPr>
            <a:xfrm>
              <a:off x="0" y="1640838"/>
              <a:ext cx="5755968" cy="1950593"/>
            </a:xfrm>
            <a:prstGeom prst="rect">
              <a:avLst/>
            </a:prstGeom>
          </p:spPr>
          <p:txBody>
            <a:bodyPr lIns="0" tIns="0" rIns="0" bIns="0" rtlCol="0" anchor="t">
              <a:spAutoFit/>
            </a:bodyPr>
            <a:lstStyle/>
            <a:p>
              <a:pPr marL="0" lvl="0" indent="0" algn="l">
                <a:lnSpc>
                  <a:spcPts val="2982"/>
                </a:lnSpc>
              </a:pPr>
              <a:r>
                <a:rPr lang="en-US" sz="2100">
                  <a:solidFill>
                    <a:srgbClr val="454699"/>
                  </a:solidFill>
                  <a:latin typeface="Roboto"/>
                  <a:ea typeface="Roboto"/>
                  <a:cs typeface="Roboto"/>
                  <a:sym typeface="Roboto"/>
                </a:rPr>
                <a:t>Here the Autonomous Vehicle request assistance to the Remote Operators to get through any issue it encounters that it cannot navigate</a:t>
              </a:r>
            </a:p>
          </p:txBody>
        </p:sp>
      </p:grpSp>
      <p:sp>
        <p:nvSpPr>
          <p:cNvPr id="19" name="Freeform 19"/>
          <p:cNvSpPr/>
          <p:nvPr/>
        </p:nvSpPr>
        <p:spPr>
          <a:xfrm rot="-5400000">
            <a:off x="16729974" y="0"/>
            <a:ext cx="1558026" cy="1558026"/>
          </a:xfrm>
          <a:custGeom>
            <a:avLst/>
            <a:gdLst/>
            <a:ahLst/>
            <a:cxnLst/>
            <a:rect l="l" t="t" r="r" b="b"/>
            <a:pathLst>
              <a:path w="1558026" h="1558026">
                <a:moveTo>
                  <a:pt x="0" y="0"/>
                </a:moveTo>
                <a:lnTo>
                  <a:pt x="1558026" y="0"/>
                </a:lnTo>
                <a:lnTo>
                  <a:pt x="1558026" y="1558026"/>
                </a:lnTo>
                <a:lnTo>
                  <a:pt x="0" y="1558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20" name="TextBox 20"/>
          <p:cNvSpPr txBox="1"/>
          <p:nvPr/>
        </p:nvSpPr>
        <p:spPr>
          <a:xfrm>
            <a:off x="6112949" y="643572"/>
            <a:ext cx="6297364" cy="732156"/>
          </a:xfrm>
          <a:prstGeom prst="rect">
            <a:avLst/>
          </a:prstGeom>
        </p:spPr>
        <p:txBody>
          <a:bodyPr lIns="0" tIns="0" rIns="0" bIns="0" rtlCol="0" anchor="t">
            <a:spAutoFit/>
          </a:bodyPr>
          <a:lstStyle/>
          <a:p>
            <a:pPr algn="ctr">
              <a:lnSpc>
                <a:spcPts val="5979"/>
              </a:lnSpc>
              <a:spcBef>
                <a:spcPct val="0"/>
              </a:spcBef>
            </a:pPr>
            <a:r>
              <a:rPr lang="en-US" sz="4599" b="1" spc="-45">
                <a:solidFill>
                  <a:srgbClr val="FAFCFC"/>
                </a:solidFill>
                <a:latin typeface="League Spartan"/>
                <a:ea typeface="League Spartan"/>
                <a:cs typeface="League Spartan"/>
                <a:sym typeface="League Spartan"/>
              </a:rPr>
              <a:t>REMOTE OPERATORS</a:t>
            </a:r>
          </a:p>
        </p:txBody>
      </p:sp>
      <p:sp>
        <p:nvSpPr>
          <p:cNvPr id="21" name="TextBox 21"/>
          <p:cNvSpPr txBox="1"/>
          <p:nvPr/>
        </p:nvSpPr>
        <p:spPr>
          <a:xfrm>
            <a:off x="389506" y="1999823"/>
            <a:ext cx="17508987" cy="650875"/>
          </a:xfrm>
          <a:prstGeom prst="rect">
            <a:avLst/>
          </a:prstGeom>
        </p:spPr>
        <p:txBody>
          <a:bodyPr lIns="0" tIns="0" rIns="0" bIns="0" rtlCol="0" anchor="t">
            <a:spAutoFit/>
          </a:bodyPr>
          <a:lstStyle/>
          <a:p>
            <a:pPr algn="ctr">
              <a:lnSpc>
                <a:spcPts val="2600"/>
              </a:lnSpc>
              <a:spcBef>
                <a:spcPct val="0"/>
              </a:spcBef>
            </a:pPr>
            <a:r>
              <a:rPr lang="en-US" sz="2000" spc="-20">
                <a:solidFill>
                  <a:srgbClr val="FAFCFC"/>
                </a:solidFill>
                <a:latin typeface="League Spartan"/>
                <a:ea typeface="League Spartan"/>
                <a:cs typeface="League Spartan"/>
                <a:sym typeface="League Spartan"/>
              </a:rPr>
              <a:t>Thanks to the continuous advancement of wireless and fiber optic technologies, Self-Driving cars can incorporate Remote Operators to  ensure safety in real time communication. Here are the multiple levels of Remote Operators involved.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B0E4"/>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206024" y="2335713"/>
            <a:ext cx="15223667" cy="5877050"/>
            <a:chOff x="0" y="0"/>
            <a:chExt cx="4054691" cy="1565301"/>
          </a:xfrm>
        </p:grpSpPr>
        <p:sp>
          <p:nvSpPr>
            <p:cNvPr id="4" name="Freeform 4"/>
            <p:cNvSpPr/>
            <p:nvPr/>
          </p:nvSpPr>
          <p:spPr>
            <a:xfrm>
              <a:off x="0" y="0"/>
              <a:ext cx="4054691" cy="1565301"/>
            </a:xfrm>
            <a:custGeom>
              <a:avLst/>
              <a:gdLst/>
              <a:ahLst/>
              <a:cxnLst/>
              <a:rect l="l" t="t" r="r" b="b"/>
              <a:pathLst>
                <a:path w="4054691" h="1565301">
                  <a:moveTo>
                    <a:pt x="3930231" y="1565301"/>
                  </a:moveTo>
                  <a:lnTo>
                    <a:pt x="124460" y="1565301"/>
                  </a:lnTo>
                  <a:cubicBezTo>
                    <a:pt x="55880" y="1565301"/>
                    <a:pt x="0" y="1509421"/>
                    <a:pt x="0" y="1440841"/>
                  </a:cubicBezTo>
                  <a:lnTo>
                    <a:pt x="0" y="124460"/>
                  </a:lnTo>
                  <a:cubicBezTo>
                    <a:pt x="0" y="55880"/>
                    <a:pt x="55880" y="0"/>
                    <a:pt x="124460" y="0"/>
                  </a:cubicBezTo>
                  <a:lnTo>
                    <a:pt x="3930231" y="0"/>
                  </a:lnTo>
                  <a:cubicBezTo>
                    <a:pt x="3998811" y="0"/>
                    <a:pt x="4054691" y="55880"/>
                    <a:pt x="4054691" y="124460"/>
                  </a:cubicBezTo>
                  <a:lnTo>
                    <a:pt x="4054691" y="1440841"/>
                  </a:lnTo>
                  <a:cubicBezTo>
                    <a:pt x="4054691" y="1509421"/>
                    <a:pt x="3998811" y="1565301"/>
                    <a:pt x="3930231" y="1565301"/>
                  </a:cubicBezTo>
                  <a:close/>
                </a:path>
              </a:pathLst>
            </a:custGeom>
            <a:solidFill>
              <a:srgbClr val="F8F4EB"/>
            </a:solidFill>
          </p:spPr>
          <p:txBody>
            <a:bodyPr/>
            <a:lstStyle/>
            <a:p>
              <a:endParaRPr lang="en-CA"/>
            </a:p>
          </p:txBody>
        </p:sp>
      </p:grpSp>
      <p:sp>
        <p:nvSpPr>
          <p:cNvPr id="5" name="TextBox 5"/>
          <p:cNvSpPr txBox="1"/>
          <p:nvPr/>
        </p:nvSpPr>
        <p:spPr>
          <a:xfrm>
            <a:off x="1568685" y="3619873"/>
            <a:ext cx="14498345" cy="3251581"/>
          </a:xfrm>
          <a:prstGeom prst="rect">
            <a:avLst/>
          </a:prstGeom>
        </p:spPr>
        <p:txBody>
          <a:bodyPr lIns="0" tIns="0" rIns="0" bIns="0" rtlCol="0" anchor="t">
            <a:spAutoFit/>
          </a:bodyPr>
          <a:lstStyle/>
          <a:p>
            <a:pPr marL="0" lvl="0" indent="0" algn="l">
              <a:lnSpc>
                <a:spcPts val="3692"/>
              </a:lnSpc>
              <a:spcBef>
                <a:spcPct val="0"/>
              </a:spcBef>
            </a:pPr>
            <a:r>
              <a:rPr lang="en-US" sz="2600">
                <a:solidFill>
                  <a:srgbClr val="454699"/>
                </a:solidFill>
                <a:latin typeface="Roboto"/>
                <a:ea typeface="Roboto"/>
                <a:cs typeface="Roboto"/>
                <a:sym typeface="Roboto"/>
              </a:rPr>
              <a:t>This is another technique used for safety. It is the accurate virtual representation of an object, system or environment that exists in the physical or real world. It uses Real-Time Data, Machine Learning, Simulation, Reasoning etc. to help make decisions.</a:t>
            </a:r>
          </a:p>
          <a:p>
            <a:pPr marL="0" lvl="0" indent="0" algn="l">
              <a:lnSpc>
                <a:spcPts val="3692"/>
              </a:lnSpc>
              <a:spcBef>
                <a:spcPct val="0"/>
              </a:spcBef>
            </a:pPr>
            <a:endParaRPr lang="en-US" sz="2600">
              <a:solidFill>
                <a:srgbClr val="454699"/>
              </a:solidFill>
              <a:latin typeface="Roboto"/>
              <a:ea typeface="Roboto"/>
              <a:cs typeface="Roboto"/>
              <a:sym typeface="Roboto"/>
            </a:endParaRPr>
          </a:p>
          <a:p>
            <a:pPr marL="0" lvl="0" indent="0" algn="l">
              <a:lnSpc>
                <a:spcPts val="3692"/>
              </a:lnSpc>
              <a:spcBef>
                <a:spcPct val="0"/>
              </a:spcBef>
            </a:pPr>
            <a:r>
              <a:rPr lang="en-US" sz="2600" u="none">
                <a:solidFill>
                  <a:srgbClr val="454699"/>
                </a:solidFill>
                <a:latin typeface="Roboto"/>
                <a:ea typeface="Roboto"/>
                <a:cs typeface="Roboto"/>
                <a:sym typeface="Roboto"/>
              </a:rPr>
              <a:t>In general self-driving car vendors use one, two or the combination of </a:t>
            </a:r>
            <a:r>
              <a:rPr lang="en-US" sz="2600" b="1" u="none">
                <a:solidFill>
                  <a:srgbClr val="454699"/>
                </a:solidFill>
                <a:latin typeface="Roboto Bold"/>
                <a:ea typeface="Roboto Bold"/>
                <a:cs typeface="Roboto Bold"/>
                <a:sym typeface="Roboto Bold"/>
              </a:rPr>
              <a:t>Simulation/Digital Twin</a:t>
            </a:r>
            <a:r>
              <a:rPr lang="en-US" sz="2600" u="none">
                <a:solidFill>
                  <a:srgbClr val="454699"/>
                </a:solidFill>
                <a:latin typeface="Roboto"/>
                <a:ea typeface="Roboto"/>
                <a:cs typeface="Roboto"/>
                <a:sym typeface="Roboto"/>
              </a:rPr>
              <a:t> Technologies (e.g. Airsim, Carla), </a:t>
            </a:r>
            <a:r>
              <a:rPr lang="en-US" sz="2600" b="1" u="none">
                <a:solidFill>
                  <a:srgbClr val="454699"/>
                </a:solidFill>
                <a:latin typeface="Roboto Bold"/>
                <a:ea typeface="Roboto Bold"/>
                <a:cs typeface="Roboto Bold"/>
                <a:sym typeface="Roboto Bold"/>
              </a:rPr>
              <a:t>test track environments</a:t>
            </a:r>
            <a:r>
              <a:rPr lang="en-US" sz="2600" u="none">
                <a:solidFill>
                  <a:srgbClr val="454699"/>
                </a:solidFill>
                <a:latin typeface="Roboto"/>
                <a:ea typeface="Roboto"/>
                <a:cs typeface="Roboto"/>
                <a:sym typeface="Roboto"/>
              </a:rPr>
              <a:t> and </a:t>
            </a:r>
            <a:r>
              <a:rPr lang="en-US" sz="2600" b="1" u="none">
                <a:solidFill>
                  <a:srgbClr val="454699"/>
                </a:solidFill>
                <a:latin typeface="Roboto Bold"/>
                <a:ea typeface="Roboto Bold"/>
                <a:cs typeface="Roboto Bold"/>
                <a:sym typeface="Roboto Bold"/>
              </a:rPr>
              <a:t>public road testing</a:t>
            </a:r>
            <a:r>
              <a:rPr lang="en-US" sz="2600" u="none">
                <a:solidFill>
                  <a:srgbClr val="454699"/>
                </a:solidFill>
                <a:latin typeface="Roboto"/>
                <a:ea typeface="Roboto"/>
                <a:cs typeface="Roboto"/>
                <a:sym typeface="Roboto"/>
              </a:rPr>
              <a:t> to ensure their vehicles are safe for commercial purposes.</a:t>
            </a:r>
          </a:p>
        </p:txBody>
      </p:sp>
      <p:sp>
        <p:nvSpPr>
          <p:cNvPr id="6" name="TextBox 6"/>
          <p:cNvSpPr txBox="1"/>
          <p:nvPr/>
        </p:nvSpPr>
        <p:spPr>
          <a:xfrm>
            <a:off x="4877041" y="419100"/>
            <a:ext cx="15223667" cy="1181099"/>
          </a:xfrm>
          <a:prstGeom prst="rect">
            <a:avLst/>
          </a:prstGeom>
        </p:spPr>
        <p:txBody>
          <a:bodyPr lIns="0" tIns="0" rIns="0" bIns="0" rtlCol="0" anchor="t">
            <a:spAutoFit/>
          </a:bodyPr>
          <a:lstStyle/>
          <a:p>
            <a:pPr marL="0" lvl="0" indent="0" algn="l">
              <a:lnSpc>
                <a:spcPts val="9450"/>
              </a:lnSpc>
              <a:spcBef>
                <a:spcPct val="0"/>
              </a:spcBef>
            </a:pPr>
            <a:r>
              <a:rPr lang="en-US" sz="7500" b="1">
                <a:solidFill>
                  <a:srgbClr val="454699"/>
                </a:solidFill>
                <a:latin typeface="League Spartan"/>
                <a:ea typeface="League Spartan"/>
                <a:cs typeface="League Spartan"/>
                <a:sym typeface="League Spartan"/>
              </a:rPr>
              <a:t>DIGITAL TWIN</a:t>
            </a:r>
          </a:p>
        </p:txBody>
      </p:sp>
      <p:grpSp>
        <p:nvGrpSpPr>
          <p:cNvPr id="7" name="Group 7"/>
          <p:cNvGrpSpPr/>
          <p:nvPr/>
        </p:nvGrpSpPr>
        <p:grpSpPr>
          <a:xfrm>
            <a:off x="15673546" y="8212763"/>
            <a:ext cx="1897484" cy="1061551"/>
            <a:chOff x="0" y="0"/>
            <a:chExt cx="726425" cy="406400"/>
          </a:xfrm>
        </p:grpSpPr>
        <p:sp>
          <p:nvSpPr>
            <p:cNvPr id="8" name="Freeform 8"/>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9" name="Group 9"/>
          <p:cNvGrpSpPr/>
          <p:nvPr/>
        </p:nvGrpSpPr>
        <p:grpSpPr>
          <a:xfrm>
            <a:off x="16669913" y="8355639"/>
            <a:ext cx="775800" cy="775800"/>
            <a:chOff x="0" y="0"/>
            <a:chExt cx="1034400" cy="1034400"/>
          </a:xfrm>
        </p:grpSpPr>
        <p:sp>
          <p:nvSpPr>
            <p:cNvPr id="10" name="Freeform 10"/>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1" name="Freeform 11"/>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
        <p:nvSpPr>
          <p:cNvPr id="12" name="Freeform 12"/>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54699"/>
        </a:solidFill>
        <a:effectLst/>
      </p:bgPr>
    </p:bg>
    <p:spTree>
      <p:nvGrpSpPr>
        <p:cNvPr id="1" name=""/>
        <p:cNvGrpSpPr/>
        <p:nvPr/>
      </p:nvGrpSpPr>
      <p:grpSpPr>
        <a:xfrm>
          <a:off x="0" y="0"/>
          <a:ext cx="0" cy="0"/>
          <a:chOff x="0" y="0"/>
          <a:chExt cx="0" cy="0"/>
        </a:xfrm>
      </p:grpSpPr>
      <p:sp>
        <p:nvSpPr>
          <p:cNvPr id="2" name="Freeform 2"/>
          <p:cNvSpPr/>
          <p:nvPr/>
        </p:nvSpPr>
        <p:spPr>
          <a:xfrm rot="-5400000">
            <a:off x="-983142" y="3633839"/>
            <a:ext cx="3932566" cy="1966283"/>
          </a:xfrm>
          <a:custGeom>
            <a:avLst/>
            <a:gdLst/>
            <a:ahLst/>
            <a:cxnLst/>
            <a:rect l="l" t="t" r="r" b="b"/>
            <a:pathLst>
              <a:path w="3932566" h="1966283">
                <a:moveTo>
                  <a:pt x="0" y="0"/>
                </a:moveTo>
                <a:lnTo>
                  <a:pt x="3932567" y="0"/>
                </a:lnTo>
                <a:lnTo>
                  <a:pt x="3932567" y="1966283"/>
                </a:lnTo>
                <a:lnTo>
                  <a:pt x="0" y="19662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228643" y="2793573"/>
            <a:ext cx="5092260" cy="7287700"/>
            <a:chOff x="0" y="0"/>
            <a:chExt cx="1184265" cy="1694840"/>
          </a:xfrm>
        </p:grpSpPr>
        <p:sp>
          <p:nvSpPr>
            <p:cNvPr id="4" name="Freeform 4"/>
            <p:cNvSpPr/>
            <p:nvPr/>
          </p:nvSpPr>
          <p:spPr>
            <a:xfrm>
              <a:off x="0" y="0"/>
              <a:ext cx="1184265" cy="1694840"/>
            </a:xfrm>
            <a:custGeom>
              <a:avLst/>
              <a:gdLst/>
              <a:ahLst/>
              <a:cxnLst/>
              <a:rect l="l" t="t" r="r" b="b"/>
              <a:pathLst>
                <a:path w="1184265" h="1694840">
                  <a:moveTo>
                    <a:pt x="1059805" y="1694840"/>
                  </a:moveTo>
                  <a:lnTo>
                    <a:pt x="124460" y="1694840"/>
                  </a:lnTo>
                  <a:cubicBezTo>
                    <a:pt x="55880" y="1694840"/>
                    <a:pt x="0" y="1638960"/>
                    <a:pt x="0" y="1570380"/>
                  </a:cubicBezTo>
                  <a:lnTo>
                    <a:pt x="0" y="124460"/>
                  </a:lnTo>
                  <a:cubicBezTo>
                    <a:pt x="0" y="55880"/>
                    <a:pt x="55880" y="0"/>
                    <a:pt x="124460" y="0"/>
                  </a:cubicBezTo>
                  <a:lnTo>
                    <a:pt x="1059805" y="0"/>
                  </a:lnTo>
                  <a:cubicBezTo>
                    <a:pt x="1128385" y="0"/>
                    <a:pt x="1184265" y="55880"/>
                    <a:pt x="1184265" y="124460"/>
                  </a:cubicBezTo>
                  <a:lnTo>
                    <a:pt x="1184265" y="1570380"/>
                  </a:lnTo>
                  <a:cubicBezTo>
                    <a:pt x="1184265" y="1638960"/>
                    <a:pt x="1128385" y="1694840"/>
                    <a:pt x="1059805" y="1694840"/>
                  </a:cubicBezTo>
                  <a:close/>
                </a:path>
              </a:pathLst>
            </a:custGeom>
            <a:solidFill>
              <a:srgbClr val="F8F4EB"/>
            </a:solidFill>
          </p:spPr>
          <p:txBody>
            <a:bodyPr/>
            <a:lstStyle/>
            <a:p>
              <a:endParaRPr lang="en-CA"/>
            </a:p>
          </p:txBody>
        </p:sp>
      </p:grpSp>
      <p:sp>
        <p:nvSpPr>
          <p:cNvPr id="5" name="Freeform 5"/>
          <p:cNvSpPr/>
          <p:nvPr/>
        </p:nvSpPr>
        <p:spPr>
          <a:xfrm rot="-5400000" flipH="1">
            <a:off x="15663589" y="7662589"/>
            <a:ext cx="2624411" cy="2624411"/>
          </a:xfrm>
          <a:custGeom>
            <a:avLst/>
            <a:gdLst/>
            <a:ahLst/>
            <a:cxnLst/>
            <a:rect l="l" t="t" r="r" b="b"/>
            <a:pathLst>
              <a:path w="2624411" h="2624411">
                <a:moveTo>
                  <a:pt x="2624411" y="0"/>
                </a:moveTo>
                <a:lnTo>
                  <a:pt x="0" y="0"/>
                </a:lnTo>
                <a:lnTo>
                  <a:pt x="0" y="2624411"/>
                </a:lnTo>
                <a:lnTo>
                  <a:pt x="2624411" y="2624411"/>
                </a:lnTo>
                <a:lnTo>
                  <a:pt x="2624411"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grpSp>
        <p:nvGrpSpPr>
          <p:cNvPr id="6" name="Group 6"/>
          <p:cNvGrpSpPr/>
          <p:nvPr/>
        </p:nvGrpSpPr>
        <p:grpSpPr>
          <a:xfrm>
            <a:off x="11907482" y="2793573"/>
            <a:ext cx="5356125" cy="7287700"/>
            <a:chOff x="0" y="0"/>
            <a:chExt cx="1245630" cy="1694840"/>
          </a:xfrm>
        </p:grpSpPr>
        <p:sp>
          <p:nvSpPr>
            <p:cNvPr id="7" name="Freeform 7"/>
            <p:cNvSpPr/>
            <p:nvPr/>
          </p:nvSpPr>
          <p:spPr>
            <a:xfrm>
              <a:off x="0" y="0"/>
              <a:ext cx="1245630" cy="1694840"/>
            </a:xfrm>
            <a:custGeom>
              <a:avLst/>
              <a:gdLst/>
              <a:ahLst/>
              <a:cxnLst/>
              <a:rect l="l" t="t" r="r" b="b"/>
              <a:pathLst>
                <a:path w="1245630" h="1694840">
                  <a:moveTo>
                    <a:pt x="1121170" y="1694840"/>
                  </a:moveTo>
                  <a:lnTo>
                    <a:pt x="124460" y="1694840"/>
                  </a:lnTo>
                  <a:cubicBezTo>
                    <a:pt x="55880" y="1694840"/>
                    <a:pt x="0" y="1638960"/>
                    <a:pt x="0" y="1570380"/>
                  </a:cubicBezTo>
                  <a:lnTo>
                    <a:pt x="0" y="124460"/>
                  </a:lnTo>
                  <a:cubicBezTo>
                    <a:pt x="0" y="55880"/>
                    <a:pt x="55880" y="0"/>
                    <a:pt x="124460" y="0"/>
                  </a:cubicBezTo>
                  <a:lnTo>
                    <a:pt x="1121170" y="0"/>
                  </a:lnTo>
                  <a:cubicBezTo>
                    <a:pt x="1189750" y="0"/>
                    <a:pt x="1245630" y="55880"/>
                    <a:pt x="1245630" y="124460"/>
                  </a:cubicBezTo>
                  <a:lnTo>
                    <a:pt x="1245630" y="1570380"/>
                  </a:lnTo>
                  <a:cubicBezTo>
                    <a:pt x="1245630" y="1638960"/>
                    <a:pt x="1189750" y="1694840"/>
                    <a:pt x="1121170" y="1694840"/>
                  </a:cubicBezTo>
                  <a:close/>
                </a:path>
              </a:pathLst>
            </a:custGeom>
            <a:solidFill>
              <a:srgbClr val="F8F4EB"/>
            </a:solidFill>
          </p:spPr>
          <p:txBody>
            <a:bodyPr/>
            <a:lstStyle/>
            <a:p>
              <a:endParaRPr lang="en-CA"/>
            </a:p>
          </p:txBody>
        </p:sp>
      </p:grpSp>
      <p:grpSp>
        <p:nvGrpSpPr>
          <p:cNvPr id="8" name="Group 8"/>
          <p:cNvGrpSpPr/>
          <p:nvPr/>
        </p:nvGrpSpPr>
        <p:grpSpPr>
          <a:xfrm>
            <a:off x="389506" y="3098373"/>
            <a:ext cx="4621140" cy="5836823"/>
            <a:chOff x="0" y="0"/>
            <a:chExt cx="6161519" cy="7782431"/>
          </a:xfrm>
        </p:grpSpPr>
        <p:sp>
          <p:nvSpPr>
            <p:cNvPr id="9" name="TextBox 9"/>
            <p:cNvSpPr txBox="1"/>
            <p:nvPr/>
          </p:nvSpPr>
          <p:spPr>
            <a:xfrm>
              <a:off x="0" y="-19050"/>
              <a:ext cx="6161519" cy="744474"/>
            </a:xfrm>
            <a:prstGeom prst="rect">
              <a:avLst/>
            </a:prstGeom>
          </p:spPr>
          <p:txBody>
            <a:bodyPr lIns="0" tIns="0" rIns="0" bIns="0" rtlCol="0" anchor="t">
              <a:spAutoFit/>
            </a:bodyPr>
            <a:lstStyle/>
            <a:p>
              <a:pPr marL="0" lvl="0" indent="0" algn="l">
                <a:lnSpc>
                  <a:spcPts val="4536"/>
                </a:lnSpc>
                <a:spcBef>
                  <a:spcPct val="0"/>
                </a:spcBef>
              </a:pPr>
              <a:r>
                <a:rPr lang="en-US" sz="3600" b="1">
                  <a:solidFill>
                    <a:srgbClr val="454699"/>
                  </a:solidFill>
                  <a:latin typeface="League Spartan"/>
                  <a:ea typeface="League Spartan"/>
                  <a:cs typeface="League Spartan"/>
                  <a:sym typeface="League Spartan"/>
                </a:rPr>
                <a:t>Simulators</a:t>
              </a:r>
            </a:p>
          </p:txBody>
        </p:sp>
        <p:sp>
          <p:nvSpPr>
            <p:cNvPr id="10" name="TextBox 10"/>
            <p:cNvSpPr txBox="1"/>
            <p:nvPr/>
          </p:nvSpPr>
          <p:spPr>
            <a:xfrm>
              <a:off x="0" y="878838"/>
              <a:ext cx="6161519" cy="6903593"/>
            </a:xfrm>
            <a:prstGeom prst="rect">
              <a:avLst/>
            </a:prstGeom>
          </p:spPr>
          <p:txBody>
            <a:bodyPr lIns="0" tIns="0" rIns="0" bIns="0" rtlCol="0" anchor="t">
              <a:spAutoFit/>
            </a:bodyPr>
            <a:lstStyle/>
            <a:p>
              <a:pPr marL="0" lvl="0" indent="0" algn="l">
                <a:lnSpc>
                  <a:spcPts val="2982"/>
                </a:lnSpc>
              </a:pPr>
              <a:r>
                <a:rPr lang="en-US" sz="2100">
                  <a:solidFill>
                    <a:srgbClr val="454699"/>
                  </a:solidFill>
                  <a:latin typeface="Roboto"/>
                  <a:ea typeface="Roboto"/>
                  <a:cs typeface="Roboto"/>
                  <a:sym typeface="Roboto"/>
                </a:rPr>
                <a:t>Simulator is a virtual environment created to replicate a real-world process, system or environment without affecting the actual entity. The simulator is typically not connected to the real world in real-time and the software is not representing the real world counterpart. Examples include </a:t>
              </a:r>
              <a:r>
                <a:rPr lang="en-US" sz="2100" u="sng">
                  <a:solidFill>
                    <a:srgbClr val="454699"/>
                  </a:solidFill>
                  <a:latin typeface="Roboto"/>
                  <a:ea typeface="Roboto"/>
                  <a:cs typeface="Roboto"/>
                  <a:sym typeface="Roboto"/>
                </a:rPr>
                <a:t>Packet-Tracer</a:t>
              </a:r>
              <a:r>
                <a:rPr lang="en-US" sz="2100">
                  <a:solidFill>
                    <a:srgbClr val="454699"/>
                  </a:solidFill>
                  <a:latin typeface="Roboto"/>
                  <a:ea typeface="Roboto"/>
                  <a:cs typeface="Roboto"/>
                  <a:sym typeface="Roboto"/>
                </a:rPr>
                <a:t> for Networking and</a:t>
              </a:r>
              <a:r>
                <a:rPr lang="en-US" sz="2100" u="sng">
                  <a:solidFill>
                    <a:srgbClr val="454699"/>
                  </a:solidFill>
                  <a:latin typeface="Roboto"/>
                  <a:ea typeface="Roboto"/>
                  <a:cs typeface="Roboto"/>
                  <a:sym typeface="Roboto"/>
                </a:rPr>
                <a:t> Mathlab</a:t>
              </a:r>
              <a:r>
                <a:rPr lang="en-US" sz="2100">
                  <a:solidFill>
                    <a:srgbClr val="454699"/>
                  </a:solidFill>
                  <a:latin typeface="Roboto"/>
                  <a:ea typeface="Roboto"/>
                  <a:cs typeface="Roboto"/>
                  <a:sym typeface="Roboto"/>
                </a:rPr>
                <a:t> for self-driving cars etc.</a:t>
              </a:r>
            </a:p>
            <a:p>
              <a:pPr marL="0" lvl="0" indent="0" algn="l">
                <a:lnSpc>
                  <a:spcPts val="2982"/>
                </a:lnSpc>
              </a:pPr>
              <a:endParaRPr lang="en-US" sz="2100">
                <a:solidFill>
                  <a:srgbClr val="454699"/>
                </a:solidFill>
                <a:latin typeface="Roboto"/>
                <a:ea typeface="Roboto"/>
                <a:cs typeface="Roboto"/>
                <a:sym typeface="Roboto"/>
              </a:endParaRPr>
            </a:p>
            <a:p>
              <a:pPr marL="0" lvl="0" indent="0" algn="l">
                <a:lnSpc>
                  <a:spcPts val="2982"/>
                </a:lnSpc>
              </a:pPr>
              <a:r>
                <a:rPr lang="en-US" sz="2100" u="none">
                  <a:solidFill>
                    <a:srgbClr val="454699"/>
                  </a:solidFill>
                  <a:latin typeface="Roboto"/>
                  <a:ea typeface="Roboto"/>
                  <a:cs typeface="Roboto"/>
                  <a:sym typeface="Roboto"/>
                </a:rPr>
                <a:t>In the examples mentioned, </a:t>
              </a:r>
              <a:r>
                <a:rPr lang="en-US" sz="2100" b="1" u="none">
                  <a:solidFill>
                    <a:srgbClr val="454699"/>
                  </a:solidFill>
                  <a:latin typeface="Roboto Bold"/>
                  <a:ea typeface="Roboto Bold"/>
                  <a:cs typeface="Roboto Bold"/>
                  <a:sym typeface="Roboto Bold"/>
                </a:rPr>
                <a:t>Intelligence </a:t>
              </a:r>
              <a:r>
                <a:rPr lang="en-US" sz="2100" u="none">
                  <a:solidFill>
                    <a:srgbClr val="454699"/>
                  </a:solidFill>
                  <a:latin typeface="Roboto"/>
                  <a:ea typeface="Roboto"/>
                  <a:cs typeface="Roboto"/>
                  <a:sym typeface="Roboto"/>
                </a:rPr>
                <a:t>is independent factor of the simulated environment. </a:t>
              </a:r>
            </a:p>
          </p:txBody>
        </p:sp>
      </p:grpSp>
      <p:grpSp>
        <p:nvGrpSpPr>
          <p:cNvPr id="11" name="Group 11"/>
          <p:cNvGrpSpPr/>
          <p:nvPr/>
        </p:nvGrpSpPr>
        <p:grpSpPr>
          <a:xfrm>
            <a:off x="12211026" y="3137972"/>
            <a:ext cx="4749037" cy="6208298"/>
            <a:chOff x="0" y="0"/>
            <a:chExt cx="6332049" cy="8277731"/>
          </a:xfrm>
        </p:grpSpPr>
        <p:sp>
          <p:nvSpPr>
            <p:cNvPr id="12" name="TextBox 12"/>
            <p:cNvSpPr txBox="1"/>
            <p:nvPr/>
          </p:nvSpPr>
          <p:spPr>
            <a:xfrm>
              <a:off x="0" y="-19050"/>
              <a:ext cx="6332049" cy="744474"/>
            </a:xfrm>
            <a:prstGeom prst="rect">
              <a:avLst/>
            </a:prstGeom>
          </p:spPr>
          <p:txBody>
            <a:bodyPr lIns="0" tIns="0" rIns="0" bIns="0" rtlCol="0" anchor="t">
              <a:spAutoFit/>
            </a:bodyPr>
            <a:lstStyle/>
            <a:p>
              <a:pPr marL="0" lvl="0" indent="0" algn="l">
                <a:lnSpc>
                  <a:spcPts val="4536"/>
                </a:lnSpc>
                <a:spcBef>
                  <a:spcPct val="0"/>
                </a:spcBef>
              </a:pPr>
              <a:r>
                <a:rPr lang="en-US" sz="3600" b="1">
                  <a:solidFill>
                    <a:srgbClr val="454699"/>
                  </a:solidFill>
                  <a:latin typeface="League Spartan"/>
                  <a:ea typeface="League Spartan"/>
                  <a:cs typeface="League Spartan"/>
                  <a:sym typeface="League Spartan"/>
                </a:rPr>
                <a:t>Digital Twin</a:t>
              </a:r>
            </a:p>
          </p:txBody>
        </p:sp>
        <p:sp>
          <p:nvSpPr>
            <p:cNvPr id="13" name="TextBox 13"/>
            <p:cNvSpPr txBox="1"/>
            <p:nvPr/>
          </p:nvSpPr>
          <p:spPr>
            <a:xfrm>
              <a:off x="0" y="878838"/>
              <a:ext cx="6332049" cy="7398893"/>
            </a:xfrm>
            <a:prstGeom prst="rect">
              <a:avLst/>
            </a:prstGeom>
          </p:spPr>
          <p:txBody>
            <a:bodyPr lIns="0" tIns="0" rIns="0" bIns="0" rtlCol="0" anchor="t">
              <a:spAutoFit/>
            </a:bodyPr>
            <a:lstStyle/>
            <a:p>
              <a:pPr algn="l">
                <a:lnSpc>
                  <a:spcPts val="2982"/>
                </a:lnSpc>
              </a:pPr>
              <a:r>
                <a:rPr lang="en-US" sz="2100">
                  <a:solidFill>
                    <a:srgbClr val="454699"/>
                  </a:solidFill>
                  <a:latin typeface="Roboto"/>
                  <a:ea typeface="Roboto"/>
                  <a:cs typeface="Roboto"/>
                  <a:sym typeface="Roboto"/>
                </a:rPr>
                <a:t>Digital twin is a virtual replica of a process, system, environment of an actual physical asset connected in real time to it’s real world counterpart. It is a living, breathing representation of the physical twin continuously updated with data from sensors and other sources. Example:</a:t>
              </a:r>
              <a:r>
                <a:rPr lang="en-US" sz="2100" u="sng">
                  <a:solidFill>
                    <a:srgbClr val="454699"/>
                  </a:solidFill>
                  <a:latin typeface="Roboto"/>
                  <a:ea typeface="Roboto"/>
                  <a:cs typeface="Roboto"/>
                  <a:sym typeface="Roboto"/>
                </a:rPr>
                <a:t> Virtual Machines connected to the internet for live updates.</a:t>
              </a:r>
            </a:p>
            <a:p>
              <a:pPr algn="l">
                <a:lnSpc>
                  <a:spcPts val="2982"/>
                </a:lnSpc>
              </a:pPr>
              <a:endParaRPr lang="en-US" sz="2100" u="sng">
                <a:solidFill>
                  <a:srgbClr val="454699"/>
                </a:solidFill>
                <a:latin typeface="Roboto"/>
                <a:ea typeface="Roboto"/>
                <a:cs typeface="Roboto"/>
                <a:sym typeface="Roboto"/>
              </a:endParaRPr>
            </a:p>
            <a:p>
              <a:pPr marL="0" lvl="0" indent="0" algn="l">
                <a:lnSpc>
                  <a:spcPts val="2982"/>
                </a:lnSpc>
              </a:pPr>
              <a:r>
                <a:rPr lang="en-US" sz="2100">
                  <a:solidFill>
                    <a:srgbClr val="454699"/>
                  </a:solidFill>
                  <a:latin typeface="Roboto"/>
                  <a:ea typeface="Roboto"/>
                  <a:cs typeface="Roboto"/>
                  <a:sym typeface="Roboto"/>
                </a:rPr>
                <a:t>In the example mentioned, while the continuous updated environment is a very important part to the virtual and real world, the </a:t>
              </a:r>
              <a:r>
                <a:rPr lang="en-US" sz="2100" b="1">
                  <a:solidFill>
                    <a:srgbClr val="454699"/>
                  </a:solidFill>
                  <a:latin typeface="Roboto Bold"/>
                  <a:ea typeface="Roboto Bold"/>
                  <a:cs typeface="Roboto Bold"/>
                  <a:sym typeface="Roboto Bold"/>
                </a:rPr>
                <a:t>Software </a:t>
              </a:r>
              <a:r>
                <a:rPr lang="en-US" sz="2100">
                  <a:solidFill>
                    <a:srgbClr val="454699"/>
                  </a:solidFill>
                  <a:latin typeface="Roboto"/>
                  <a:ea typeface="Roboto"/>
                  <a:cs typeface="Roboto"/>
                  <a:sym typeface="Roboto"/>
                </a:rPr>
                <a:t>and </a:t>
              </a:r>
              <a:r>
                <a:rPr lang="en-US" sz="2100" b="1">
                  <a:solidFill>
                    <a:srgbClr val="454699"/>
                  </a:solidFill>
                  <a:latin typeface="Roboto Bold"/>
                  <a:ea typeface="Roboto Bold"/>
                  <a:cs typeface="Roboto Bold"/>
                  <a:sym typeface="Roboto Bold"/>
                </a:rPr>
                <a:t>Intelligence </a:t>
              </a:r>
              <a:r>
                <a:rPr lang="en-US" sz="2100">
                  <a:solidFill>
                    <a:srgbClr val="454699"/>
                  </a:solidFill>
                  <a:latin typeface="Roboto"/>
                  <a:ea typeface="Roboto"/>
                  <a:cs typeface="Roboto"/>
                  <a:sym typeface="Roboto"/>
                </a:rPr>
                <a:t>is the independent factor.</a:t>
              </a:r>
            </a:p>
          </p:txBody>
        </p:sp>
      </p:grpSp>
      <p:sp>
        <p:nvSpPr>
          <p:cNvPr id="14" name="Freeform 14"/>
          <p:cNvSpPr/>
          <p:nvPr/>
        </p:nvSpPr>
        <p:spPr>
          <a:xfrm rot="-5400000">
            <a:off x="16729974" y="0"/>
            <a:ext cx="1558026" cy="1558026"/>
          </a:xfrm>
          <a:custGeom>
            <a:avLst/>
            <a:gdLst/>
            <a:ahLst/>
            <a:cxnLst/>
            <a:rect l="l" t="t" r="r" b="b"/>
            <a:pathLst>
              <a:path w="1558026" h="1558026">
                <a:moveTo>
                  <a:pt x="0" y="0"/>
                </a:moveTo>
                <a:lnTo>
                  <a:pt x="1558026" y="0"/>
                </a:lnTo>
                <a:lnTo>
                  <a:pt x="1558026" y="1558026"/>
                </a:lnTo>
                <a:lnTo>
                  <a:pt x="0" y="15580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sp>
        <p:nvSpPr>
          <p:cNvPr id="15" name="TextBox 15"/>
          <p:cNvSpPr txBox="1"/>
          <p:nvPr/>
        </p:nvSpPr>
        <p:spPr>
          <a:xfrm>
            <a:off x="5320903" y="520126"/>
            <a:ext cx="7646194" cy="732156"/>
          </a:xfrm>
          <a:prstGeom prst="rect">
            <a:avLst/>
          </a:prstGeom>
        </p:spPr>
        <p:txBody>
          <a:bodyPr lIns="0" tIns="0" rIns="0" bIns="0" rtlCol="0" anchor="t">
            <a:spAutoFit/>
          </a:bodyPr>
          <a:lstStyle/>
          <a:p>
            <a:pPr algn="ctr">
              <a:lnSpc>
                <a:spcPts val="5979"/>
              </a:lnSpc>
              <a:spcBef>
                <a:spcPct val="0"/>
              </a:spcBef>
            </a:pPr>
            <a:r>
              <a:rPr lang="en-US" sz="4599" b="1" spc="-45">
                <a:solidFill>
                  <a:srgbClr val="FAFCFC"/>
                </a:solidFill>
                <a:latin typeface="League Spartan"/>
                <a:ea typeface="League Spartan"/>
                <a:cs typeface="League Spartan"/>
                <a:sym typeface="League Spartan"/>
              </a:rPr>
              <a:t>Simulation vs Digital Twin</a:t>
            </a:r>
          </a:p>
        </p:txBody>
      </p:sp>
      <p:sp>
        <p:nvSpPr>
          <p:cNvPr id="16" name="TextBox 16"/>
          <p:cNvSpPr txBox="1"/>
          <p:nvPr/>
        </p:nvSpPr>
        <p:spPr>
          <a:xfrm>
            <a:off x="389506" y="1999823"/>
            <a:ext cx="17508987" cy="327025"/>
          </a:xfrm>
          <a:prstGeom prst="rect">
            <a:avLst/>
          </a:prstGeom>
        </p:spPr>
        <p:txBody>
          <a:bodyPr lIns="0" tIns="0" rIns="0" bIns="0" rtlCol="0" anchor="t">
            <a:spAutoFit/>
          </a:bodyPr>
          <a:lstStyle/>
          <a:p>
            <a:pPr algn="ctr">
              <a:lnSpc>
                <a:spcPts val="2600"/>
              </a:lnSpc>
              <a:spcBef>
                <a:spcPct val="0"/>
              </a:spcBef>
            </a:pPr>
            <a:r>
              <a:rPr lang="en-US" sz="2000" spc="-20">
                <a:solidFill>
                  <a:srgbClr val="FAFCFC"/>
                </a:solidFill>
                <a:latin typeface="League Spartan"/>
                <a:ea typeface="League Spartan"/>
                <a:cs typeface="League Spartan"/>
                <a:sym typeface="League Spartan"/>
              </a:rPr>
              <a:t>Oftentimes Simulators and Emulators/Digital Twins are often confused with each other, so I will simplify it here.</a:t>
            </a:r>
          </a:p>
        </p:txBody>
      </p:sp>
      <p:grpSp>
        <p:nvGrpSpPr>
          <p:cNvPr id="17" name="Group 17"/>
          <p:cNvGrpSpPr/>
          <p:nvPr/>
        </p:nvGrpSpPr>
        <p:grpSpPr>
          <a:xfrm>
            <a:off x="5785146" y="2803870"/>
            <a:ext cx="5356125" cy="7287700"/>
            <a:chOff x="0" y="0"/>
            <a:chExt cx="1245630" cy="1694840"/>
          </a:xfrm>
        </p:grpSpPr>
        <p:sp>
          <p:nvSpPr>
            <p:cNvPr id="18" name="Freeform 18"/>
            <p:cNvSpPr/>
            <p:nvPr/>
          </p:nvSpPr>
          <p:spPr>
            <a:xfrm>
              <a:off x="0" y="0"/>
              <a:ext cx="1245630" cy="1694840"/>
            </a:xfrm>
            <a:custGeom>
              <a:avLst/>
              <a:gdLst/>
              <a:ahLst/>
              <a:cxnLst/>
              <a:rect l="l" t="t" r="r" b="b"/>
              <a:pathLst>
                <a:path w="1245630" h="1694840">
                  <a:moveTo>
                    <a:pt x="1121170" y="1694840"/>
                  </a:moveTo>
                  <a:lnTo>
                    <a:pt x="124460" y="1694840"/>
                  </a:lnTo>
                  <a:cubicBezTo>
                    <a:pt x="55880" y="1694840"/>
                    <a:pt x="0" y="1638960"/>
                    <a:pt x="0" y="1570380"/>
                  </a:cubicBezTo>
                  <a:lnTo>
                    <a:pt x="0" y="124460"/>
                  </a:lnTo>
                  <a:cubicBezTo>
                    <a:pt x="0" y="55880"/>
                    <a:pt x="55880" y="0"/>
                    <a:pt x="124460" y="0"/>
                  </a:cubicBezTo>
                  <a:lnTo>
                    <a:pt x="1121170" y="0"/>
                  </a:lnTo>
                  <a:cubicBezTo>
                    <a:pt x="1189750" y="0"/>
                    <a:pt x="1245630" y="55880"/>
                    <a:pt x="1245630" y="124460"/>
                  </a:cubicBezTo>
                  <a:lnTo>
                    <a:pt x="1245630" y="1570380"/>
                  </a:lnTo>
                  <a:cubicBezTo>
                    <a:pt x="1245630" y="1638960"/>
                    <a:pt x="1189750" y="1694840"/>
                    <a:pt x="1121170" y="1694840"/>
                  </a:cubicBezTo>
                  <a:close/>
                </a:path>
              </a:pathLst>
            </a:custGeom>
            <a:solidFill>
              <a:srgbClr val="F8F4EB"/>
            </a:solidFill>
          </p:spPr>
          <p:txBody>
            <a:bodyPr/>
            <a:lstStyle/>
            <a:p>
              <a:endParaRPr lang="en-CA"/>
            </a:p>
          </p:txBody>
        </p:sp>
      </p:grpSp>
      <p:grpSp>
        <p:nvGrpSpPr>
          <p:cNvPr id="19" name="Group 19"/>
          <p:cNvGrpSpPr/>
          <p:nvPr/>
        </p:nvGrpSpPr>
        <p:grpSpPr>
          <a:xfrm>
            <a:off x="6178343" y="2940146"/>
            <a:ext cx="4781613" cy="6850475"/>
            <a:chOff x="-81775" y="-210970"/>
            <a:chExt cx="6375484" cy="9133967"/>
          </a:xfrm>
        </p:grpSpPr>
        <p:sp>
          <p:nvSpPr>
            <p:cNvPr id="20" name="TextBox 20"/>
            <p:cNvSpPr txBox="1"/>
            <p:nvPr/>
          </p:nvSpPr>
          <p:spPr>
            <a:xfrm>
              <a:off x="-38340" y="-210970"/>
              <a:ext cx="6332049" cy="744473"/>
            </a:xfrm>
            <a:prstGeom prst="rect">
              <a:avLst/>
            </a:prstGeom>
          </p:spPr>
          <p:txBody>
            <a:bodyPr lIns="0" tIns="0" rIns="0" bIns="0" rtlCol="0" anchor="t">
              <a:spAutoFit/>
            </a:bodyPr>
            <a:lstStyle/>
            <a:p>
              <a:pPr marL="0" lvl="0" indent="0" algn="l">
                <a:lnSpc>
                  <a:spcPts val="4536"/>
                </a:lnSpc>
                <a:spcBef>
                  <a:spcPct val="0"/>
                </a:spcBef>
              </a:pPr>
              <a:r>
                <a:rPr lang="en-US" sz="3600" b="1" dirty="0">
                  <a:solidFill>
                    <a:srgbClr val="454699"/>
                  </a:solidFill>
                  <a:latin typeface="League Spartan"/>
                  <a:ea typeface="League Spartan"/>
                  <a:cs typeface="League Spartan"/>
                  <a:sym typeface="League Spartan"/>
                </a:rPr>
                <a:t>Hybrids</a:t>
              </a:r>
            </a:p>
          </p:txBody>
        </p:sp>
        <p:sp>
          <p:nvSpPr>
            <p:cNvPr id="21" name="TextBox 21"/>
            <p:cNvSpPr txBox="1"/>
            <p:nvPr/>
          </p:nvSpPr>
          <p:spPr>
            <a:xfrm>
              <a:off x="-81775" y="533503"/>
              <a:ext cx="6332049" cy="8389494"/>
            </a:xfrm>
            <a:prstGeom prst="rect">
              <a:avLst/>
            </a:prstGeom>
          </p:spPr>
          <p:txBody>
            <a:bodyPr lIns="0" tIns="0" rIns="0" bIns="0" rtlCol="0" anchor="t">
              <a:spAutoFit/>
            </a:bodyPr>
            <a:lstStyle/>
            <a:p>
              <a:pPr marL="0" lvl="0" indent="0" algn="l">
                <a:lnSpc>
                  <a:spcPts val="2982"/>
                </a:lnSpc>
              </a:pPr>
              <a:r>
                <a:rPr lang="en-US" sz="2100" dirty="0">
                  <a:solidFill>
                    <a:srgbClr val="454699"/>
                  </a:solidFill>
                  <a:latin typeface="Roboto"/>
                  <a:ea typeface="Roboto"/>
                  <a:cs typeface="Roboto"/>
                  <a:sym typeface="Roboto"/>
                </a:rPr>
                <a:t>These are typically the bridge between Simulators and they can be a virtual replica of a process, system, environment of an actual physical asset but not connected in real time to it’s real world counterpart.</a:t>
              </a:r>
            </a:p>
            <a:p>
              <a:pPr marL="0" lvl="0" indent="0" algn="l">
                <a:lnSpc>
                  <a:spcPts val="2982"/>
                </a:lnSpc>
              </a:pPr>
              <a:endParaRPr lang="en-US" sz="2100" dirty="0">
                <a:solidFill>
                  <a:srgbClr val="454699"/>
                </a:solidFill>
                <a:latin typeface="Roboto"/>
                <a:ea typeface="Roboto"/>
                <a:cs typeface="Roboto"/>
                <a:sym typeface="Roboto"/>
              </a:endParaRPr>
            </a:p>
            <a:p>
              <a:pPr marL="0" lvl="0" indent="0" algn="l">
                <a:lnSpc>
                  <a:spcPts val="2982"/>
                </a:lnSpc>
              </a:pPr>
              <a:r>
                <a:rPr lang="en-US" sz="2100" u="none" dirty="0">
                  <a:solidFill>
                    <a:srgbClr val="454699"/>
                  </a:solidFill>
                  <a:latin typeface="Roboto"/>
                  <a:ea typeface="Roboto"/>
                  <a:cs typeface="Roboto"/>
                  <a:sym typeface="Roboto"/>
                </a:rPr>
                <a:t>Hybrids can be a representation of the actual physical asset similar to Digital Twin but without the live updates, or it gets the exact live update with a different engine altogether. examples include GNS3 for Networking and Carla for Autonomous Driving.</a:t>
              </a:r>
            </a:p>
            <a:p>
              <a:pPr marL="0" lvl="0" indent="0" algn="l">
                <a:lnSpc>
                  <a:spcPts val="2982"/>
                </a:lnSpc>
              </a:pPr>
              <a:endParaRPr lang="en-US" sz="2100" u="none" dirty="0">
                <a:solidFill>
                  <a:srgbClr val="454699"/>
                </a:solidFill>
                <a:latin typeface="Roboto"/>
                <a:ea typeface="Roboto"/>
                <a:cs typeface="Roboto"/>
                <a:sym typeface="Roboto"/>
              </a:endParaRPr>
            </a:p>
            <a:p>
              <a:pPr marL="0" lvl="0" indent="0" algn="l">
                <a:lnSpc>
                  <a:spcPts val="2982"/>
                </a:lnSpc>
              </a:pPr>
              <a:r>
                <a:rPr lang="en-US" sz="2100" u="none" dirty="0">
                  <a:solidFill>
                    <a:srgbClr val="454699"/>
                  </a:solidFill>
                  <a:latin typeface="Roboto"/>
                  <a:ea typeface="Roboto"/>
                  <a:cs typeface="Roboto"/>
                  <a:sym typeface="Roboto"/>
                </a:rPr>
                <a:t>In the examples mentioned, </a:t>
              </a:r>
              <a:r>
                <a:rPr lang="en-US" sz="2100" b="1" u="none" dirty="0">
                  <a:solidFill>
                    <a:srgbClr val="454699"/>
                  </a:solidFill>
                  <a:latin typeface="Roboto Bold"/>
                  <a:ea typeface="Roboto Bold"/>
                  <a:cs typeface="Roboto Bold"/>
                  <a:sym typeface="Roboto Bold"/>
                </a:rPr>
                <a:t>Software</a:t>
              </a:r>
              <a:r>
                <a:rPr lang="en-US" sz="2100" u="none" dirty="0">
                  <a:solidFill>
                    <a:srgbClr val="454699"/>
                  </a:solidFill>
                  <a:latin typeface="Roboto"/>
                  <a:ea typeface="Roboto"/>
                  <a:cs typeface="Roboto"/>
                  <a:sym typeface="Roboto"/>
                </a:rPr>
                <a:t> or </a:t>
              </a:r>
              <a:r>
                <a:rPr lang="en-US" sz="2100" b="1" u="none" dirty="0">
                  <a:solidFill>
                    <a:srgbClr val="454699"/>
                  </a:solidFill>
                  <a:latin typeface="Roboto Bold"/>
                  <a:ea typeface="Roboto Bold"/>
                  <a:cs typeface="Roboto Bold"/>
                  <a:sym typeface="Roboto Bold"/>
                </a:rPr>
                <a:t>Intelligence </a:t>
              </a:r>
              <a:r>
                <a:rPr lang="en-US" sz="2100" u="none" dirty="0">
                  <a:solidFill>
                    <a:srgbClr val="454699"/>
                  </a:solidFill>
                  <a:latin typeface="Roboto"/>
                  <a:ea typeface="Roboto"/>
                  <a:cs typeface="Roboto"/>
                  <a:sym typeface="Roboto"/>
                </a:rPr>
                <a:t>is independent.</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4EB"/>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5663589" y="7681988"/>
            <a:ext cx="1897484" cy="1061551"/>
            <a:chOff x="0" y="0"/>
            <a:chExt cx="726425" cy="406400"/>
          </a:xfrm>
        </p:grpSpPr>
        <p:sp>
          <p:nvSpPr>
            <p:cNvPr id="4" name="Freeform 4"/>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5" name="Group 5"/>
          <p:cNvGrpSpPr/>
          <p:nvPr/>
        </p:nvGrpSpPr>
        <p:grpSpPr>
          <a:xfrm>
            <a:off x="16612331" y="7824863"/>
            <a:ext cx="775800" cy="775800"/>
            <a:chOff x="0" y="0"/>
            <a:chExt cx="1034400" cy="1034400"/>
          </a:xfrm>
        </p:grpSpPr>
        <p:sp>
          <p:nvSpPr>
            <p:cNvPr id="6" name="Freeform 6"/>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7" name="Freeform 7"/>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grpSp>
        <p:nvGrpSpPr>
          <p:cNvPr id="8" name="Group 8"/>
          <p:cNvGrpSpPr/>
          <p:nvPr/>
        </p:nvGrpSpPr>
        <p:grpSpPr>
          <a:xfrm>
            <a:off x="1082108" y="2603136"/>
            <a:ext cx="14673185" cy="5609627"/>
            <a:chOff x="0" y="0"/>
            <a:chExt cx="4246678" cy="1623525"/>
          </a:xfrm>
        </p:grpSpPr>
        <p:sp>
          <p:nvSpPr>
            <p:cNvPr id="9" name="Freeform 9"/>
            <p:cNvSpPr/>
            <p:nvPr/>
          </p:nvSpPr>
          <p:spPr>
            <a:xfrm>
              <a:off x="0" y="0"/>
              <a:ext cx="4246679" cy="1623525"/>
            </a:xfrm>
            <a:custGeom>
              <a:avLst/>
              <a:gdLst/>
              <a:ahLst/>
              <a:cxnLst/>
              <a:rect l="l" t="t" r="r" b="b"/>
              <a:pathLst>
                <a:path w="4246679" h="1623525">
                  <a:moveTo>
                    <a:pt x="4122219" y="1623525"/>
                  </a:moveTo>
                  <a:lnTo>
                    <a:pt x="124460" y="1623525"/>
                  </a:lnTo>
                  <a:cubicBezTo>
                    <a:pt x="55880" y="1623525"/>
                    <a:pt x="0" y="1567645"/>
                    <a:pt x="0" y="1499065"/>
                  </a:cubicBezTo>
                  <a:lnTo>
                    <a:pt x="0" y="124460"/>
                  </a:lnTo>
                  <a:cubicBezTo>
                    <a:pt x="0" y="55880"/>
                    <a:pt x="55880" y="0"/>
                    <a:pt x="124460" y="0"/>
                  </a:cubicBezTo>
                  <a:lnTo>
                    <a:pt x="4122219" y="0"/>
                  </a:lnTo>
                  <a:cubicBezTo>
                    <a:pt x="4190798" y="0"/>
                    <a:pt x="4246679" y="55880"/>
                    <a:pt x="4246679" y="124460"/>
                  </a:cubicBezTo>
                  <a:lnTo>
                    <a:pt x="4246679" y="1499065"/>
                  </a:lnTo>
                  <a:cubicBezTo>
                    <a:pt x="4246679" y="1567645"/>
                    <a:pt x="4190798" y="1623525"/>
                    <a:pt x="4122219" y="1623525"/>
                  </a:cubicBezTo>
                  <a:close/>
                </a:path>
              </a:pathLst>
            </a:custGeom>
            <a:solidFill>
              <a:srgbClr val="FFBB56"/>
            </a:solidFill>
          </p:spPr>
          <p:txBody>
            <a:bodyPr/>
            <a:lstStyle/>
            <a:p>
              <a:endParaRPr lang="en-CA"/>
            </a:p>
          </p:txBody>
        </p:sp>
      </p:grpSp>
      <p:sp>
        <p:nvSpPr>
          <p:cNvPr id="10" name="TextBox 10"/>
          <p:cNvSpPr txBox="1"/>
          <p:nvPr/>
        </p:nvSpPr>
        <p:spPr>
          <a:xfrm>
            <a:off x="1082108" y="457665"/>
            <a:ext cx="14619777" cy="1683638"/>
          </a:xfrm>
          <a:prstGeom prst="rect">
            <a:avLst/>
          </a:prstGeom>
        </p:spPr>
        <p:txBody>
          <a:bodyPr lIns="0" tIns="0" rIns="0" bIns="0" rtlCol="0" anchor="t">
            <a:spAutoFit/>
          </a:bodyPr>
          <a:lstStyle/>
          <a:p>
            <a:pPr marL="0" lvl="0" indent="0" algn="l">
              <a:lnSpc>
                <a:spcPts val="6678"/>
              </a:lnSpc>
              <a:spcBef>
                <a:spcPct val="0"/>
              </a:spcBef>
            </a:pPr>
            <a:r>
              <a:rPr lang="en-US" sz="5300" b="1">
                <a:solidFill>
                  <a:srgbClr val="454699"/>
                </a:solidFill>
                <a:latin typeface="League Spartan"/>
                <a:ea typeface="League Spartan"/>
                <a:cs typeface="League Spartan"/>
                <a:sym typeface="League Spartan"/>
              </a:rPr>
              <a:t>FUTURE LOOK INTO AUTONOMOUS VEHICLES</a:t>
            </a:r>
          </a:p>
        </p:txBody>
      </p:sp>
      <p:sp>
        <p:nvSpPr>
          <p:cNvPr id="11" name="TextBox 11"/>
          <p:cNvSpPr txBox="1"/>
          <p:nvPr/>
        </p:nvSpPr>
        <p:spPr>
          <a:xfrm>
            <a:off x="1604615" y="2897080"/>
            <a:ext cx="13574762" cy="5143119"/>
          </a:xfrm>
          <a:prstGeom prst="rect">
            <a:avLst/>
          </a:prstGeom>
        </p:spPr>
        <p:txBody>
          <a:bodyPr lIns="0" tIns="0" rIns="0" bIns="0" rtlCol="0" anchor="t">
            <a:spAutoFit/>
          </a:bodyPr>
          <a:lstStyle/>
          <a:p>
            <a:pPr algn="l">
              <a:lnSpc>
                <a:spcPts val="3124"/>
              </a:lnSpc>
            </a:pPr>
            <a:r>
              <a:rPr lang="en-US" sz="2200" b="1">
                <a:solidFill>
                  <a:srgbClr val="454699"/>
                </a:solidFill>
                <a:latin typeface="Roboto Bold"/>
                <a:ea typeface="Roboto Bold"/>
                <a:cs typeface="Roboto Bold"/>
                <a:sym typeface="Roboto Bold"/>
              </a:rPr>
              <a:t>-</a:t>
            </a:r>
            <a:r>
              <a:rPr lang="en-US" sz="2200">
                <a:solidFill>
                  <a:srgbClr val="454699"/>
                </a:solidFill>
                <a:latin typeface="Roboto"/>
                <a:ea typeface="Roboto"/>
                <a:cs typeface="Roboto"/>
                <a:sym typeface="Roboto"/>
              </a:rPr>
              <a:t>Replacing the bulky mechanical lidar on the rooftops or hoods of self-driving cars with Integrated Photonic Lidar that can be shrunk into headlights, backlights and sides for an accurate, clear and complete 360 degree view.</a:t>
            </a:r>
          </a:p>
          <a:p>
            <a:pPr algn="l">
              <a:lnSpc>
                <a:spcPts val="3124"/>
              </a:lnSpc>
            </a:pPr>
            <a:endParaRPr lang="en-US" sz="2200">
              <a:solidFill>
                <a:srgbClr val="454699"/>
              </a:solidFill>
              <a:latin typeface="Roboto"/>
              <a:ea typeface="Roboto"/>
              <a:cs typeface="Roboto"/>
              <a:sym typeface="Roboto"/>
            </a:endParaRPr>
          </a:p>
          <a:p>
            <a:pPr algn="l">
              <a:lnSpc>
                <a:spcPts val="3124"/>
              </a:lnSpc>
            </a:pPr>
            <a:r>
              <a:rPr lang="en-US" sz="2200" b="1">
                <a:solidFill>
                  <a:srgbClr val="454699"/>
                </a:solidFill>
                <a:latin typeface="Roboto Bold"/>
                <a:ea typeface="Roboto Bold"/>
                <a:cs typeface="Roboto Bold"/>
                <a:sym typeface="Roboto Bold"/>
              </a:rPr>
              <a:t>-</a:t>
            </a:r>
            <a:r>
              <a:rPr lang="en-US" sz="2200">
                <a:solidFill>
                  <a:srgbClr val="454699"/>
                </a:solidFill>
                <a:latin typeface="Roboto"/>
                <a:ea typeface="Roboto"/>
                <a:cs typeface="Roboto"/>
                <a:sym typeface="Roboto"/>
              </a:rPr>
              <a:t>Sensors will also serve as future perception handlers for autonomous vehicles as the Neural Networks and Merging Algorithms will be shifted forward and handled by the sensors.</a:t>
            </a:r>
          </a:p>
          <a:p>
            <a:pPr algn="l">
              <a:lnSpc>
                <a:spcPts val="3124"/>
              </a:lnSpc>
            </a:pPr>
            <a:endParaRPr lang="en-US" sz="2200">
              <a:solidFill>
                <a:srgbClr val="454699"/>
              </a:solidFill>
              <a:latin typeface="Roboto"/>
              <a:ea typeface="Roboto"/>
              <a:cs typeface="Roboto"/>
              <a:sym typeface="Roboto"/>
            </a:endParaRPr>
          </a:p>
          <a:p>
            <a:pPr algn="l">
              <a:lnSpc>
                <a:spcPts val="3124"/>
              </a:lnSpc>
            </a:pPr>
            <a:r>
              <a:rPr lang="en-US" sz="2200" b="1">
                <a:solidFill>
                  <a:srgbClr val="454699"/>
                </a:solidFill>
                <a:latin typeface="Roboto Bold"/>
                <a:ea typeface="Roboto Bold"/>
                <a:cs typeface="Roboto Bold"/>
                <a:sym typeface="Roboto Bold"/>
              </a:rPr>
              <a:t>-</a:t>
            </a:r>
            <a:r>
              <a:rPr lang="en-US" sz="2200">
                <a:solidFill>
                  <a:srgbClr val="454699"/>
                </a:solidFill>
                <a:latin typeface="Roboto"/>
                <a:ea typeface="Roboto"/>
                <a:cs typeface="Roboto"/>
                <a:sym typeface="Roboto"/>
              </a:rPr>
              <a:t>The fusion of Networking, Cybersecurity and Artificial Intelligence for safe autonomous driving.</a:t>
            </a:r>
          </a:p>
          <a:p>
            <a:pPr algn="l">
              <a:lnSpc>
                <a:spcPts val="3124"/>
              </a:lnSpc>
            </a:pPr>
            <a:endParaRPr lang="en-US" sz="2200">
              <a:solidFill>
                <a:srgbClr val="454699"/>
              </a:solidFill>
              <a:latin typeface="Roboto"/>
              <a:ea typeface="Roboto"/>
              <a:cs typeface="Roboto"/>
              <a:sym typeface="Roboto"/>
            </a:endParaRPr>
          </a:p>
          <a:p>
            <a:pPr marL="0" lvl="0" indent="0" algn="l">
              <a:lnSpc>
                <a:spcPts val="3124"/>
              </a:lnSpc>
            </a:pPr>
            <a:r>
              <a:rPr lang="en-US" sz="2200" b="1">
                <a:solidFill>
                  <a:srgbClr val="454699"/>
                </a:solidFill>
                <a:latin typeface="Roboto Bold"/>
                <a:ea typeface="Roboto Bold"/>
                <a:cs typeface="Roboto Bold"/>
                <a:sym typeface="Roboto Bold"/>
              </a:rPr>
              <a:t>-</a:t>
            </a:r>
            <a:r>
              <a:rPr lang="en-US" sz="2200">
                <a:solidFill>
                  <a:srgbClr val="454699"/>
                </a:solidFill>
                <a:latin typeface="Roboto"/>
                <a:ea typeface="Roboto"/>
                <a:cs typeface="Roboto"/>
                <a:sym typeface="Roboto"/>
              </a:rPr>
              <a:t>Although we are still in the very early stages of quantum computing devices, all the current algorithms in Networking, Cryptography and Reinforcement Learning have a quantum equivalent to improve privacy, speed, efficiency, security etc. Active research area with gradual progress due to limitations in quantum hardware.</a:t>
            </a:r>
          </a:p>
          <a:p>
            <a:pPr marL="0" lvl="0" indent="0" algn="l">
              <a:lnSpc>
                <a:spcPts val="3692"/>
              </a:lnSpc>
            </a:pPr>
            <a:endParaRPr lang="en-US" sz="2200">
              <a:solidFill>
                <a:srgbClr val="454699"/>
              </a:solidFill>
              <a:latin typeface="Roboto"/>
              <a:ea typeface="Roboto"/>
              <a:cs typeface="Roboto"/>
              <a:sym typeface="Roboto"/>
            </a:endParaRPr>
          </a:p>
        </p:txBody>
      </p:sp>
      <p:sp>
        <p:nvSpPr>
          <p:cNvPr id="12" name="Freeform 12"/>
          <p:cNvSpPr/>
          <p:nvPr/>
        </p:nvSpPr>
        <p:spPr>
          <a:xfrm rot="-10800000" flipH="1">
            <a:off x="15663589" y="0"/>
            <a:ext cx="2624411" cy="2624411"/>
          </a:xfrm>
          <a:custGeom>
            <a:avLst/>
            <a:gdLst/>
            <a:ahLst/>
            <a:cxnLst/>
            <a:rect l="l" t="t" r="r" b="b"/>
            <a:pathLst>
              <a:path w="2624411" h="2624411">
                <a:moveTo>
                  <a:pt x="2624411" y="0"/>
                </a:moveTo>
                <a:lnTo>
                  <a:pt x="0" y="0"/>
                </a:lnTo>
                <a:lnTo>
                  <a:pt x="0" y="2624411"/>
                </a:lnTo>
                <a:lnTo>
                  <a:pt x="2624411" y="2624411"/>
                </a:lnTo>
                <a:lnTo>
                  <a:pt x="2624411"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B0E4"/>
        </a:solidFill>
        <a:effectLst/>
      </p:bgPr>
    </p:bg>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407511" y="1677335"/>
            <a:ext cx="15851789" cy="5877050"/>
            <a:chOff x="0" y="0"/>
            <a:chExt cx="4221986" cy="1565301"/>
          </a:xfrm>
        </p:grpSpPr>
        <p:sp>
          <p:nvSpPr>
            <p:cNvPr id="4" name="Freeform 4"/>
            <p:cNvSpPr/>
            <p:nvPr/>
          </p:nvSpPr>
          <p:spPr>
            <a:xfrm>
              <a:off x="0" y="0"/>
              <a:ext cx="4221986" cy="1565301"/>
            </a:xfrm>
            <a:custGeom>
              <a:avLst/>
              <a:gdLst/>
              <a:ahLst/>
              <a:cxnLst/>
              <a:rect l="l" t="t" r="r" b="b"/>
              <a:pathLst>
                <a:path w="4221986" h="1565301">
                  <a:moveTo>
                    <a:pt x="4097525" y="1565301"/>
                  </a:moveTo>
                  <a:lnTo>
                    <a:pt x="124460" y="1565301"/>
                  </a:lnTo>
                  <a:cubicBezTo>
                    <a:pt x="55880" y="1565301"/>
                    <a:pt x="0" y="1509421"/>
                    <a:pt x="0" y="1440841"/>
                  </a:cubicBezTo>
                  <a:lnTo>
                    <a:pt x="0" y="124460"/>
                  </a:lnTo>
                  <a:cubicBezTo>
                    <a:pt x="0" y="55880"/>
                    <a:pt x="55880" y="0"/>
                    <a:pt x="124460" y="0"/>
                  </a:cubicBezTo>
                  <a:lnTo>
                    <a:pt x="4097526" y="0"/>
                  </a:lnTo>
                  <a:cubicBezTo>
                    <a:pt x="4166106" y="0"/>
                    <a:pt x="4221986" y="55880"/>
                    <a:pt x="4221986" y="124460"/>
                  </a:cubicBezTo>
                  <a:lnTo>
                    <a:pt x="4221986" y="1440841"/>
                  </a:lnTo>
                  <a:cubicBezTo>
                    <a:pt x="4221986" y="1509421"/>
                    <a:pt x="4166106" y="1565301"/>
                    <a:pt x="4097526" y="1565301"/>
                  </a:cubicBezTo>
                  <a:close/>
                </a:path>
              </a:pathLst>
            </a:custGeom>
            <a:solidFill>
              <a:srgbClr val="F8F4EB"/>
            </a:solidFill>
          </p:spPr>
          <p:txBody>
            <a:bodyPr/>
            <a:lstStyle/>
            <a:p>
              <a:endParaRPr lang="en-CA"/>
            </a:p>
          </p:txBody>
        </p:sp>
      </p:grpSp>
      <p:sp>
        <p:nvSpPr>
          <p:cNvPr id="5" name="TextBox 5"/>
          <p:cNvSpPr txBox="1"/>
          <p:nvPr/>
        </p:nvSpPr>
        <p:spPr>
          <a:xfrm>
            <a:off x="1797724" y="1373500"/>
            <a:ext cx="15260089" cy="6767195"/>
          </a:xfrm>
          <a:prstGeom prst="rect">
            <a:avLst/>
          </a:prstGeom>
        </p:spPr>
        <p:txBody>
          <a:bodyPr lIns="0" tIns="0" rIns="0" bIns="0" rtlCol="0" anchor="t">
            <a:spAutoFit/>
          </a:bodyPr>
          <a:lstStyle/>
          <a:p>
            <a:pPr algn="l">
              <a:lnSpc>
                <a:spcPts val="5537"/>
              </a:lnSpc>
            </a:pPr>
            <a:endParaRPr/>
          </a:p>
          <a:p>
            <a:pPr marL="0" lvl="0" indent="0" algn="l">
              <a:lnSpc>
                <a:spcPts val="5537"/>
              </a:lnSpc>
              <a:spcBef>
                <a:spcPct val="0"/>
              </a:spcBef>
            </a:pPr>
            <a:r>
              <a:rPr lang="en-US" sz="3899" b="1">
                <a:solidFill>
                  <a:srgbClr val="454699"/>
                </a:solidFill>
                <a:latin typeface="Roboto Bold"/>
                <a:ea typeface="Roboto Bold"/>
                <a:cs typeface="Roboto Bold"/>
                <a:sym typeface="Roboto Bold"/>
              </a:rPr>
              <a:t>“The only way of discovering the limits of the possible is to </a:t>
            </a:r>
            <a:r>
              <a:rPr lang="en-US" sz="3899" b="1" u="none">
                <a:solidFill>
                  <a:srgbClr val="454699"/>
                </a:solidFill>
                <a:latin typeface="Roboto Bold"/>
                <a:ea typeface="Roboto Bold"/>
                <a:cs typeface="Roboto Bold"/>
                <a:sym typeface="Roboto Bold"/>
              </a:rPr>
              <a:t>venture a little way past them into the impossible”</a:t>
            </a:r>
            <a:r>
              <a:rPr lang="en-US" sz="3899" u="none">
                <a:solidFill>
                  <a:srgbClr val="454699"/>
                </a:solidFill>
                <a:latin typeface="Roboto"/>
                <a:ea typeface="Roboto"/>
                <a:cs typeface="Roboto"/>
                <a:sym typeface="Roboto"/>
              </a:rPr>
              <a:t>-</a:t>
            </a:r>
            <a:r>
              <a:rPr lang="en-US" sz="3899" b="1" u="none">
                <a:solidFill>
                  <a:srgbClr val="454699"/>
                </a:solidFill>
                <a:latin typeface="Roboto Bold"/>
                <a:ea typeface="Roboto Bold"/>
                <a:cs typeface="Roboto Bold"/>
                <a:sym typeface="Roboto Bold"/>
              </a:rPr>
              <a:t> Arthur C. Clarke</a:t>
            </a:r>
          </a:p>
          <a:p>
            <a:pPr marL="0" lvl="0" indent="0" algn="l">
              <a:lnSpc>
                <a:spcPts val="5537"/>
              </a:lnSpc>
              <a:spcBef>
                <a:spcPct val="0"/>
              </a:spcBef>
            </a:pPr>
            <a:endParaRPr lang="en-US" sz="3899" b="1" u="none">
              <a:solidFill>
                <a:srgbClr val="454699"/>
              </a:solidFill>
              <a:latin typeface="Roboto Bold"/>
              <a:ea typeface="Roboto Bold"/>
              <a:cs typeface="Roboto Bold"/>
              <a:sym typeface="Roboto Bold"/>
            </a:endParaRPr>
          </a:p>
          <a:p>
            <a:pPr marL="0" lvl="0" indent="0" algn="l">
              <a:lnSpc>
                <a:spcPts val="5537"/>
              </a:lnSpc>
              <a:spcBef>
                <a:spcPct val="0"/>
              </a:spcBef>
            </a:pPr>
            <a:endParaRPr lang="en-US" sz="3899" b="1" u="none">
              <a:solidFill>
                <a:srgbClr val="454699"/>
              </a:solidFill>
              <a:latin typeface="Roboto Bold"/>
              <a:ea typeface="Roboto Bold"/>
              <a:cs typeface="Roboto Bold"/>
              <a:sym typeface="Roboto Bold"/>
            </a:endParaRPr>
          </a:p>
          <a:p>
            <a:pPr marL="0" lvl="0" indent="0" algn="l">
              <a:lnSpc>
                <a:spcPts val="11359"/>
              </a:lnSpc>
              <a:spcBef>
                <a:spcPct val="0"/>
              </a:spcBef>
            </a:pPr>
            <a:r>
              <a:rPr lang="en-US" sz="7999" b="1" u="none">
                <a:solidFill>
                  <a:srgbClr val="454699"/>
                </a:solidFill>
                <a:latin typeface="Roboto Bold"/>
                <a:ea typeface="Roboto Bold"/>
                <a:cs typeface="Roboto Bold"/>
                <a:sym typeface="Roboto Bold"/>
              </a:rPr>
              <a:t>                  THANK YOU!!!</a:t>
            </a:r>
          </a:p>
          <a:p>
            <a:pPr algn="l">
              <a:lnSpc>
                <a:spcPts val="5537"/>
              </a:lnSpc>
              <a:spcBef>
                <a:spcPct val="0"/>
              </a:spcBef>
            </a:pPr>
            <a:endParaRPr lang="en-US" sz="7999" b="1" u="none">
              <a:solidFill>
                <a:srgbClr val="454699"/>
              </a:solidFill>
              <a:latin typeface="Roboto Bold"/>
              <a:ea typeface="Roboto Bold"/>
              <a:cs typeface="Roboto Bold"/>
              <a:sym typeface="Roboto Bold"/>
            </a:endParaRPr>
          </a:p>
          <a:p>
            <a:pPr marL="0" lvl="0" indent="0" algn="l">
              <a:lnSpc>
                <a:spcPts val="5537"/>
              </a:lnSpc>
              <a:spcBef>
                <a:spcPct val="0"/>
              </a:spcBef>
            </a:pPr>
            <a:endParaRPr lang="en-US" sz="7999" b="1" u="none">
              <a:solidFill>
                <a:srgbClr val="454699"/>
              </a:solidFill>
              <a:latin typeface="Roboto Bold"/>
              <a:ea typeface="Roboto Bold"/>
              <a:cs typeface="Roboto Bold"/>
              <a:sym typeface="Roboto Bold"/>
            </a:endParaRPr>
          </a:p>
          <a:p>
            <a:pPr marL="0" lvl="0" indent="0" algn="l">
              <a:lnSpc>
                <a:spcPts val="3692"/>
              </a:lnSpc>
              <a:spcBef>
                <a:spcPct val="0"/>
              </a:spcBef>
            </a:pPr>
            <a:endParaRPr lang="en-US" sz="7999" b="1" u="none">
              <a:solidFill>
                <a:srgbClr val="454699"/>
              </a:solidFill>
              <a:latin typeface="Roboto Bold"/>
              <a:ea typeface="Roboto Bold"/>
              <a:cs typeface="Roboto Bold"/>
              <a:sym typeface="Roboto Bold"/>
            </a:endParaRPr>
          </a:p>
        </p:txBody>
      </p:sp>
      <p:grpSp>
        <p:nvGrpSpPr>
          <p:cNvPr id="6" name="Group 6"/>
          <p:cNvGrpSpPr/>
          <p:nvPr/>
        </p:nvGrpSpPr>
        <p:grpSpPr>
          <a:xfrm>
            <a:off x="15673546" y="8212763"/>
            <a:ext cx="1897484" cy="1061551"/>
            <a:chOff x="0" y="0"/>
            <a:chExt cx="726425" cy="406400"/>
          </a:xfrm>
        </p:grpSpPr>
        <p:sp>
          <p:nvSpPr>
            <p:cNvPr id="7" name="Freeform 7"/>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8" name="Group 8"/>
          <p:cNvGrpSpPr/>
          <p:nvPr/>
        </p:nvGrpSpPr>
        <p:grpSpPr>
          <a:xfrm>
            <a:off x="16669913" y="8355639"/>
            <a:ext cx="775800" cy="775800"/>
            <a:chOff x="0" y="0"/>
            <a:chExt cx="1034400" cy="1034400"/>
          </a:xfrm>
        </p:grpSpPr>
        <p:sp>
          <p:nvSpPr>
            <p:cNvPr id="9" name="Freeform 9"/>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CA"/>
            </a:p>
          </p:txBody>
        </p:sp>
        <p:sp>
          <p:nvSpPr>
            <p:cNvPr id="10" name="Freeform 10"/>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CA"/>
            </a:p>
          </p:txBody>
        </p:sp>
      </p:grpSp>
      <p:sp>
        <p:nvSpPr>
          <p:cNvPr id="11" name="Freeform 11"/>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CA"/>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0" y="7251959"/>
            <a:ext cx="3035041" cy="3035041"/>
          </a:xfrm>
          <a:custGeom>
            <a:avLst/>
            <a:gdLst/>
            <a:ahLst/>
            <a:cxnLst/>
            <a:rect l="l" t="t" r="r" b="b"/>
            <a:pathLst>
              <a:path w="3035041" h="3035041">
                <a:moveTo>
                  <a:pt x="0" y="0"/>
                </a:moveTo>
                <a:lnTo>
                  <a:pt x="3035041" y="0"/>
                </a:lnTo>
                <a:lnTo>
                  <a:pt x="3035041" y="3035041"/>
                </a:lnTo>
                <a:lnTo>
                  <a:pt x="0" y="30350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CA"/>
          </a:p>
        </p:txBody>
      </p:sp>
      <p:grpSp>
        <p:nvGrpSpPr>
          <p:cNvPr id="3" name="Group 3"/>
          <p:cNvGrpSpPr/>
          <p:nvPr/>
        </p:nvGrpSpPr>
        <p:grpSpPr>
          <a:xfrm>
            <a:off x="1206024" y="2047673"/>
            <a:ext cx="15463889" cy="6721807"/>
            <a:chOff x="0" y="0"/>
            <a:chExt cx="4054691" cy="1762484"/>
          </a:xfrm>
        </p:grpSpPr>
        <p:sp>
          <p:nvSpPr>
            <p:cNvPr id="4" name="Freeform 4"/>
            <p:cNvSpPr/>
            <p:nvPr/>
          </p:nvSpPr>
          <p:spPr>
            <a:xfrm>
              <a:off x="0" y="0"/>
              <a:ext cx="4054691" cy="1762484"/>
            </a:xfrm>
            <a:custGeom>
              <a:avLst/>
              <a:gdLst/>
              <a:ahLst/>
              <a:cxnLst/>
              <a:rect l="l" t="t" r="r" b="b"/>
              <a:pathLst>
                <a:path w="4054691" h="1762484">
                  <a:moveTo>
                    <a:pt x="3930231" y="1762484"/>
                  </a:moveTo>
                  <a:lnTo>
                    <a:pt x="124460" y="1762484"/>
                  </a:lnTo>
                  <a:cubicBezTo>
                    <a:pt x="55880" y="1762484"/>
                    <a:pt x="0" y="1706604"/>
                    <a:pt x="0" y="1638023"/>
                  </a:cubicBezTo>
                  <a:lnTo>
                    <a:pt x="0" y="124460"/>
                  </a:lnTo>
                  <a:cubicBezTo>
                    <a:pt x="0" y="55880"/>
                    <a:pt x="55880" y="0"/>
                    <a:pt x="124460" y="0"/>
                  </a:cubicBezTo>
                  <a:lnTo>
                    <a:pt x="3930231" y="0"/>
                  </a:lnTo>
                  <a:cubicBezTo>
                    <a:pt x="3998811" y="0"/>
                    <a:pt x="4054691" y="55880"/>
                    <a:pt x="4054691" y="124460"/>
                  </a:cubicBezTo>
                  <a:lnTo>
                    <a:pt x="4054691" y="1638024"/>
                  </a:lnTo>
                  <a:cubicBezTo>
                    <a:pt x="4054691" y="1706604"/>
                    <a:pt x="3998811" y="1762484"/>
                    <a:pt x="3930231" y="1762484"/>
                  </a:cubicBezTo>
                  <a:close/>
                </a:path>
              </a:pathLst>
            </a:custGeom>
            <a:solidFill>
              <a:srgbClr val="F8F4EB"/>
            </a:solidFill>
          </p:spPr>
          <p:txBody>
            <a:bodyPr/>
            <a:lstStyle/>
            <a:p>
              <a:endParaRPr lang="en-CA"/>
            </a:p>
          </p:txBody>
        </p:sp>
      </p:grpSp>
      <p:sp>
        <p:nvSpPr>
          <p:cNvPr id="5" name="TextBox 5"/>
          <p:cNvSpPr txBox="1"/>
          <p:nvPr/>
        </p:nvSpPr>
        <p:spPr>
          <a:xfrm>
            <a:off x="1682115" y="2409004"/>
            <a:ext cx="13875278" cy="8897116"/>
          </a:xfrm>
          <a:prstGeom prst="rect">
            <a:avLst/>
          </a:prstGeom>
        </p:spPr>
        <p:txBody>
          <a:bodyPr lIns="0" tIns="0" rIns="0" bIns="0" rtlCol="0" anchor="t">
            <a:spAutoFit/>
          </a:bodyPr>
          <a:lstStyle/>
          <a:p>
            <a:pPr marL="0" lvl="0" indent="0" algn="l">
              <a:lnSpc>
                <a:spcPts val="2859"/>
              </a:lnSpc>
              <a:spcBef>
                <a:spcPct val="0"/>
              </a:spcBef>
            </a:pPr>
            <a:r>
              <a:rPr lang="en-US" sz="2014" u="sng" dirty="0">
                <a:solidFill>
                  <a:srgbClr val="454699"/>
                </a:solidFill>
                <a:latin typeface="Roboto"/>
                <a:ea typeface="Roboto"/>
                <a:cs typeface="Roboto"/>
                <a:sym typeface="Roboto"/>
                <a:hlinkClick r:id="rId4" tooltip="https://www.sae.org/blog/sae-j3016-update"/>
              </a:rPr>
              <a:t>https://carla.readthedocs.io/en/latest/ref_sensors/</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5"/>
              </a:rPr>
              <a:t>https://ieeexplore.ieee.org/abstract/document/10285393/authors#authors</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4"/>
              </a:rPr>
              <a:t>https://www.sae.org/blog/sae-j3016-update</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6"/>
              </a:rPr>
              <a:t>https://github.com/privateboss0</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7"/>
              </a:rPr>
              <a:t>https://www.moralmachine.net/</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8"/>
              </a:rPr>
              <a:t>https://www.apollogo.com/</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9"/>
              </a:rPr>
              <a:t>https://waymo.com/safety/</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10"/>
              </a:rPr>
              <a:t>https://zoox.com/journal/robotaxi-rider-safety/</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11"/>
              </a:rPr>
              <a:t>https://www.atlassian.com/microservices/microservices-architecture/microservices-vs-monolith</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12"/>
              </a:rPr>
              <a:t>https://www.atlassian.com/microservices/microservices-architecture/distributed-architecture</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13"/>
              </a:rPr>
              <a:t>https://www.geeksforgeeks.org/distributed-vs-decentralized-systems/</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14"/>
              </a:rPr>
              <a:t>https://effectphotonics.com/insights/the-power-of-integrated-photonic-lidar/</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15"/>
              </a:rPr>
              <a:t>https://users.ece.cmu.edu/~koopman/lectures/index.html</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dirty="0">
                <a:solidFill>
                  <a:srgbClr val="454699"/>
                </a:solidFill>
                <a:latin typeface="Roboto"/>
                <a:ea typeface="Roboto"/>
                <a:cs typeface="Roboto"/>
                <a:sym typeface="Roboto"/>
                <a:hlinkClick r:id="rId16"/>
              </a:rPr>
              <a:t>https://www.hks.harvard.edu/publications/trolley-problem-mysteries</a:t>
            </a:r>
            <a:endParaRPr lang="en-US" sz="2014" u="sng" dirty="0">
              <a:solidFill>
                <a:srgbClr val="454699"/>
              </a:solidFill>
              <a:latin typeface="Roboto"/>
              <a:ea typeface="Roboto"/>
              <a:cs typeface="Roboto"/>
              <a:sym typeface="Roboto"/>
            </a:endParaRPr>
          </a:p>
          <a:p>
            <a:pPr marL="0" lvl="0" indent="0" algn="l">
              <a:lnSpc>
                <a:spcPts val="2859"/>
              </a:lnSpc>
              <a:spcBef>
                <a:spcPct val="0"/>
              </a:spcBef>
            </a:pPr>
            <a:r>
              <a:rPr lang="en-US" sz="2014" u="sng" dirty="0">
                <a:solidFill>
                  <a:srgbClr val="454699"/>
                </a:solidFill>
                <a:latin typeface="Roboto"/>
                <a:ea typeface="Roboto"/>
                <a:cs typeface="Roboto"/>
                <a:sym typeface="Roboto"/>
                <a:hlinkClick r:id="rId17"/>
              </a:rPr>
              <a:t>https://www.youtube.com/watch?v=zYkrOxQDPEo</a:t>
            </a:r>
            <a:r>
              <a:rPr lang="en-US" sz="2014" u="sng" dirty="0">
                <a:solidFill>
                  <a:srgbClr val="454699"/>
                </a:solidFill>
                <a:latin typeface="Roboto"/>
                <a:ea typeface="Roboto"/>
                <a:cs typeface="Roboto"/>
                <a:sym typeface="Roboto"/>
              </a:rPr>
              <a:t> </a:t>
            </a:r>
          </a:p>
          <a:p>
            <a:pPr marL="0" lvl="0" indent="0" algn="l">
              <a:lnSpc>
                <a:spcPts val="2859"/>
              </a:lnSpc>
              <a:spcBef>
                <a:spcPct val="0"/>
              </a:spcBef>
            </a:pPr>
            <a:r>
              <a:rPr lang="en-US" sz="2014" u="sng">
                <a:solidFill>
                  <a:srgbClr val="454699"/>
                </a:solidFill>
                <a:latin typeface="Roboto"/>
                <a:ea typeface="Roboto"/>
                <a:cs typeface="Roboto"/>
                <a:sym typeface="Roboto"/>
              </a:rPr>
              <a:t>Google Gemini</a:t>
            </a:r>
            <a:endParaRPr lang="en-US" sz="2014" u="sng" dirty="0">
              <a:solidFill>
                <a:srgbClr val="454699"/>
              </a:solidFill>
              <a:latin typeface="Roboto"/>
              <a:ea typeface="Roboto"/>
              <a:cs typeface="Roboto"/>
              <a:sym typeface="Roboto"/>
            </a:endParaRPr>
          </a:p>
          <a:p>
            <a:pPr marL="0" lvl="0" indent="0" algn="l">
              <a:lnSpc>
                <a:spcPts val="2859"/>
              </a:lnSpc>
              <a:spcBef>
                <a:spcPct val="0"/>
              </a:spcBef>
            </a:pPr>
            <a:endParaRPr lang="en-US" sz="2014" u="sng" dirty="0">
              <a:solidFill>
                <a:srgbClr val="454699"/>
              </a:solidFill>
              <a:latin typeface="Roboto"/>
              <a:ea typeface="Roboto"/>
              <a:cs typeface="Roboto"/>
              <a:sym typeface="Roboto"/>
            </a:endParaRPr>
          </a:p>
          <a:p>
            <a:pPr marL="0" lvl="0" indent="0" algn="l">
              <a:lnSpc>
                <a:spcPts val="2859"/>
              </a:lnSpc>
              <a:spcBef>
                <a:spcPct val="0"/>
              </a:spcBef>
            </a:pPr>
            <a:endParaRPr lang="en-US" sz="2014" u="sng" dirty="0">
              <a:solidFill>
                <a:srgbClr val="454699"/>
              </a:solidFill>
              <a:latin typeface="Roboto"/>
              <a:ea typeface="Roboto"/>
              <a:cs typeface="Roboto"/>
              <a:sym typeface="Roboto"/>
            </a:endParaRPr>
          </a:p>
          <a:p>
            <a:pPr marL="0" lvl="0" indent="0" algn="l">
              <a:lnSpc>
                <a:spcPts val="2859"/>
              </a:lnSpc>
              <a:spcBef>
                <a:spcPct val="0"/>
              </a:spcBef>
            </a:pPr>
            <a:endParaRPr lang="en-US" sz="2014" u="sng" dirty="0">
              <a:solidFill>
                <a:srgbClr val="454699"/>
              </a:solidFill>
              <a:latin typeface="Roboto"/>
              <a:ea typeface="Roboto"/>
              <a:cs typeface="Roboto"/>
              <a:sym typeface="Roboto"/>
            </a:endParaRPr>
          </a:p>
          <a:p>
            <a:pPr marL="0" lvl="0" indent="0" algn="l">
              <a:lnSpc>
                <a:spcPts val="2859"/>
              </a:lnSpc>
              <a:spcBef>
                <a:spcPct val="0"/>
              </a:spcBef>
            </a:pPr>
            <a:endParaRPr lang="en-US" sz="2014" u="sng" dirty="0">
              <a:solidFill>
                <a:srgbClr val="454699"/>
              </a:solidFill>
              <a:latin typeface="Roboto"/>
              <a:ea typeface="Roboto"/>
              <a:cs typeface="Roboto"/>
              <a:sym typeface="Roboto"/>
            </a:endParaRPr>
          </a:p>
          <a:p>
            <a:pPr marL="0" lvl="0" indent="0" algn="l">
              <a:lnSpc>
                <a:spcPts val="2859"/>
              </a:lnSpc>
              <a:spcBef>
                <a:spcPct val="0"/>
              </a:spcBef>
            </a:pPr>
            <a:endParaRPr lang="en-US" sz="2014" u="sng" dirty="0">
              <a:solidFill>
                <a:srgbClr val="454699"/>
              </a:solidFill>
              <a:latin typeface="Roboto"/>
              <a:ea typeface="Roboto"/>
              <a:cs typeface="Roboto"/>
              <a:sym typeface="Roboto"/>
            </a:endParaRPr>
          </a:p>
          <a:p>
            <a:pPr marL="0" lvl="0" indent="0" algn="l">
              <a:lnSpc>
                <a:spcPts val="2859"/>
              </a:lnSpc>
              <a:spcBef>
                <a:spcPct val="0"/>
              </a:spcBef>
            </a:pPr>
            <a:endParaRPr lang="en-US" sz="2014" u="sng" dirty="0">
              <a:solidFill>
                <a:srgbClr val="454699"/>
              </a:solidFill>
              <a:latin typeface="Roboto"/>
              <a:ea typeface="Roboto"/>
              <a:cs typeface="Roboto"/>
              <a:sym typeface="Roboto"/>
            </a:endParaRPr>
          </a:p>
          <a:p>
            <a:pPr marL="0" lvl="0" indent="0" algn="l">
              <a:lnSpc>
                <a:spcPts val="2859"/>
              </a:lnSpc>
              <a:spcBef>
                <a:spcPct val="0"/>
              </a:spcBef>
            </a:pPr>
            <a:endParaRPr lang="en-US" sz="2014" u="sng" dirty="0">
              <a:solidFill>
                <a:srgbClr val="454699"/>
              </a:solidFill>
              <a:latin typeface="Roboto"/>
              <a:ea typeface="Roboto"/>
              <a:cs typeface="Roboto"/>
              <a:sym typeface="Roboto"/>
            </a:endParaRPr>
          </a:p>
          <a:p>
            <a:pPr marL="0" lvl="0" indent="0" algn="l">
              <a:lnSpc>
                <a:spcPts val="2859"/>
              </a:lnSpc>
              <a:spcBef>
                <a:spcPct val="0"/>
              </a:spcBef>
            </a:pPr>
            <a:endParaRPr lang="en-US" sz="2014" u="sng" dirty="0">
              <a:solidFill>
                <a:srgbClr val="454699"/>
              </a:solidFill>
              <a:latin typeface="Roboto"/>
              <a:ea typeface="Roboto"/>
              <a:cs typeface="Roboto"/>
              <a:sym typeface="Roboto"/>
            </a:endParaRPr>
          </a:p>
        </p:txBody>
      </p:sp>
      <p:sp>
        <p:nvSpPr>
          <p:cNvPr id="6" name="TextBox 6"/>
          <p:cNvSpPr txBox="1"/>
          <p:nvPr/>
        </p:nvSpPr>
        <p:spPr>
          <a:xfrm>
            <a:off x="4568426" y="419100"/>
            <a:ext cx="15223667" cy="1181099"/>
          </a:xfrm>
          <a:prstGeom prst="rect">
            <a:avLst/>
          </a:prstGeom>
        </p:spPr>
        <p:txBody>
          <a:bodyPr lIns="0" tIns="0" rIns="0" bIns="0" rtlCol="0" anchor="t">
            <a:spAutoFit/>
          </a:bodyPr>
          <a:lstStyle/>
          <a:p>
            <a:pPr marL="0" lvl="0" indent="0" algn="l">
              <a:lnSpc>
                <a:spcPts val="9450"/>
              </a:lnSpc>
              <a:spcBef>
                <a:spcPct val="0"/>
              </a:spcBef>
            </a:pPr>
            <a:r>
              <a:rPr lang="en-US" sz="7500" b="1">
                <a:solidFill>
                  <a:srgbClr val="454699"/>
                </a:solidFill>
                <a:latin typeface="League Spartan"/>
                <a:ea typeface="League Spartan"/>
                <a:cs typeface="League Spartan"/>
                <a:sym typeface="League Spartan"/>
              </a:rPr>
              <a:t>RESOURCES</a:t>
            </a:r>
          </a:p>
        </p:txBody>
      </p:sp>
      <p:grpSp>
        <p:nvGrpSpPr>
          <p:cNvPr id="7" name="Group 7"/>
          <p:cNvGrpSpPr/>
          <p:nvPr/>
        </p:nvGrpSpPr>
        <p:grpSpPr>
          <a:xfrm>
            <a:off x="15721171" y="8769480"/>
            <a:ext cx="1897484" cy="1061551"/>
            <a:chOff x="0" y="0"/>
            <a:chExt cx="726425" cy="406400"/>
          </a:xfrm>
        </p:grpSpPr>
        <p:sp>
          <p:nvSpPr>
            <p:cNvPr id="8" name="Freeform 8"/>
            <p:cNvSpPr/>
            <p:nvPr/>
          </p:nvSpPr>
          <p:spPr>
            <a:xfrm>
              <a:off x="17780" y="22860"/>
              <a:ext cx="701026" cy="360680"/>
            </a:xfrm>
            <a:custGeom>
              <a:avLst/>
              <a:gdLst/>
              <a:ahLst/>
              <a:cxnLst/>
              <a:rect l="l" t="t" r="r" b="b"/>
              <a:pathLst>
                <a:path w="701026" h="360680">
                  <a:moveTo>
                    <a:pt x="701026" y="180340"/>
                  </a:moveTo>
                  <a:cubicBezTo>
                    <a:pt x="701026" y="81280"/>
                    <a:pt x="621016" y="0"/>
                    <a:pt x="520685"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6" y="279400"/>
                    <a:pt x="701026" y="180340"/>
                  </a:cubicBezTo>
                  <a:close/>
                </a:path>
              </a:pathLst>
            </a:custGeom>
            <a:solidFill>
              <a:srgbClr val="454699">
                <a:alpha val="7843"/>
              </a:srgbClr>
            </a:solidFill>
          </p:spPr>
          <p:txBody>
            <a:bodyPr/>
            <a:lstStyle/>
            <a:p>
              <a:endParaRPr lang="en-CA"/>
            </a:p>
          </p:txBody>
        </p:sp>
      </p:grpSp>
      <p:grpSp>
        <p:nvGrpSpPr>
          <p:cNvPr id="9" name="Group 9"/>
          <p:cNvGrpSpPr/>
          <p:nvPr/>
        </p:nvGrpSpPr>
        <p:grpSpPr>
          <a:xfrm>
            <a:off x="16669913" y="8870400"/>
            <a:ext cx="775800" cy="775800"/>
            <a:chOff x="0" y="0"/>
            <a:chExt cx="1034400" cy="1034400"/>
          </a:xfrm>
        </p:grpSpPr>
        <p:sp>
          <p:nvSpPr>
            <p:cNvPr id="10" name="Freeform 10"/>
            <p:cNvSpPr/>
            <p:nvPr/>
          </p:nvSpPr>
          <p:spPr>
            <a:xfrm>
              <a:off x="0" y="0"/>
              <a:ext cx="1034400" cy="1034400"/>
            </a:xfrm>
            <a:custGeom>
              <a:avLst/>
              <a:gdLst/>
              <a:ahLst/>
              <a:cxnLst/>
              <a:rect l="l" t="t" r="r" b="b"/>
              <a:pathLst>
                <a:path w="1034400" h="1034400">
                  <a:moveTo>
                    <a:pt x="0" y="0"/>
                  </a:moveTo>
                  <a:lnTo>
                    <a:pt x="1034400" y="0"/>
                  </a:lnTo>
                  <a:lnTo>
                    <a:pt x="1034400" y="1034400"/>
                  </a:lnTo>
                  <a:lnTo>
                    <a:pt x="0" y="103440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CA"/>
            </a:p>
          </p:txBody>
        </p:sp>
        <p:sp>
          <p:nvSpPr>
            <p:cNvPr id="11" name="Freeform 11"/>
            <p:cNvSpPr/>
            <p:nvPr/>
          </p:nvSpPr>
          <p:spPr>
            <a:xfrm>
              <a:off x="153923" y="153923"/>
              <a:ext cx="726554" cy="726554"/>
            </a:xfrm>
            <a:custGeom>
              <a:avLst/>
              <a:gdLst/>
              <a:ahLst/>
              <a:cxnLst/>
              <a:rect l="l" t="t" r="r" b="b"/>
              <a:pathLst>
                <a:path w="726554" h="726554">
                  <a:moveTo>
                    <a:pt x="0" y="0"/>
                  </a:moveTo>
                  <a:lnTo>
                    <a:pt x="726554" y="0"/>
                  </a:lnTo>
                  <a:lnTo>
                    <a:pt x="726554" y="726554"/>
                  </a:lnTo>
                  <a:lnTo>
                    <a:pt x="0" y="726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CA"/>
            </a:p>
          </p:txBody>
        </p:sp>
      </p:grpSp>
      <p:sp>
        <p:nvSpPr>
          <p:cNvPr id="12" name="Freeform 12"/>
          <p:cNvSpPr/>
          <p:nvPr/>
        </p:nvSpPr>
        <p:spPr>
          <a:xfrm rot="-10800000" flipH="1">
            <a:off x="16828775" y="0"/>
            <a:ext cx="1459225" cy="1459225"/>
          </a:xfrm>
          <a:custGeom>
            <a:avLst/>
            <a:gdLst/>
            <a:ahLst/>
            <a:cxnLst/>
            <a:rect l="l" t="t" r="r" b="b"/>
            <a:pathLst>
              <a:path w="1459225" h="1459225">
                <a:moveTo>
                  <a:pt x="1459225" y="0"/>
                </a:moveTo>
                <a:lnTo>
                  <a:pt x="0" y="0"/>
                </a:lnTo>
                <a:lnTo>
                  <a:pt x="0" y="1459225"/>
                </a:lnTo>
                <a:lnTo>
                  <a:pt x="1459225" y="1459225"/>
                </a:lnTo>
                <a:lnTo>
                  <a:pt x="1459225"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CA"/>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2534</TotalTime>
  <Words>4277</Words>
  <Application>Microsoft Office PowerPoint</Application>
  <PresentationFormat>Custom</PresentationFormat>
  <Paragraphs>253</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League Spartan</vt:lpstr>
      <vt:lpstr>Roboto Bold Italics</vt:lpstr>
      <vt:lpstr>Arial</vt:lpstr>
      <vt:lpstr>Roboto Bold</vt:lpstr>
      <vt:lpstr>Roboto</vt:lpstr>
      <vt:lpstr>Roboto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Orange Geometric Education Business Plan Presentation</dc:title>
  <cp:lastModifiedBy>Akinkunmi Ola</cp:lastModifiedBy>
  <cp:revision>12</cp:revision>
  <dcterms:created xsi:type="dcterms:W3CDTF">2006-08-16T00:00:00Z</dcterms:created>
  <dcterms:modified xsi:type="dcterms:W3CDTF">2025-06-21T10:59:25Z</dcterms:modified>
  <dc:identifier>DAGoOzF9pfk</dc:identifier>
</cp:coreProperties>
</file>